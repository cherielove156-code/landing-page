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slideMasters/slideMaster403.xml" ContentType="application/vnd.openxmlformats-officedocument.presentationml.slideMaster+xml"/>
  <Override PartName="/ppt/slides/slide403.xml" ContentType="application/vnd.openxmlformats-officedocument.presentationml.slide+xml"/>
  <Override PartName="/ppt/slideMasters/slideMaster404.xml" ContentType="application/vnd.openxmlformats-officedocument.presentationml.slideMaster+xml"/>
  <Override PartName="/ppt/slides/slide404.xml" ContentType="application/vnd.openxmlformats-officedocument.presentationml.slide+xml"/>
  <Override PartName="/ppt/slideMasters/slideMaster405.xml" ContentType="application/vnd.openxmlformats-officedocument.presentationml.slideMaster+xml"/>
  <Override PartName="/ppt/slides/slide405.xml" ContentType="application/vnd.openxmlformats-officedocument.presentationml.slide+xml"/>
  <Override PartName="/ppt/slideMasters/slideMaster406.xml" ContentType="application/vnd.openxmlformats-officedocument.presentationml.slideMaster+xml"/>
  <Override PartName="/ppt/slides/slide406.xml" ContentType="application/vnd.openxmlformats-officedocument.presentationml.slide+xml"/>
  <Override PartName="/ppt/slideMasters/slideMaster407.xml" ContentType="application/vnd.openxmlformats-officedocument.presentationml.slideMaster+xml"/>
  <Override PartName="/ppt/slides/slide407.xml" ContentType="application/vnd.openxmlformats-officedocument.presentationml.slide+xml"/>
  <Override PartName="/ppt/slideMasters/slideMaster408.xml" ContentType="application/vnd.openxmlformats-officedocument.presentationml.slideMaster+xml"/>
  <Override PartName="/ppt/slides/slide408.xml" ContentType="application/vnd.openxmlformats-officedocument.presentationml.slide+xml"/>
  <Override PartName="/ppt/slideMasters/slideMaster409.xml" ContentType="application/vnd.openxmlformats-officedocument.presentationml.slideMaster+xml"/>
  <Override PartName="/ppt/slides/slide409.xml" ContentType="application/vnd.openxmlformats-officedocument.presentationml.slide+xml"/>
  <Override PartName="/ppt/slideMasters/slideMaster410.xml" ContentType="application/vnd.openxmlformats-officedocument.presentationml.slideMaster+xml"/>
  <Override PartName="/ppt/slides/slide410.xml" ContentType="application/vnd.openxmlformats-officedocument.presentationml.slide+xml"/>
  <Override PartName="/ppt/slideMasters/slideMaster411.xml" ContentType="application/vnd.openxmlformats-officedocument.presentationml.slideMaster+xml"/>
  <Override PartName="/ppt/slides/slide411.xml" ContentType="application/vnd.openxmlformats-officedocument.presentationml.slide+xml"/>
  <Override PartName="/ppt/slideMasters/slideMaster412.xml" ContentType="application/vnd.openxmlformats-officedocument.presentationml.slideMaster+xml"/>
  <Override PartName="/ppt/slides/slide412.xml" ContentType="application/vnd.openxmlformats-officedocument.presentationml.slide+xml"/>
  <Override PartName="/ppt/slideMasters/slideMaster413.xml" ContentType="application/vnd.openxmlformats-officedocument.presentationml.slideMaster+xml"/>
  <Override PartName="/ppt/slides/slide413.xml" ContentType="application/vnd.openxmlformats-officedocument.presentationml.slide+xml"/>
  <Override PartName="/ppt/slideMasters/slideMaster414.xml" ContentType="application/vnd.openxmlformats-officedocument.presentationml.slideMaster+xml"/>
  <Override PartName="/ppt/slides/slide414.xml" ContentType="application/vnd.openxmlformats-officedocument.presentationml.slide+xml"/>
  <Override PartName="/ppt/slideMasters/slideMaster415.xml" ContentType="application/vnd.openxmlformats-officedocument.presentationml.slideMaster+xml"/>
  <Override PartName="/ppt/slides/slide415.xml" ContentType="application/vnd.openxmlformats-officedocument.presentationml.slide+xml"/>
  <Override PartName="/ppt/slideMasters/slideMaster416.xml" ContentType="application/vnd.openxmlformats-officedocument.presentationml.slideMaster+xml"/>
  <Override PartName="/ppt/slides/slide416.xml" ContentType="application/vnd.openxmlformats-officedocument.presentationml.slide+xml"/>
  <Override PartName="/ppt/slideMasters/slideMaster417.xml" ContentType="application/vnd.openxmlformats-officedocument.presentationml.slideMaster+xml"/>
  <Override PartName="/ppt/slides/slide417.xml" ContentType="application/vnd.openxmlformats-officedocument.presentationml.slide+xml"/>
  <Override PartName="/ppt/slideMasters/slideMaster418.xml" ContentType="application/vnd.openxmlformats-officedocument.presentationml.slideMaster+xml"/>
  <Override PartName="/ppt/slides/slide418.xml" ContentType="application/vnd.openxmlformats-officedocument.presentationml.slide+xml"/>
  <Override PartName="/ppt/slideMasters/slideMaster419.xml" ContentType="application/vnd.openxmlformats-officedocument.presentationml.slideMaster+xml"/>
  <Override PartName="/ppt/slides/slide419.xml" ContentType="application/vnd.openxmlformats-officedocument.presentationml.slide+xml"/>
  <Override PartName="/ppt/slideMasters/slideMaster420.xml" ContentType="application/vnd.openxmlformats-officedocument.presentationml.slideMaster+xml"/>
  <Override PartName="/ppt/slides/slide420.xml" ContentType="application/vnd.openxmlformats-officedocument.presentationml.slide+xml"/>
  <Override PartName="/ppt/slideMasters/slideMaster421.xml" ContentType="application/vnd.openxmlformats-officedocument.presentationml.slideMaster+xml"/>
  <Override PartName="/ppt/slides/slide421.xml" ContentType="application/vnd.openxmlformats-officedocument.presentationml.slide+xml"/>
  <Override PartName="/ppt/slideMasters/slideMaster422.xml" ContentType="application/vnd.openxmlformats-officedocument.presentationml.slideMaster+xml"/>
  <Override PartName="/ppt/slides/slide422.xml" ContentType="application/vnd.openxmlformats-officedocument.presentationml.slide+xml"/>
  <Override PartName="/ppt/slideMasters/slideMaster423.xml" ContentType="application/vnd.openxmlformats-officedocument.presentationml.slideMaster+xml"/>
  <Override PartName="/ppt/slides/slide423.xml" ContentType="application/vnd.openxmlformats-officedocument.presentationml.slide+xml"/>
  <Override PartName="/ppt/slideMasters/slideMaster424.xml" ContentType="application/vnd.openxmlformats-officedocument.presentationml.slideMaster+xml"/>
  <Override PartName="/ppt/slides/slide424.xml" ContentType="application/vnd.openxmlformats-officedocument.presentationml.slide+xml"/>
  <Override PartName="/ppt/slideMasters/slideMaster425.xml" ContentType="application/vnd.openxmlformats-officedocument.presentationml.slideMaster+xml"/>
  <Override PartName="/ppt/slides/slide425.xml" ContentType="application/vnd.openxmlformats-officedocument.presentationml.slide+xml"/>
  <Override PartName="/ppt/slideMasters/slideMaster426.xml" ContentType="application/vnd.openxmlformats-officedocument.presentationml.slideMaster+xml"/>
  <Override PartName="/ppt/slides/slide426.xml" ContentType="application/vnd.openxmlformats-officedocument.presentationml.slide+xml"/>
  <Override PartName="/ppt/slideMasters/slideMaster427.xml" ContentType="application/vnd.openxmlformats-officedocument.presentationml.slideMaster+xml"/>
  <Override PartName="/ppt/slides/slide427.xml" ContentType="application/vnd.openxmlformats-officedocument.presentationml.slide+xml"/>
  <Override PartName="/ppt/slideMasters/slideMaster428.xml" ContentType="application/vnd.openxmlformats-officedocument.presentationml.slideMaster+xml"/>
  <Override PartName="/ppt/slides/slide428.xml" ContentType="application/vnd.openxmlformats-officedocument.presentationml.slide+xml"/>
  <Override PartName="/ppt/slideMasters/slideMaster429.xml" ContentType="application/vnd.openxmlformats-officedocument.presentationml.slideMaster+xml"/>
  <Override PartName="/ppt/slides/slide429.xml" ContentType="application/vnd.openxmlformats-officedocument.presentationml.slide+xml"/>
  <Override PartName="/ppt/slideMasters/slideMaster430.xml" ContentType="application/vnd.openxmlformats-officedocument.presentationml.slideMaster+xml"/>
  <Override PartName="/ppt/slides/slide430.xml" ContentType="application/vnd.openxmlformats-officedocument.presentationml.slide+xml"/>
  <Override PartName="/ppt/slideMasters/slideMaster431.xml" ContentType="application/vnd.openxmlformats-officedocument.presentationml.slideMaster+xml"/>
  <Override PartName="/ppt/slides/slide431.xml" ContentType="application/vnd.openxmlformats-officedocument.presentationml.slide+xml"/>
  <Override PartName="/ppt/slideMasters/slideMaster432.xml" ContentType="application/vnd.openxmlformats-officedocument.presentationml.slideMaster+xml"/>
  <Override PartName="/ppt/slides/slide432.xml" ContentType="application/vnd.openxmlformats-officedocument.presentationml.slide+xml"/>
  <Override PartName="/ppt/slideMasters/slideMaster433.xml" ContentType="application/vnd.openxmlformats-officedocument.presentationml.slideMaster+xml"/>
  <Override PartName="/ppt/slides/slide433.xml" ContentType="application/vnd.openxmlformats-officedocument.presentationml.slide+xml"/>
  <Override PartName="/ppt/slideMasters/slideMaster434.xml" ContentType="application/vnd.openxmlformats-officedocument.presentationml.slideMaster+xml"/>
  <Override PartName="/ppt/slides/slide4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Lst>
  <p:notesMasterIdLst>
    <p:notesMasterId r:id="rId4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fba7dc-31ae-52c3-2348-02e582649e2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 name="CONTENT: ROADMAP + 3 STEPS" id="{8c3ca266-4668-63bf-a643-f33b8a69dd7a}">
          <p14:sldIdLst>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7"/>
          </p14:sldIdLst>
        </p14:section>
        <p14:section name="THE BIG SHIFT" id="{34a2c958-1290-6023-f9e4-c2bc3dc340d0}">
          <p14:sldIdLst>
            <p14:sldId id="528"/>
            <p14:sldId id="529"/>
            <p14:sldId id="530"/>
            <p14:sldId id="531"/>
            <p14:sldId id="532"/>
          </p14:sldIdLst>
        </p14:section>
        <p14:section name="FOUNDER STORY: CLOSING THE LOOP" id="{823f358b-09e0-19db-6641-d3471aebde25}">
          <p14:sldIdLst>
            <p14:sldId id="533"/>
            <p14:sldId id="534"/>
            <p14:sldId id="535"/>
            <p14:sldId id="536"/>
            <p14:sldId id="537"/>
            <p14:sldId id="538"/>
            <p14:sldId id="539"/>
            <p14:sldId id="540"/>
            <p14:sldId id="541"/>
            <p14:sldId id="542"/>
            <p14:sldId id="543"/>
            <p14:sldId id="544"/>
            <p14:sldId id="545"/>
          </p14:sldIdLst>
        </p14:section>
        <p14:section name="TRANSITION" id="{7b97f56e-3882-9f90-560c-4f64dafee29f}">
          <p14:sldIdLst>
            <p14:sldId id="546"/>
            <p14:sldId id="547"/>
            <p14:sldId id="548"/>
            <p14:sldId id="549"/>
            <p14:sldId id="550"/>
            <p14:sldId id="551"/>
            <p14:sldId id="552"/>
            <p14:sldId id="553"/>
            <p14:sldId id="554"/>
            <p14:sldId id="555"/>
            <p14:sldId id="556"/>
            <p14:sldId id="557"/>
            <p14:sldId id="558"/>
            <p14:sldId id="559"/>
            <p14:sldId id="560"/>
          </p14:sldIdLst>
        </p14:section>
        <p14:section name="CLOSE" id="{69315bb2-cec3-2cdd-8499-0ee339337950}">
          <p14:sldIdLst>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599"/>
            <p14:sldId id="600"/>
            <p14:sldId id="601"/>
            <p14:sldId id="602"/>
            <p14:sldId id="603"/>
            <p14:sldId id="604"/>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623"/>
            <p14:sldId id="624"/>
            <p14:sldId id="625"/>
            <p14:sldId id="626"/>
            <p14:sldId id="627"/>
            <p14:sldId id="628"/>
            <p14:sldId id="629"/>
            <p14:sldId id="630"/>
            <p14:sldId id="631"/>
            <p14:sldId id="632"/>
            <p14:sldId id="633"/>
            <p14:sldId id="634"/>
            <p14:sldId id="635"/>
            <p14:sldId id="636"/>
            <p14:sldId id="637"/>
            <p14:sldId id="638"/>
            <p14:sldId id="639"/>
            <p14:sldId id="640"/>
            <p14:sldId id="641"/>
            <p14:sldId id="642"/>
            <p14:sldId id="643"/>
            <p14:sldId id="644"/>
            <p14:sldId id="645"/>
            <p14:sldId id="646"/>
            <p14:sldId id="647"/>
            <p14:sldId id="648"/>
            <p14:sldId id="649"/>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notesMaster" Target="notesMasters/notesMaster1.xml"/><Relationship Id="rId437" Type="http://schemas.openxmlformats.org/officeDocument/2006/relationships/presProps" Target="presProps.xml"/><Relationship Id="rId438" Type="http://schemas.openxmlformats.org/officeDocument/2006/relationships/viewProps" Target="viewProps.xml"/><Relationship Id="rId439" Type="http://schemas.openxmlformats.org/officeDocument/2006/relationships/theme" Target="theme/theme1.xml"/><Relationship Id="rId4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_rels/notesSlide4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3.xml"/>
		</Relationships>
</file>

<file path=ppt/notesSlides/_rels/notesSlide4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4.xml"/>
		</Relationships>
</file>

<file path=ppt/notesSlides/_rels/notesSlide4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5.xml"/>
		</Relationships>
</file>

<file path=ppt/notesSlides/_rels/notesSlide4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6.xml"/>
		</Relationships>
</file>

<file path=ppt/notesSlides/_rels/notesSlide4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7.xml"/>
		</Relationships>
</file>

<file path=ppt/notesSlides/_rels/notesSlide4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8.xml"/>
		</Relationships>
</file>

<file path=ppt/notesSlides/_rels/notesSlide4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9.xml"/>
		</Relationships>
</file>

<file path=ppt/notesSlides/_rels/notesSlide4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0.xml"/>
		</Relationships>
</file>

<file path=ppt/notesSlides/_rels/notesSlide4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1.xml"/>
		</Relationships>
</file>

<file path=ppt/notesSlides/_rels/notesSlide4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2.xml"/>
		</Relationships>
</file>

<file path=ppt/notesSlides/_rels/notesSlide4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3.xml"/>
		</Relationships>
</file>

<file path=ppt/notesSlides/_rels/notesSlide4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4.xml"/>
		</Relationships>
</file>

<file path=ppt/notesSlides/_rels/notesSlide4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5.xml"/>
		</Relationships>
</file>

<file path=ppt/notesSlides/_rels/notesSlide4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6.xml"/>
		</Relationships>
</file>

<file path=ppt/notesSlides/_rels/notesSlide4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7.xml"/>
		</Relationships>
</file>

<file path=ppt/notesSlides/_rels/notesSlide4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8.xml"/>
		</Relationships>
</file>

<file path=ppt/notesSlides/_rels/notesSlide4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9.xml"/>
		</Relationships>
</file>

<file path=ppt/notesSlides/_rels/notesSlide4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0.xml"/>
		</Relationships>
</file>

<file path=ppt/notesSlides/_rels/notesSlide4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1.xml"/>
		</Relationships>
</file>

<file path=ppt/notesSlides/_rels/notesSlide4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2.xml"/>
		</Relationships>
</file>

<file path=ppt/notesSlides/_rels/notesSlide4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3.xml"/>
		</Relationships>
</file>

<file path=ppt/notesSlides/_rels/notesSlide4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4.xml"/>
		</Relationships>
</file>

<file path=ppt/notesSlides/_rels/notesSlide4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5.xml"/>
		</Relationships>
</file>

<file path=ppt/notesSlides/_rels/notesSlide4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6.xml"/>
		</Relationships>
</file>

<file path=ppt/notesSlides/_rels/notesSlide4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7.xml"/>
		</Relationships>
</file>

<file path=ppt/notesSlides/_rels/notesSlide4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8.xml"/>
		</Relationships>
</file>

<file path=ppt/notesSlides/_rels/notesSlide4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9.xml"/>
		</Relationships>
</file>

<file path=ppt/notesSlides/_rels/notesSlide4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0.xml"/>
		</Relationships>
</file>

<file path=ppt/notesSlides/_rels/notesSlide4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1.xml"/>
		</Relationships>
</file>

<file path=ppt/notesSlides/_rels/notesSlide4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2.xml"/>
		</Relationships>
</file>

<file path=ppt/notesSlides/_rels/notesSlide4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3.xml"/>
		</Relationships>
</file>

<file path=ppt/notesSlides/_rels/notesSlide4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 | Title: narrow topic
How beauty pros are getting booked by the right clients
without adding more hours in the chair
Design: TITLE. Main line 66pt bold, second line 40pt. Small at bottom: "Cherie Bowen · Rie Artistry". No photo, no logo. Have this on screen as people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 | Two agendas
I have two agendas tonight.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 | Two agendas
#1: Give you the most practical training you've ever had on growing your beauty business.
Design: STATEMENT. "#1" small in accent color above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 | Two agendas
#2: At the end, invite a few of you to work with me personally for 8 weeks.
Design: STATEMENT. "#2" small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 | Two agendas
If I don't deliver on #1, don't even think about #2.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 | Micro-commitment
Fair deal?
Type DEAL in the chat.
Design: CHAT PROMPT. "DEAL" in accent color, 96pt.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 | Frame
I believe this will be the most useful hour you've spent on your business this year.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 | Mind-read the doubt
You've heard that before.
So don't take my word for it.
Judge me at the end.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 | Mind-read the doubt
You've heard that before.
So don't take my word for it.
Judge me at the end.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 | Mind-read the doubt
You've heard that before.
So don't take my word for it.
Judge me at the end.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 | Founder story (then): where I started
2017.
I was one of the only lash artists in my area.
Design: PHOTO: your 2017 lash photo (file: 2017 lash photo, keep the pink "2017" label). Text on the left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 | Founder story (then): the rise
I grew it into The Lash Plug.
Design: SCREENSHOT: the.lashplug Instagram profile (486 posts, 3,663 followers). Red box on the follower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 | Founder story (then): the rise
I was training other lash artists.
Design: PHOTO: training class photo (4 students with certificates). Names on certificates blurred.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 | Founder story (then): the pressure
I built it to six figures. From scratch.
Design: SCREENSHOT: both cropped revenue Total rows stacked (revenue-total-194430-compact and revenue-total-142475-compact). Red box on each dollar amount. No year labels. Keep this slide inside The Lash Plug part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 | Founder story (then): the pressure
And 2,863 hours in the chair in one year.
That's about 55 hours a week.
Design: SCREENSHOT: revenue-total-194430-compact. Red box on "2,863.867 hours". MATH. Small under it: 2,863 hours ÷ 52 weeks.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 | Founder story (then): the pressure
And 2,863 hours in the chair in one year.
That's about 55 hours a week.
Design: SCREENSHOT: revenue-total-194430-compact. Red box on "2,863.867 hours". MATH. Small under it: 2,863 hours ÷ 52 weeks.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 | Founder story (then): the decision
I was burnt out.
And I felt God calling me to leave.
Design: STATEMENT. Second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 | Founder story (then): the decision
I was burnt out.
And I felt God calling me to leave.
Design: STATEMENT. Second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 | Founder story (then): the decision
March 2023.
I surrendered my life to Christ and walked away from all of it.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 | Founder story (then): the fall
My supplies went into storage. Then to auction.
I deleted my Instagram. Every client. Gone.
Design: STATEMENT. Second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 | Founder story (then): the fall
My supplies went into storage. Then to auction.
I deleted my Instagram. Every client. Gone.
Design: STATEMENT. Second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 | Founder story (then): the detour
I became a Realtor.
It wasn't for me.
Design: PHOTO: your eXp Realty business card (Sept 8, 2023). Phone, email, and license number blurred.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 | Founder story (then): the detour
I became a Realtor.
It wasn't for me.
Design: PHOTO: your eXp Realty business card (Sept 8, 2023). Phone, email, and license number blurred.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 | Founder story (then): the low point
August 2024. I came back to lashes.
3 posts. 14 followers.
Design: SCREENSHOT: the Rie Artistry restart profile (3 posts, 14 followers, "TRY AGAIN THIS TIME with God"). Red box on "14 followers".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 | Founder story (then): still stuck
I wasn't the "it girl" anymore.
Everything had changed. My methods felt outdated.
I spent months and thousands of dollars on trainings and mentorships.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 | Founder story (then): still stuck
I wasn't the "it girl" anymore.
Everything had changed. My methods felt outdated.
I spent months and thousands of dollars on trainings and mentorships.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 | Founder story (then): still stuck
I wasn't the "it girl" anymore.
Everything had changed. My methods felt outdated.
I spent months and thousands of dollars on trainings and mentorships.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 | Open loop
Then one moment changed everything.
I'll tell you about it later.
Design: STATEMENT. Second line appears on click,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 | Open loop
Then one moment changed everything.
I'll tell you about it later.
Design: STATEMENT. Second line appears on click,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 | Now
I've built a six-figure beauty business from scratch.
Twice.
Design: STATEMENT. "Twice." on click, 96pt, accent color. No revenue screenshot on this slide (the totals belong to The Lash Plug beat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 | Now
I've built a six-figure beauty business from scratch.
Twice.
Design: STATEMENT. "Twice." on click, 96pt, accent color. No revenue screenshot on this slide (the totals belong to The Lash Plug beat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 | Now
Today: Rie Artistry.
Design: SCREENSHOT: current @rieartistry profile (3,071 followers, 64.3K views in the last 30 days). Red box on the views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 | Proof flash
923 appointments last year.
Design: SCREENSHOT: crop of the 2025 Acuity Total row showing only "923". Do not show the 2025 revenue unless you choose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 | Proof flash
Fully booked. So booked I had to limit my calendar.
Design: SCREENSHOT: booked-calendar (your "fully booked &amp; blessed" Acuity week view), as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 | Proof flash
11 clients pay me $190 every month.
Before I open my doors.
Design: SCREENSHOT: membership-payment-1 and membership-payment-2 side by side ($190 Maintained Membership receipts, client names blurred). "$190" and "11"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26 | Proof flash
And now other pros text me this.
Design: SCREENSHOT: the text "I need your help / I need to make 10k next month / Whats the blue print". Crop to those three bubbles. Blur the contact name and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27 | Proof flash
"If girls knew how booked and busy you was, they'd be running to pay you for mentorship"
Design: QUOTE: the screenshot, large. Small label: "A text I got".
[VERIFY: who sent this (client, friend, another pro)? Label it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28 | Defined outcome
Tonight's goal:
Show you the easiest way to get booked by the right clients, without adding more hours in the chair.
Design: STATEMENT. Matches title slide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29 | Who qualifies
This is for you if you're a:
Lash artist
Brow artist
Hairstylist
Makeup artist
Nail tech
Esthetician
PMU artist
And you already have clients. Even a few.
Design: LIST, stacked top to bottom, one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30 | Mega-commitment
I'm giving you my best tonight.
I'm asking for yours.
As I teach each step, picture yourself doing it in your own business.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30 | Mega-commitment
I'm giving you my best tonight.
I'm asking for yours.
As I teach each step, picture yourself doing it in your own business.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30 | Mega-commitment
I'm giving you my best tonight.
I'm asking for yours.
As I teach each step, picture yourself doing it in your own business.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31 | Micro-commitment
Will you do that?
Type YES.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32 | Identity statement
Say this out loud with me:
"I'm the obvious choice, not the cheaper choice."
Design: STATEMENT. Quote line 72pt, accent color.
[VERIFY: this line is mine, built from your "who's cheaper or closest to me" teaching. Change it if it doesn't sound like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33 | Identity statement
Now type it in the chat.
Design: CHAT PROMPT. Repeat the quote line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34 | Specific prompt
How did saying that feel?
Type one word.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35 | Clearing the doubts
Before I teach you anything, let's clear the doubts.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36 | Doubt #1
Doubt #1:
"I need to post more to get booked."
It's not how much you post.
It's what you post.
Design: STATEMENT. "Doubt #1" small.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36 | Doubt #1
Doubt #1:
"I need to post more to get booked."
It's not how much you post.
It's what you post.
Design: STATEMENT. "Doubt #1" small.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36 | Doubt #1
Doubt #1:
"I need to post more to get booked."
It's not how much you post.
It's what you post.
Design: STATEMENT. "Doubt #1" small.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37 | Doubt #1: proof
I started over with 14 followers.
And I was fully booked within my first year back.
Design: SCREENSHOT: the 14-follower profile.
[VERIFY: "fully booked within my first year back" (your notebook). A booked calendar screenshot from that time would make this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38 | Doubt #2
Doubt #2:
"I have to run specials to stay booked."
When clients can't tell why you're different, price is the only thing left to compare.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38 | Doubt #2
Doubt #2:
"I have to run specials to stay booked."
When clients can't tell why you're different, price is the only thing left to compare.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39 | Doubt #2: proof
I used to run specials to try and get clients in.
Now I have 11 clients paying me every month instead.
Design: STATEMENT. "11"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40 | Doubt #3
Doubt #3:
"I've bought courses before. They didn't work."
Me too.
Some of them weren't as valuable as I hoped.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40 | Doubt #3
Doubt #3:
"I've bought courses before. They didn't work."
Me too.
Some of them weren't as valuable as I hoped.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40 | Doubt #3
Doubt #3:
"I've bought courses before. They didn't work."
Me too.
Some of them weren't as valuable as I hoped.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41 | Doubt #3: the truth
Information doesn't change your business.
Putting it to work does.
Tonight, you'll put it to work with me. Live.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41 | Doubt #3: the truth
Information doesn't change your business.
Putting it to work does.
Tonight, you'll put it to work with me. Live.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41 | Doubt #3: the truth
Information doesn't change your business.
Putting it to work does.
Tonight, you'll put it to work with me. Live.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42 | Declaration
Type this:
"This time, I'm doing the work."
Design: CHAT PROMPT. Quote line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43 | Reaction exercise
I'm going to say two words.
Type the first thing that comes to mind.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44 | Reaction exercise: the word
Price increase.
Design: STATEMENT. 120pt. Nothing else on the slide. Let the chat roll for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45 | Reaction exercise: the response
Whatever you typed, it's not really about the number.
A price increase is scary when clients can't tell why you're worth more.
When they can, it's just the next step.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45 | Reaction exercise: the response
Whatever you typed, it's not really about the number.
A price increase is scary when clients can't tell why you're worth more.
When they can, it's just the next step.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45 | Reaction exercise: the response
Whatever you typed, it's not really about the number.
A price increase is scary when clients can't tell why you're worth more.
When they can, it's just the next step.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46 | Pain
Let me guess how the next 12 months go if nothing changes.
Stop me if I'm wrong.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47 | Pain prediction
Some weeks you're fully booked and exhausted.
Other weeks you're refreshing your booking app wondering where everybody went.
Design: STATEMENT.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47 | Pain prediction
Some weeks you're fully booked and exhausted.
Other weeks you're refreshing your booking app wondering where everybody went.
Design: STATEMENT.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48 | Pain prediction
You know you should raise your prices.
But you keep hearing, "What if they leave?"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49 | Pain prediction
Your back, your neck, your wrists, your eyes start telling on you.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50 | Pain prediction
You're the artist, the receptionist, the marketer, and the janitor.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51 | Rate it
How close was I?
Type 1 to 10.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52 | Money math
Quick math.
Say you run a $20-off special for 5 clients a week.
That's $100 a week.
Design: MATH. Label "Example" small. Each new line appears on click.
[VERIFY: these example numbers are mine. Swap in a special you see artists run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52 | Money math
Quick math.
Say you run a $20-off special for 5 clients a week.
That's $100 a week.
Design: MATH. Label "Example" small. Each new line appears on click.
[VERIFY: these example numbers are mine. Swap in a special you see artists run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52 | Money math
Quick math.
Say you run a $20-off special for 5 clients a week.
That's $100 a week.
Design: MATH. Label "Example" small. Each new line appears on click.
[VERIFY: these example numbers are mine. Swap in a special you see artists run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53 | Money math
That's $5,200 a year you gave away.
And that's just one special.
Design: MATH. "$5,200" 96pt, accent color.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53 | Money math
That's $5,200 a year you gave away.
And that's just one special.
Design: MATH. "$5,200" 96pt, accent color.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54 | Hope
Now picture this.
A full schedule because the right clients book you, not because you're squeezing them in until 9 at night.
Charging what you're worth.
And not apologizing for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54 | Hope
Now picture this.
A full schedule because the right clients book you, not because you're squeezing them in until 9 at night.
Charging what you're worth.
And not apologizing for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54 | Hope
Now picture this.
A full schedule because the right clients book you, not because you're squeezing them in until 9 at night.
Charging what you're worth.
And not apologizing for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54 | Hope
Now picture this.
A full schedule because the right clients book you, not because you're squeezing them in until 9 at night.
Charging what you're worth.
And not apologizing for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55 | Hope: prompt
What would that change for you?
Type it in the chat.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56 | Mystery
Here's what you'll see tonight:
The one sentence that tells clients why to choose you
The 3 posts that turn strangers into bookings
The proof ladder most of us stop at step 1 of
The money already walking out my door, with my real numbers
Design: TEASE. Thumbnail of the fill-in-the-blank formula slide (Step 1) on the right. More teasers follow on the next slides. TEASE. Thumbnail of the Found / Trusted / Booked slide. TEASE. Thumbnail of the proof ladder slide. TEASE. Thumbnail of the brow wax and tint Acuity crop.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56 | Mystery
Here's what you'll see tonight:
The one sentence that tells clients why to choose you
The 3 posts that turn strangers into bookings
The proof ladder most of us stop at step 1 of
The money already walking out my door, with my real numbers
Design: TEASE. Thumbnail of the fill-in-the-blank formula slide (Step 1) on the right. More teasers follow on the next slides. TEASE. Thumbnail of the Found / Trusted / Booked slide. TEASE. Thumbnail of the proof ladder slide. TEASE. Thumbnail of the brow wax and tint Acuity crop.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56 | Mystery
Here's what you'll see tonight:
The one sentence that tells clients why to choose you
The 3 posts that turn strangers into bookings
The proof ladder most of us stop at step 1 of
The money already walking out my door, with my real numbers
Design: TEASE. Thumbnail of the fill-in-the-blank formula slide (Step 1) on the right. More teasers follow on the next slides. TEASE. Thumbnail of the Found / Trusted / Booked slide. TEASE. Thumbnail of the proof ladder slide. TEASE. Thumbnail of the brow wax and tint Acuity crop.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56 | Mystery
Here's what you'll see tonight:
The one sentence that tells clients why to choose you
The 3 posts that turn strangers into bookings
The proof ladder most of us stop at step 1 of
The money already walking out my door, with my real numbers
Design: TEASE. Thumbnail of the fill-in-the-blank formula slide (Step 1) on the right. More teasers follow on the next slides. TEASE. Thumbnail of the Found / Trusted / Booked slide. TEASE. Thumbnail of the proof ladder slide. TEASE. Thumbnail of the brow wax and tint Acuity crop.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57 | Roadmap intro
Here are the same 3 steps I walk every mentee through.
1. Position yourself
2. Post the 3 kinds of content
3. Find your next revenue opportunity
Design: ROADMAP: all 3 steps visible, same size, appearing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57 | Roadmap intro
Here are the same 3 steps I walk every mentee through.
1. Position yourself
2. Post the 3 kinds of content
3. Find your next revenue opportunity
Design: ROADMAP: all 3 steps visible, same size, appearing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57 | Roadmap intro
Here are the same 3 steps I walk every mentee through.
1. Position yourself
2. Post the 3 kinds of content
3. Find your next revenue opportunity
Design: ROADMAP: all 3 steps visible, same size, appearing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57 | Roadmap intro
Here are the same 3 steps I walk every mentee through.
1. Position yourself
2. Post the 3 kinds of content
3. Find your next revenue opportunity
Design: ROADMAP: all 3 steps visible, same size, appearing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58 | Micro-commitment
If these make sense, will you actually try them?
Type I'M IN.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59 | Roadmap: Step 1 active
Step 1: Position yourself so clients know why to choose you
Design: ROADMAP: Step 1 large in accent color. Steps 2 and 3 faded.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60 | Step 1 Context
If you've ever said:
"I feel like I have to run specials to get bookings."
"I post my work but it's not turning into appointments."
"I'm good at what I do, but I get overlooked."
Then you probably have a positioning problem.
Design: LIST, one quote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60 | Step 1 Context
If you've ever said:
"I feel like I have to run specials to get bookings."
"I post my work but it's not turning into appointments."
"I'm good at what I do, but I get overlooked."
Then you probably have a positioning problem.
Design: LIST, one quote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60 | Step 1 Context
If you've ever said:
"I feel like I have to run specials to get bookings."
"I post my work but it's not turning into appointments."
"I'm good at what I do, but I get overlooked."
Then you probably have a positioning problem.
Design: LIST, one quote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60 | Step 1 Context
If you've ever said:
"I feel like I have to run specials to get bookings."
"I post my work but it's not turning into appointments."
"I'm good at what I do, but I get overlooked."
Then you probably have a positioning problem.
Design: LIST, one quote per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61 | Step 1 Context
When you only post before-and-afters, people can see you do good work.
But they can see good work on the next person's page too.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61 | Step 1 Context
When you only post before-and-afters, people can see you do good work.
But they can see good work on the next person's page too.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62 | Step 1 Context
So the only thing left for them to ask is:
"Well, who's cheaper or closest to me?"
Design: STATEMENT. Quote line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63 | Step 1 Context
Positioning is what you're known for, and why your ideal client would choose you over someone else.
Design: STATEMENT. "In simple terms" small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64 | Step 1 Context
Good positioning has clients paying the price you set and driving the distance to get to you.
Design: STATEMENT.
[VERIFY: your notes say "paying any price you set and driving any distance." I softened "any" so it doesn't sound like a promise. Your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65 | Step 1 Strategy
Find where these two overlap:
What your audience desperately wants
What you are uniquely incredible at
Design: DIAGRAM: your Venn diagram, redrawn clean. Left circle appears, then right, then the overlap highlights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66 | Step 1 Strategy
That overlap is your unfair advantage.
Design: DIAGRAM: same Venn, overlap labeled "Your unfair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67 | Step 1 Vision: my example
What my clients desperately want:
Lashes that aren't too heavy or dramatic.
Design: DIAGRAM: left circle highlighted with this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68 | Step 1 Vision: my example
What I'm uniquely incredible at:
Natural, wispy lashes.
Design: DIAGRAM: right circle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69 | Step 1 Vision: my example
So that's what I'm known for.
Design: SCREENSHOT: current @rieartistry bio. Red box on "Wispy lash specialist".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70 | Step 1 Vision: proof
"Niching down and learning how to better utilize the tools and resources I already have has helped me see how much more smoothly and efficiently I can run my business."
Design: QUOTE: testimonial 1 screenshot with a red box on this sentence. Quote text on screen 40pt. Label "A beauty pro I mentored".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71 | Step 1 Strategy: the before
Here's what most of us write:
"I offer classic, hybrid, and volume lash extensions. Book now."
That tells them what you do.
It doesn't tell them why to choose you.
Design: STATEMENT. Quote in gray, crossed out on the second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71 | Step 1 Strategy: the before
Here's what most of us write:
"I offer classic, hybrid, and volume lash extensions. Book now."
That tells them what you do.
It doesn't tell them why to choose you.
Design: STATEMENT. Quote in gray, crossed out on the second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71 | Step 1 Strategy: the before
Here's what most of us write:
"I offer classic, hybrid, and volume lash extensions. Book now."
That tells them what you do.
It doesn't tell them why to choose you.
Design: STATEMENT. Quote in gray, crossed out on the second click.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72 | Step 1 Strategy
Screenshot this next slide.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73 | Step 1 Strategy: the formula
I specialize in [service or result] for [specific client] who wants [benefit], through [what makes my service different].
Design: FORMULA: brackets in accent color. This is a key visual: same slide is teased in the intro and replayed in the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74 | Step 1 Strategy: my example
"I specialize in natural, wispy lashes for women who want to look put together without a heavy or dramatic look."
Design: STATEMENT.
[VERIFY: your example has no "through" part. Want to add one, like "through fast sets and healthy retention" from your 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75 | Step 1 Strategy: breakdown
What I do: Natural, wispy lashes
Who it's for: Women who want to look put together
Why they should care: Their lashes won't be too heavy or dramatic
Design: LIST, one per click. Labels small, answers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75 | Step 1 Strategy: breakdown
What I do: Natural, wispy lashes
Who it's for: Women who want to look put together
Why they should care: Their lashes won't be too heavy or dramatic
Design: LIST, one per click. Labels small, answers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75 | Step 1 Strategy: breakdown
What I do: Natural, wispy lashes
Who it's for: Women who want to look put together
Why they should care: Their lashes won't be too heavy or dramatic
Design: LIST, one per click. Labels small, answers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76 | Step 1 Strategy: your turn
Take two minutes. Write yours.
It doesn't have to be perfect. It's your starting point.
If you're comfortable, drop yours in the chat.
Design: FORMULA slide repeated small at top, with a 2:00 countdown timer.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76 | Step 1 Strategy: your turn
Take two minutes. Write yours.
It doesn't have to be perfect. It's your starting point.
If you're comfortable, drop yours in the chat.
Design: FORMULA slide repeated small at top, with a 2:00 countdown timer.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76 | Step 1 Strategy: your turn
Take two minutes. Write yours.
It doesn't have to be perfect. It's your starting point.
If you're comfortable, drop yours in the chat.
Design: FORMULA slide repeated small at top, with a 2:00 countdown timer.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77 | Step 1 Strategy: live demo
Let's fix one together, live.
Design: STATEMENT. Pick a volunteer's statement from the chat and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78 | Step 1 Strategy: live demo
I specialize in ______ for ______ who wants ______, through ______.
Design: FORMULA, blanks. Talk through filling it in out loud with the volunteer's answers. (No live typing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79 | Step 1 Vision: imagine
Imagine someone landing on your page and thinking, "Oh. She's the one for me."
Design: STATEMENT.
[VERIFY: imagine line is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80 | Step 1 Commitment
Will you put your statement in your bio this week?
Type YES.
Type this:
"I know why they should choose me."
Design: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80 | Step 1 Commitment
Will you put your statement in your bio this week?
Type YES.
Type this:
"I know why they should choose me."
Design: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80 | Step 1 Commitment
Will you put your statement in your bio this week?
Type YES.
Type this:
"I know why they should choose me."
Design: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80 | Step 1 Commitment
Will you put your statement in your bio this week?
Type YES.
Type this:
"I know why they should choose me."
Design: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81 | Transition
Now that clients know why to choose you, let's make sure they actually see it.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82 | Roadmap: Step 1 done
Step 1: Position yourself ✓
Design: ROADMAP: Step 1 small with check. Step 2 large in accent color. Step 3 faded.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83 | Step 2 Context
Quick question.
How many times did you post last week? Drop the number in the chat.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84 | Step 2 Context
Now be honest.
How many of those posts turned into an actual booking?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85 | Step 2 Context
That gap is what we're fixing in this section.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86 | Step 2 Context
It's usually not that you're not posting enough.
It's that you're posting the same kind of post over and over.
For a lot of us, that's our work, or before-and-afters.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86 | Step 2 Context
It's usually not that you're not posting enough.
It's that you're posting the same kind of post over and over.
For a lot of us, that's our work, or before-and-afters.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86 | Step 2 Context
It's usually not that you're not posting enough.
It's that you're posting the same kind of post over and over.
For a lot of us, that's our work, or before-and-afters.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87 | Step 2 Context
Think about it like dating.
You don't ask someone to marry you the first time you meet.
Someone who's never heard of you isn't booking off one photo.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87 | Step 2 Context
Think about it like dating.
You don't ask someone to marry you the first time you meet.
Someone who's never heard of you isn't booking off one photo.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87 | Step 2 Context
Think about it like dating.
You don't ask someone to marry you the first time you meet.
Someone who's never heard of you isn't booking off one photo.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88 | Step 2 Context
They need to:
Find you
Trust you
Then book
Design: SEQUENCE: three steps left to right with arrows (true sequence),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88 | Step 2 Context
They need to:
Find you
Trust you
Then book
Design: SEQUENCE: three steps left to right with arrows (true sequence),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88 | Step 2 Context
They need to:
Find you
Trust you
Then book
Design: SEQUENCE: three steps left to right with arrows (true sequence),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89 | Step 2 Strategy
So you don't need more content.
You need 3 kinds:
One that gets you found
One that gets you trusted
One that gets you booked
Design: LIST,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89 | Step 2 Strategy
So you don't need more content.
You need 3 kinds:
One that gets you found
One that gets you trusted
One that gets you booked
Design: LIST,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89 | Step 2 Strategy
So you don't need more content.
You need 3 kinds:
One that gets you found
One that gets you trusted
One that gets you booked
Design: LIST,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89 | Step 2 Strategy
So you don't need more content.
You need 3 kinds:
One that gets you found
One that gets you trusted
One that gets you booked
Design: LIST,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89 | Step 2 Strategy
So you don't need more content.
You need 3 kinds:
One that gets you found
One that gets you trusted
One that gets you booked
Design: LIST,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90 | Step 2 Strategy: Get Found
Post #1: Get Found
For people who have no idea who you are yet. Strangers.
This post isn't about you.
It's about what they care about: a trend, a myth, or a question they're already asking.
Design: STATEMENT. "Post #1" small.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90 | Step 2 Strategy: Get Found
Post #1: Get Found
For people who have no idea who you are yet. Strangers.
This post isn't about you.
It's about what they care about: a trend, a myth, or a question they're already asking.
Design: STATEMENT. "Post #1" small.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90 | Step 2 Strategy: Get Found
Post #1: Get Found
For people who have no idea who you are yet. Strangers.
This post isn't about you.
It's about what they care about: a trend, a myth, or a question they're already asking.
Design: STATEMENT. "Post #1" small.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90 | Step 2 Strategy: Get Found
Post #1: Get Found
For people who have no idea who you are yet. Strangers.
This post isn't about you.
It's about what they care about: a trend, a myth, or a question they're already asking.
Design: STATEMENT. "Post #1" small.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91 | Step 2 Strategy: Get Found examples
Hair: Is washing your hair every day actually bad for it?
Skin: The skincare trend that's actually ruining your skin barrier
Lashes: Lash extensions don't ruin your natural lashes. Here's what does.
Nails: Why your gel manicure starts lifting after a week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91 | Step 2 Strategy: Get Found examples
Hair: Is washing your hair every day actually bad for it?
Skin: The skincare trend that's actually ruining your skin barrier
Lashes: Lash extensions don't ruin your natural lashes. Here's what does.
Nails: Why your gel manicure starts lifting after a week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91 | Step 2 Strategy: Get Found examples
Hair: Is washing your hair every day actually bad for it?
Skin: The skincare trend that's actually ruining your skin barrier
Lashes: Lash extensions don't ruin your natural lashes. Here's what does.
Nails: Why your gel manicure starts lifting after a week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91 | Step 2 Strategy: Get Found examples
Hair: Is washing your hair every day actually bad for it?
Skin: The skincare trend that's actually ruining your skin barrier
Lashes: Lash extensions don't ruin your natural lashes. Here's what does.
Nails: Why your gel manicure starts lifting after a week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92 | Step 2 Strategy: Get Found
Notice what's not in those.
No "book with me." No pitch.
Pitching someone who just met you is like asking a stranger to marry you.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92 | Step 2 Strategy: Get Found
Notice what's not in those.
No "book with me." No pitch.
Pitching someone who just met you is like asking a stranger to marry you.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92 | Step 2 Strategy: Get Found
Notice what's not in those.
No "book with me." No pitch.
Pitching someone who just met you is like asking a stranger to marry you.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93 | Step 2 Strategy: Get Found
This post has one job:
Get the right person to stop scrolling and think, "Oh, she knows what she's talking about."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94 | Step 2 Strategy: Get Found
Stuck on ideas?
Ask yourself: what question do my clients always ask me?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95 | Step 2 Strategy: Get Trusted
Post #2: Get Trusted
They found you. Maybe they followed. They're curious, but they're not ready to book yet.
This post gives them one quick win.
One tip they can use in the next 24 hours that solves a small problem.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95 | Step 2 Strategy: Get Trusted
Post #2: Get Trusted
They found you. Maybe they followed. They're curious, but they're not ready to book yet.
This post gives them one quick win.
One tip they can use in the next 24 hours that solves a small problem.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95 | Step 2 Strategy: Get Trusted
Post #2: Get Trusted
They found you. Maybe they followed. They're curious, but they're not ready to book yet.
This post gives them one quick win.
One tip they can use in the next 24 hours that solves a small problem.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95 | Step 2 Strategy: Get Trusted
Post #2: Get Trusted
They found you. Maybe they followed. They're curious, but they're not ready to book yet.
This post gives them one quick win.
One tip they can use in the next 24 hours that solves a small problem.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96 | Step 2 Strategy: Get Trusted examples
How to make your silk press survive humidity
What to do after a facial so you don't break out
The one thing not to do in the first 24 hours after your lash appointment
How to keep your polish from chipping at the tips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96 | Step 2 Strategy: Get Trusted examples
How to make your silk press survive humidity
What to do after a facial so you don't break out
The one thing not to do in the first 24 hours after your lash appointment
How to keep your polish from chipping at the tips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96 | Step 2 Strategy: Get Trusted examples
How to make your silk press survive humidity
What to do after a facial so you don't break out
The one thing not to do in the first 24 hours after your lash appointment
How to keep your polish from chipping at the tips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96 | Step 2 Strategy: Get Trusted examples
How to make your silk press survive humidity
What to do after a facial so you don't break out
The one thing not to do in the first 24 hours after your lash appointment
How to keep your polish from chipping at the tips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97 | Step 2 Strategy: Get Trusted
When they try it and it actually helps, you become the go-to person.
And you've built trust before they ever sit in your chair.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98 | Step 2 Strategy: Get Booked
Post #3: Get Booked
Now give them a reason to book. This is your proof post.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99 | Step 2 Strategy: the proof ladder
But proof has levels. Think of it as a ladder:
1. The fresh before-and-after
2. Healed or lasting results
3. The client's reaction, in their own words
4. The experience of booking with you
Design: LADDER: 4 levels, bottom to top,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99 | Step 2 Strategy: the proof ladder
But proof has levels. Think of it as a ladder:
1. The fresh before-and-after
2. Healed or lasting results
3. The client's reaction, in their own words
4. The experience of booking with you
Design: LADDER: 4 levels, bottom to top,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99 | Step 2 Strategy: the proof ladder
But proof has levels. Think of it as a ladder:
1. The fresh before-and-after
2. Healed or lasting results
3. The client's reaction, in their own words
4. The experience of booking with you
Design: LADDER: 4 levels, bottom to top,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99 | Step 2 Strategy: the proof ladder
But proof has levels. Think of it as a ladder:
1. The fresh before-and-after
2. Healed or lasting results
3. The client's reaction, in their own words
4. The experience of booking with you
Design: LADDER: 4 levels, bottom to top, one per click. Key visual: teased in intro, replayed in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100 | Step 2 Strategy: level 1
1. The fresh before-and-after
This is where most of us stop.
Design: LADDER, level 1 highlighted, with fresh-lash-result photo right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101 | Step 2 Strategy: level 2
2. Healed or lasting results
How the hairstyle looks weeks later. Lash retention at the fill appointment. Skin progress over a few sessions. Healed brows.
Design: LADDER, level 2 highlighted, with the client text next to it: "heyy, the lashes lasted around a month.The lashes would shed ofc but it still looked good." Proof sits right next to the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102 | Step 2 Strategy: level 3
3. The client's reaction, in their own words
The mirror moment. The voice note. The text they sent you afterward.
Design: LADDER, level 3 highlighted, with the client text: "girl like 3-4 weeks!! Honestly the best lashes". Crop out the phone number and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103 | Step 2 Strategy: level 4
4. The experience of booking with you
What it's like from the moment they walk in to the moment they leave.
Design: LADDER, level 4 highlighted, with the studio photo ("Ready to do it all again tomorrow") right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104 | Step 2 Strategy
Look at your page right now.
Which level do you usually stop at? Drop the number in the chat.
Design: CHAT PROMPT with the ladder small on the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105 | Step 2 Strategy
Your job: post one level above where you normally stop.
Design: LADDER with an arrow moving up one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106 | Step 2 Strategy
Newer, and don't have client results yet?
Start with a model's result, your process, your training, or a testimonial.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107 | Step 2 Strategy: the caption
In the caption, don't just say "Book now."
Speak to them. When people feel seen and know you can solve their problem, they book.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108 | Step 2 Vision
My business now brings in consistent clients without me having to constantly post.
Design: SCREENSHOT: current @rieartistry profile, red box on "64.3K views in the last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109 | Step 2 Commitment
This week: one Get Found, one Get Trusted, one Get Booked.
Will you post all 3? Type 3.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110 | Transition
Now the right people are finding you, trusting you, and booking you.
Let's make more from the clients you already have.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111 | Roadmap: Step 2 done
Step 2: Post the 3 kinds of content ✓
Design: ROADMAP: Steps 1 and 2 small with checks. Step 3 large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112 | Step 3 Context: the ceiling
Let's do some quick math.
Grab your phone calculator.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113 | Step 3 Context: the ceiling
Take the most clients you can see in a week.
Multiply it by your average service price.
Multiply that by 4.
Drop that number in the chat.
Design: MATH, step 3 of 3.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113 | Step 3 Context: the ceiling
Take the most clients you can see in a week.
Multiply it by your average service price.
Multiply that by 4.
Drop that number in the chat.
Design: MATH, step 3 of 3.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113 | Step 3 Context: the ceiling
Take the most clients you can see in a week.
Multiply it by your average service price.
Multiply that by 4.
Drop that number in the chat.
Design: MATH, step 3 of 3.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113 | Step 3 Context: the ceiling
Take the most clients you can see in a week.
Multiply it by your average service price.
Multiply that by 4.
Drop that number in the chat.
Design: MATH, step 3 of 3. CHAT PROMPT.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114 | Step 3 Context: the ceiling
That's your ceiling.
The most you can make in a month, the way you're working right now.
Design: STATEMENT. "Your ceiling" 96pt.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115 | Step 3 Context: the ceiling
For most of us, the only way we know to raise that number is more hours.
More clients. Later nights. Fewer days off.
And we know where that leads.
Your back, neck, and wrists hurting. Less family time.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115 | Step 3 Context: the ceiling
For most of us, the only way we know to raise that number is more hours.
More clients. Later nights. Fewer days off.
And we know where that leads.
Your back, neck, and wrists hurting. Less family time.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115 | Step 3 Context: the ceiling
For most of us, the only way we know to raise that number is more hours.
More clients. Later nights. Fewer days off.
And we know where that leads.
Your back, neck, and wrists hurting. Less family time.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115 | Step 3 Context: the ceiling
For most of us, the only way we know to raise that number is more hours.
More clients. Later nights. Fewer days off.
And we know where that leads.
Your back, neck, and wrists hurting. Less family time.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116 | Step 3 Context: the ceiling
So before we talk about adding more hours, I want you to look somewhere else first.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117 | Step 3 Strategy: the Invisible Leak
Most of us think growth means getting new clients.
But constantly chasing new clients is the most exhausting way to grow.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117 | Step 3 Strategy: the Invisible Leak
Most of us think growth means getting new clients.
But constantly chasing new clients is the most exhausting way to grow.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118 | Step 3 Strategy: the Invisible Leak
Meanwhile, there's money sitting right inside the clients you already have.
Let me show you with my own numbers.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118 | Step 3 Strategy: the Invisible Leak
Meanwhile, there's money sitting right inside the clients you already have.
Let me show you with my own numbers.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119 | Step 3 Strategy: the Invisible Leak
A lash client who comes every 3 weeks comes in about 17 times a year.
Design: MATH. "17"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120 | Step 3 Strategy: the Invisible Leak
At $100 a fill, that's $1,700 a year from one client.
Design: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121 | Step 3 Strategy: the Invisible Leak
Now add a $30 brow wax and tint to those appointments.
That's $510 more a year. Same client. Same visit.
I'm helping my client kill two birds with one stone.
Using skills and clients I already have.
Design: MATH. Small: 17 × $30 = $510. Each new line appears on click.
[VERIFY: your notes used $25 and $425. I switched to your real $30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121 | Step 3 Strategy: the Invisible Leak
Now add a $30 brow wax and tint to those appointments.
That's $510 more a year. Same client. Same visit.
I'm helping my client kill two birds with one stone.
Using skills and clients I already have.
Design: MATH. Small: 17 × $30 = $510. Each new line appears on click.
[VERIFY: your notes used $25 and $425. I switched to your real $30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121 | Step 3 Strategy: the Invisible Leak
Now add a $30 brow wax and tint to those appointments.
That's $510 more a year. Same client. Same visit.
I'm helping my client kill two birds with one stone.
Using skills and clients I already have.
Design: MATH. Small: 17 × $30 = $510. Each new line appears on click.
[VERIFY: your notes used $25 and $425. I switched to your real $30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121 | Step 3 Strategy: the Invisible Leak
Now add a $30 brow wax and tint to those appointments.
That's $510 more a year. Same client. Same visit.
I'm helping my client kill two birds with one stone.
Using skills and clients I already have.
Design: MATH. Small: 17 × $30 = $510. Each new line appears on click.
[VERIFY: your notes used $25 and $425. I switched to your real $30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122 | Step 3 Vision: the Invisible Leak, my numbers
Here's what that add-on did in my studio last year:
Design: SCREENSHOT: acuity-brow-wax-tint-appointments (Acuity, Type and Quantity columns only). Red box on 123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123 | Step 3 Vision: the Invisible Leak, my numbers
123 after-hours wax and tints × $60 = $7,380
Design: MATH. "$7,380" 96pt, accent color. Acuity crop small in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124 | Step 3 Vision: the Invisible Leak, my numbers
10 regular wax and tints × $30 = $300
Design: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125 | Step 3 Vision: the Invisible Leak, my numbers
$7,680 from one add-on.
Same clients. Skills I already had.
Design: MATH. "$7,680" 110pt, accent color.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125 | Step 3 Vision: the Invisible Leak, my numbers
$7,680 from one add-on.
Same clients. Skills I already had.
Design: MATH. "$7,680" 110pt, accent color.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126 | Step 3 Strategy: the Invisible Leak
And notice: after 7 PM, that same wax and tint is $60.
Getting paid more for your time is a revenue opportunity too.
Design: STATEMENT. "$60" in accent color.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126 | Step 3 Strategy: the Invisible Leak
And notice: after 7 PM, that same wax and tint is $60.
Getting paid more for your time is a revenue opportunity too.
Design: STATEMENT. "$60" in accent color.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127 | Step 3 Strategy: the Invisible Leak
But I see about 77 clients.
Say only half add it at every visit: 38 clients.
Design: MATH.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127 | Step 3 Strategy: the Invisible Leak
But I see about 77 clients.
Say only half add it at every visit: 38 clients.
Design: MATH.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128 | Step 3 Strategy: the Invisible Leak
38 × $510 = $19,380 a year.
Design: MATH. "$19,380" 96pt,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129 | Step 3 Strategy: the Invisible Leak
$19,380 possible. $7,680 made.
That $11,700 gap is what I call the Invisible Leak.
Design: MATH. Second line on click. "The Invisible Leak"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129 | Step 3 Strategy: the Invisible Leak
$19,380 possible. $7,680 made.
That $11,700 gap is what I call the Invisible Leak.
Design: MATH. Second line on click. "The Invisible Leak" in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130 | Step 3 Strategy: the Invisible Leak
It's not money you have to find.
It's money already walking out your door.
Design: STATEMENT.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130 | Step 3 Strategy: the Invisible Leak
It's not money you have to find.
It's money already walking out your door.
Design: STATEMENT. Second line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131 | Step 3 Strategy: the three directions
So how do you find your next revenue opportunity?
There are 3 directions you can grow.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132 | Step 3 Strategy: Direction 1
Direction 1: Go deeper
More value for the clients you already have.
Stop selling just one service. Start solving the whole problem.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133 | Step 3 Strategy: Direction 1 examples
Lash artist: Add a brow service to the same booking
Hairstylist: Packages or a recurring treatment plan for the health of their natural hair
Nail tech: Move basic manicures into structured gel overlays, and send them home with cuticle oil
Esthetician: Turn a one-time facial into a monthly membership with a home-care routine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133 | Step 3 Strategy: Direction 1 examples
Lash artist: Add a brow service to the same booking
Hairstylist: Packages or a recurring treatment plan for the health of their natural hair
Nail tech: Move basic manicures into structured gel overlays, and send them home with cuticle oil
Esthetician: Turn a one-time facial into a monthly membership with a home-care routine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133 | Step 3 Strategy: Direction 1 examples
Lash artist: Add a brow service to the same booking
Hairstylist: Packages or a recurring treatment plan for the health of their natural hair
Nail tech: Move basic manicures into structured gel overlays, and send them home with cuticle oil
Esthetician: Turn a one-time facial into a monthly membership with a home-care routine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133 | Step 3 Strategy: Direction 1 examples
Lash artist: Add a brow service to the same booking
Hairstylist: Packages or a recurring treatment plan for the health of their natural hair
Nail tech: Move basic manicures into structured gel overlays, and send them home with cuticle oil
Esthetician: Turn a one-time facial into a monthly membership with a home-care routine
Design: LIST, one per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134 | Step 3 Strategy: Direction 2
Direction 2: Go wider
The same skills, for a new audience.
When other pros start asking how you do what you do, that's training, mentoring, or teaching classes.
You're not learning a new skill. You're teaching the one you already have.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134 | Step 3 Strategy: Direction 2
Direction 2: Go wider
The same skills, for a new audience.
When other pros start asking how you do what you do, that's training, mentoring, or teaching classes.
You're not learning a new skill. You're teaching the one you already have.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134 | Step 3 Strategy: Direction 2
Direction 2: Go wider
The same skills, for a new audience.
When other pros start asking how you do what you do, that's training, mentoring, or teaching classes.
You're not learning a new skill. You're teaching the one you already have.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134 | Step 3 Strategy: Direction 2
Direction 2: Go wider
The same skills, for a new audience.
When other pros start asking how you do what you do, that's training, mentoring, or teaching classes.
You're not learning a new skill. You're teaching the one you already have.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135 | Step 3 Vision: Direction 2 proof
I've done this. I've taught classes full of lash artists.
And tonight is me doing it again.
Design: PHOTO: training class photo (3 students with certificates). Certificate names blurred.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135 | Step 3 Vision: Direction 2 proof
I've done this. I've taught classes full of lash artists.
And tonight is me doing it again.
Design: PHOTO: training class photo (3 students with certificates). Certificate names blurred.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136 | Step 3 Strategy: Direction 3
Direction 3: Go beyond the chair
The same knowledge, without using your hands.
Guides, digital products, and online education.
That's the stuff you explain in your chair over and over.
Or what you're so skilled at that other pros would want to know how to do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136 | Step 3 Strategy: Direction 3
Direction 3: Go beyond the chair
The same knowledge, without using your hands.
Guides, digital products, and online education.
That's the stuff you explain in your chair over and over.
Or what you're so skilled at that other pros would want to know how to do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136 | Step 3 Strategy: Direction 3
Direction 3: Go beyond the chair
The same knowledge, without using your hands.
Guides, digital products, and online education.
That's the stuff you explain in your chair over and over.
Or what you're so skilled at that other pros would want to know how to do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136 | Step 3 Strategy: Direction 3
Direction 3: Go beyond the chair
The same knowledge, without using your hands.
Guides, digital products, and online education.
That's the stuff you explain in your chair over and over.
Or what you're so skilled at that other pros would want to know how to do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136 | Step 3 Strategy: Direction 3
Direction 3: Go beyond the chair
The same knowledge, without using your hands.
Guides, digital products, and online education.
That's the stuff you explain in your chair over and over.
Or what you're so skilled at that other pros would want to know how to do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137 | Step 3 Strategy: the exercise
Answer three questions.
Don't overthink these. Write whatever comes to mind.
1. What do clients ask you for that you don't offer yet?
Design: STATEMENT. Give them 30 seconds.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137 | Step 3 Strategy: the exercise
Answer three questions.
Don't overthink these. Write whatever comes to mind.
1. What do clients ask you for that you don't offer yet?
Design: STATEMENT. Give them 30 seconds.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137 | Step 3 Strategy: the exercise
Answer three questions.
Don't overthink these. Write whatever comes to mind.
1. What do clients ask you for that you don't offer yet?
Design: STATEMENT. Give them 30 seconds.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138 | Step 3 Strategy: the exercise
2. What do other pros ask you how to do?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139 | Step 3 Strategy: the exercise
3. What do you find yourself explaining in your chair over and over?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140 | Step 3 Strategy: the exercise
Circle the one that came to you easiest.
Design: STATEMENT.
[VERIFY: "circle" comes from your pitch draft ("that next offer you circled today"). It's mine as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141 | Step 3 Strategy: moment of truth
Now I want to be real with you.
I don't want you leaving here and spending three months building something that doesn't pay you.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141 | Step 3 Strategy: moment of truth
Now I want to be real with you.
I don't want you leaving here and spending three months building something that doesn't pay you.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142 | Step 3 Strategy: moment of truth
Start closest to the chair.
Design: STATEMENT. 96pt.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143 | Step 3 Strategy: moment of truth
For most of you, Go Deeper is going to be your fastest money.
Those clients already know you, trust you, and pay you.
You're not convincing anybody. You're offering more value to people who already said yes.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143 | Step 3 Strategy: moment of truth
For most of you, Go Deeper is going to be your fastest money.
Those clients already know you, trust you, and pay you.
You're not convincing anybody. You're offering more value to people who already said yes.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143 | Step 3 Strategy: moment of truth
For most of you, Go Deeper is going to be your fastest money.
Those clients already know you, trust you, and pay you.
You're not convincing anybody. You're offering more value to people who already said yes.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144 | Step 3 Strategy: moment of truth
A digital product sounds exciting, and it is.
But it's usually the slowest to make money, because you have to build an audience for it first.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145 | Step 3 Strategy: moment of truth
Not sure where to start?
Start with the person already sitting in front of you.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146 | Step 3 Vision
Imagine it's the 1st of the month.
You haven't opened your doors yet. You haven't done a single appointment.
And a chunk of your income is already in the bank.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146 | Step 3 Vision
Imagine it's the 1st of the month.
You haven't opened your doors yet. You haven't done a single appointment.
And a chunk of your income is already in the bank.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146 | Step 3 Vision
Imagine it's the 1st of the month.
You haven't opened your doors yet. You haven't done a single appointment.
And a chunk of your income is already in the bank.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147 | Step 3 Vision
That's what recurring revenue does.
Memberships, packages, and plans.
It's not passive. You're still doing the work.
But it's predictable. You know what's coming before the month even starts.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147 | Step 3 Vision
That's what recurring revenue does.
Memberships, packages, and plans.
It's not passive. You're still doing the work.
But it's predictable. You know what's coming before the month even starts.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147 | Step 3 Vision
That's what recurring revenue does.
Memberships, packages, and plans.
It's not passive. You're still doing the work.
But it's predictable. You know what's coming before the month even starts.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147 | Step 3 Vision
That's what recurring revenue does.
Memberships, packages, and plans.
It's not passive. You're still doing the work.
But it's predictable. You know what's coming before the month even starts.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148 | Step 3 Vision: my numbers
In my studio, I have a Maintained Membership at $190 a month.
11 clients are on it.
Design: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149 | Step 3 Vision: my numbers
That's $2,090 before the month even starts.
Design: MATH. "$2,090" 96pt, accent color. Small: 11 × $190.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150 | Step 3 Vision
That's the shift.
From hoping clients book to knowing what's coming in.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151 | Step 3 Vision: proof
"One of the biggest shifts for me was realizing that I don't need to add more in order to grow. Sometimes growth comes from simplifying, refining what I already have, and being intentional about what I want my business to be known for."
Design: QUOTE: testimonial 1 screenshot, red box on these two sentences. Label "A beauty pro I mentored".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152 | Step 3 Commitment
Type the one opportunity you circled.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153 | Transition
You now know where your next dollar is coming from.
And it's already sitting in your chair.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154 | Roadmap: all done
Step 1: Position yourself ✓
Step 2: Post the 3 kinds of content ✓
Step 3: Find your next revenue opportunity ✓
Design: ROADMAP: all three small with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155 | Big Shift
Don't aim for a whole new business by January.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156 | Big Shift
Aim for one add-on.
Design: STATEMENT. 96pt.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157 | Big Shift: math
One $30 add-on. 5 clients a week.
That's $150 a week.
Design: MATH.
[VERIFY: example numbers are mine, using your $30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158 | Big Shift: math
That's about $600 a month.
From people already in your chair.
Design: MATH. "$600" accent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159 | Big Shift: check-in
If we stopped right now, would you feel you got more than any webinar you've been on?
Type YES or NO.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160 | Loop close
Remember the moment I said changed everything?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161 | Loop close: where I was
I had spent months and thousands of dollars on trainings, mentorships, and consultation calls.
They weren't scams. But some weren't as valuable as I hoped.
I took one or two things from each one.
And some really showed me the power of investing in yourself with the right people, and how you can avoid years of stress.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161 | Loop close: where I was
I had spent months and thousands of dollars on trainings, mentorships, and consultation calls.
They weren't scams. But some weren't as valuable as I hoped.
I took one or two things from each one.
And some really showed me the power of investing in yourself with the right people, and how you can avoid years of stress.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161 | Loop close: where I was
I had spent months and thousands of dollars on trainings, mentorships, and consultation calls.
They weren't scams. But some weren't as valuable as I hoped.
I took one or two things from each one.
And some really showed me the power of investing in yourself with the right people, and how you can avoid years of stress.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161 | Loop close: where I was
I had spent months and thousands of dollars on trainings, mentorships, and consultation calls.
They weren't scams. But some weren't as valuable as I hoped.
I took one or two things from each one.
And some really showed me the power of investing in yourself with the right people, and how you can avoid years of stress.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162 | Loop close: the moment
Then I mixed those pieces with my own research, learning, and experience.
And everything clicked.
Design: PHOTO: cherie-mentoring-at-desk. "Everything clicked" in accent color.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162 | Loop close: the moment
Then I mixed those pieces with my own research, learning, and experience.
And everything clicked.
Design: PHOTO: cherie-mentoring-at-desk. "Everything clicked" in accent color.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163 | Loop close: what happened
I got so booked I had to restructure my hours, limit my appointments, and turn away clients I couldn't take.
Design: SCREENSHOT: booked-calendar (same image as the proof flash, shown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164 | Loop close: the realization
Working wasn't a survival need anymore.
It became a choice.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165 | Loop close: what happened next
Then other pros started asking me how.
Design: SCREENSHOT: the "Whats the blue print" text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166 | Loop close: the promise
I know what it's like to struggle, try different things, and get generic information that doesn't change your business.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167 | Loop close: the promise
So I promised myself I'd share the information and resources I wish I had when I was figuring it out alone.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168 | Loop close
Tonight, I want to be that for you.
Design: STATEMENT. Photo of you on the right (your landing page headshot).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169 | Recap
So far tonight...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170 | Recap: Step 1
You found your positioning.
Design: RECAP: thumbnail of the formula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171 | Recap: Step 2
You learned the 3 kinds of posts and the proof ladder.
Design: RECAP: thumbnails of the Found / Trusted / Booked slide and the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172 | Recap: Step 3
You found the money already sitting in your chair.
Design: RECAP: thumbnail of the Invisible Leak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173 | Yes #1
Do you see why clients need a reason to choose you, not just good work?
Type YES.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174 | Yes #2
Do you see how 3 kinds of posts move a stranger to a booking?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175 | Yes #3
Do you believe there's money sitting in the clients you already have?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176 | Yes #4
Do you want a business that pays more and costs your body less?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177 | Yes #5
Would it help to have someone look at your business and tell you exactly what to fix first?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178 | Yes #6
If we could package everything you learned tonight, with me building it with you week by week, would you want to move forward?
Design: CHAT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179 | Two-agendas callback
Remember my two agendas?
#1: The best training you've had on growing your beauty business.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180 | Two-agendas callback
If I delivered on #1, let's talk about #2.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181 | Two choices
You have two choices.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182 | Two choices
Choice 1: Take what you learned tonight and do it on your own.
I'll be cheering for you.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183 | Two choices
Choice 2: Build it with me, for 8 weeks, with a small group of pros who get it.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184 | Introduce the program
So I built something for exactly this.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185 | Introduce the program
Remember this?
Design: SCREENSHOT: the "Whats the blue print" text, red box on "Whats the blue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186 | Name alone
The Beauty Business Blueprint
Design: TITLE. Name only, 80pt.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187 | One sentence
An 8-week group mentorship where you build a beauty business that pays more and costs your body less.
Design: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188 | What it's not
It's not another course you buy and never finish.
It's 8 weeks of building your business, live, with me and a small group of pros who get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188 | What it's not
It's not another course you buy and never finish.
It's 8 weeks of building your business, live, with me and a small group of pros who get it.
Design: STATEMENT. Each new line appears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189 | I do / you do
What I do: Teach you live every week. Give you feedback. Hold you accountable.
What you do: Show up, live or on replay. Do the weekly homework. Put it into your business.
Design: SPLIT: two columns side by side, "What I do" left, "What you do"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190 | First CTA
Founding cohort is open.
The link is in the chat.
Design: CTA. Rose bar at bottom: "Link in the chat · training.rieartistry.com/mentorship-page · Founding price ends Oct 30". CTA bar: ON from here, on about 2 of every 3 slides.
[REMINDER: paste and pin training.rieartistry.com/mentorship-page in the Zoom chat right before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191 | Component 1
Part 1: Fix the foundation
Weeks 1 and 2
Design: COMPONENT header.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192 | Component 1
Audit your revenue, pricing, schedule, and bottlenecks, so you know exactly what to fix first.
A 60-day action plan, so you're not guessing what to do next.
Streamline your service from setup to cleanup, so it takes less time and less out of your body.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192 | Component 1
Audit your revenue, pricing, schedule, and bottlenecks, so you know exactly what to fix first.
A 60-day action plan, so you're not guessing what to do next.
Streamline your service from setup to cleanup, so it takes less time and less out of your body.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192 | Component 1
Audit your revenue, pricing, schedule, and bottlenecks, so you know exactly what to fix first.
A 60-day action plan, so you're not guessing what to do next.
Streamline your service from setup to cleanup, so it takes less time and less out of your body.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193 | Component 1: picture it
Picture finishing your last client and still having energy left for your life.
Design: STATEMENT. CTA bar: OFF.
[VERIFY: picture-it line is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194 | Component 1: proof
"I'm not just looking at my business as something I'm operating day to day. I'm thinking more intentionally about the bigger picture, how I want to position myself, and how I can build a business that is aligned with where I'm ultimately trying to go."
Design: QUOTE: testimonial 3 screenshot, red box on these lines. Label "A beauty pro I mentored".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195 | Component 2
Part 2: Become the obvious choice
Weeks 3 and 4
Design: COMPONENT header.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196 | Component 2
Nail your positioning, ideal client, signature service, and pricing, so the right people choose you on purpose.
An Instagram audit and content strategy, so your posts turn into bookings.
A booking path that turns followers into clients.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196 | Component 2
Nail your positioning, ideal client, signature service, and pricing, so the right people choose you on purpose.
An Instagram audit and content strategy, so your posts turn into bookings.
A booking path that turns followers into clients.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196 | Component 2
Nail your positioning, ideal client, signature service, and pricing, so the right people choose you on purpose.
An Instagram audit and content strategy, so your posts turn into bookings.
A booking path that turns followers into clients.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197 | Component 2: picture it
Picture raising your prices and watching your best clients stay.
Design: STATEMENT. CTA bar: OFF.
[VERIFY: picture-it line is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198 | Component 2: proof
"It truly provided me with so much clarity and pushed me to execute on things that needed to get done to position myself and my business on the path toward its purpose and goals."
Design: QUOTE: testimonial 1 screenshot, red box on this sentence.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199 | Component 3
Part 3: Build income beyond your hours
Weeks 5 to 8
Design: COMPONENT header.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200 | Component 3
Systems: Acuity, rebooking, policies, and paying yourself, so your business runs smoother.
Revenue expansion: brows, retail, memberships, trainings, and digital products.
You'll build your first additional offer.
The CEO mindset: confidence, boundaries, and premium pricing.
Plus a 90-day growth plan, so you keep growing after we're done.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200 | Component 3
Systems: Acuity, rebooking, policies, and paying yourself, so your business runs smoother.
Revenue expansion: brows, retail, memberships, trainings, and digital products.
You'll build your first additional offer.
The CEO mindset: confidence, boundaries, and premium pricing.
Plus a 90-day growth plan, so you keep growing after we're done.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200 | Component 3
Systems: Acuity, rebooking, policies, and paying yourself, so your business runs smoother.
Revenue expansion: brows, retail, memberships, trainings, and digital products.
You'll build your first additional offer.
The CEO mindset: confidence, boundaries, and premium pricing.
Plus a 90-day growth plan, so you keep growing after we're done.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200 | Component 3
Systems: Acuity, rebooking, policies, and paying yourself, so your business runs smoother.
Revenue expansion: brows, retail, memberships, trainings, and digital products.
You'll build your first additional offer.
The CEO mindset: confidence, boundaries, and premium pricing.
Plus a 90-day growth plan, so you keep growing after we're done.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200 | Component 3
Systems: Acuity, rebooking, policies, and paying yourself, so your business runs smoother.
Revenue expansion: brows, retail, memberships, trainings, and digital products.
You'll build your first additional offer.
The CEO mindset: confidence, boundaries, and premium pricing.
Plus a 90-day growth plan, so you keep growing after we're done.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201 | Component 3: picture it
Picture the 1st of the month, with part of your income already in.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202 | Component 3: proof
"Your wisdom and guidance have completely transformed the way I structure my business."
"Your program gave me the clarity, systems, and direction I needed to grow."
Design: QUOTE: testimonial 2 screenshot, red box on these two lines.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203 | How it works
8 live calls, 90 minutes each.
Mondays at 7:30 PM Eastern, starting November 2.
Can't make it live? Every call is recorded.
Design: STATEMENT. Each new line appears on click. CTA bar: ON.
[VERIFY: are you meeting Nov 23 (Thanksgiving week) and Dec 21 (Christmas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203 | How it works
8 live calls, 90 minutes each.
Mondays at 7:30 PM Eastern, starting November 2.
Can't make it live? Every call is recorded.
Design: STATEMENT. Each new line appears on click. CTA bar: ON.
[VERIFY: are you meeting Nov 23 (Thanksgiving week) and Dec 21 (Christmas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203 | How it works
8 live calls, 90 minutes each.
Mondays at 7:30 PM Eastern, starting November 2.
Can't make it live? Every call is recorded.
Design: STATEMENT. Each new line appears on click. CTA bar: ON.
[VERIFY: are you meeting Nov 23 (Thanksgiving week) and Dec 21 (Christmas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204 | How it works
Plus a private Telegram group for support between calls.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205 | VIP
Want me looking directly at your business?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206 | VIP
VIP: Everything in the cohort, plus 3 private 1:1 sessions with me.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207 | VIP
Week 1: Private business diagnostic
I look at your business, Instagram, offers, pricing, positioning, and schedule, and tell you what needs to change.
Week 4: Private check-in
What's working? Where are you stuck? What needs adjusting?
Week 8: Your personal growth plan
Your customized strategy for the next 90 days.
Design: LIST.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208 | VIP: proof
"You're a great listener, but you're also going to tell me things straight forward. There's no beating around the bush in this mentorship! 😂 And honestly, I needed that."
Design: QUOTE: testimonial 1 screenshot, red box on these lines.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209 | VIP
Only 5 VIP seats.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210 | Value anchor
Let's talk about what this is worth.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211 | Value anchor: cost of inaction
Go back to your ceiling number.
If nothing changes, that's your income a year from now.
Same hours. Same body aches. Same slow weeks.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211 | Value anchor: cost of inaction
Go back to your ceiling number.
If nothing changes, that's your income a year from now.
Same hours. Same body aches. Same slow weeks.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211 | Value anchor: cost of inaction
Go back to your ceiling number.
If nothing changes, that's your income a year from now.
Same hours. Same body aches. Same slow weeks.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212 | Value anchor: one good result
Now look at the Invisible Leak.
In my own studio, if half my clients added it, the gap was over $11,000 a year.
Design: MATH. Small: $19,380 possible minus $7,680 made = $11,700.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213 | Value anchor: honest
I can't promise you a specific number. Your results depend on what you put in.
But staying where you are has a cost too.
You're already paying it, in your body and in your time.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213 | Value anchor: honest
I can't promise you a specific number. Your results depend on what you put in.
But staying where you are has a cost too.
You're already paying it, in your body and in your time.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213 | Value anchor: honest
I can't promise you a specific number. Your results depend on what you put in.
But staying where you are has a cost too.
You're already paying it, in your body and in your time.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214 | Price reveal
After this founding cohort, the Blueprint will be $1,497.
Design: PRICE. "$1,497" large.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215 | Price reveal
Standard, founding price tonight: $997
Design: PRICE. "$997" 96pt in accent color. "$1,497" above it, smaller, struck through.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216 | Price reveal: VIP
VIP after this cohort: $1,997
VIP, founding price tonight: $1,497
That means VIP tonight costs what Standard costs next time.
Design: PRICE. Same layout.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216 | Price reveal: VIP
VIP after this cohort: $1,997
VIP, founding price tonight: $1,497
That means VIP tonight costs what Standard costs next time.
Design: PRICE. Same layout.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216 | Price reveal: VIP
VIP after this cohort: $1,997
VIP, founding price tonight: $1,497
That means VIP tonight costs what Standard costs next time.
Design: PRICE. Same layout.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217 | Payment
Want to split it up? Klarna and Afterpay are available at checkout.
Just tap "More payment options."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218 | CTA
Join the founding cohort.
The link is in the chat.
Design: CTA.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219 | Bonuses intro
When you join, you also get 3 bonuses.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220 | Bonus #1: objection
Worried you won't know what to post once we're done?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221 | Bonus #1
Bonus #1: 30-Day Content Starter Kit
Content prompts for showing your expertise, building trust, and inviting bookings. Plus a simple planning template.
Design: BONUS: name large, description 32pt, mockup image of the kit on the right. CTA bar: ON.
[NEED: one page or mockup of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222 | Stack recap
So far:
The Beauty Business Blueprint
Bonus #1: 30-Day Content Starter Kit
Design: STACK.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222 | Stack recap
So far:
The Beauty Business Blueprint
Bonus #1: 30-Day Content Starter Kit
Design: STACK.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223 | Bonus #2: objection
Worried you'll feel salesy asking clients to book, rebook, or come back?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224 | Bonus #2
Bonus #2: Client Booking + Rebooking Script Pack
Copy-and-paste messages for inquiries, booking follow-ups, rebooking, and reconnecting with past clients.
Design: BONUS: mockup of one script on the right. CTA bar: ON.
[NEED: one sample script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225 | Stack recap
So far:
The Beauty Business Blueprint
Bonus #1: 30-Day Content Starter Kit
Bonus #2: Client Booking + Rebooking Script Pack
Design: STACK.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225 | Stack recap
So far:
The Beauty Business Blueprint
Bonus #1: 30-Day Content Starter Kit
Bonus #2: Client Booking + Rebooking Script Pack
Design: STACK.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225 | Stack recap
So far:
The Beauty Business Blueprint
Bonus #1: 30-Day Content Starter Kit
Bonus #2: Client Booking + Rebooking Script Pack
Design: STACK.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226 | Bonus #3: objection
Worried your page doesn't look like someone worth premium prices?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227 | Bonus #3
Bonus #3: 5 Instagram Reel Covers, customized to your business
A mini revamp for your page. Editable in Canva, so you can reuse them.
Design: BONUS: before and after, side by side (true sequence): reel-cover-before-after-highlights (plain photo, then your finished cover). Label "Before" and "After" small.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228 | Bonus #3: proof
Same photo. Now it stops the scroll.
Design: BONUS: reel-cover-before-after-sew-in, side by side, "Before" and "After" small.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229 | Full stack
Everything you get:
8 live 90-minute calls with me
Every call recorded
Private Telegram group
Your 60-day action plan
Your 90-day growth plan
Bonus #1: 30-Day Content Starter Kit
Bonus #2: Client Booking + Rebooking Script Pack
Bonus #3: 5 customized Instagram Reel Covers
Design: FULL STACK: stacked list, one per click. Price at bottom: "$1,497 after this cohort. Standard tonight: $997."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230 | Full stack: VIP
VIP adds:
3 private 1:1 sessions with me
Your personal business and Instagram audit
Your customized 90-day growth plan
Design: FULL STACK. Price: "$1,997 after this cohort. VIP tonight: $1,497."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230 | Full stack: VIP
VIP adds:
3 private 1:1 sessions with me
Your personal business and Instagram audit
Your customized 90-day growth plan
Design: FULL STACK. Price: "$1,997 after this cohort. VIP tonight: $1,497."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230 | Full stack: VIP
VIP adds:
3 private 1:1 sessions with me
Your personal business and Instagram audit
Your customized 90-day growth plan
Design: FULL STACK. Price: "$1,997 after this cohort. VIP tonight: $1,497."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231 | Major CTA
Standard: $997
VIP: $1,497
The link is in the chat.
Design: CTA. Large. Under the prices: "Founding prices. 15 seats. 5 VIP. Ends Oct 30." Small: training.rieartistry.com/mentorship-page.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232 | Hand-hold
Here's exactly how to join.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233 | Hand-hold: step 1
Step 1: Click the link in the chat.
Or use the link at the bottom of the screen.
Design: CHECKOUT SCREENSHOT: top of your mentorship page. Red box on "Choose Your Option". CTA bar: OFF.
[NEED: screenshot of the top of the mentorship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234 | Hand-hold: step 2
Step 2: Scroll to the pricing and click Join Standard or Join VIP.
Design: CHECKOUT SCREENSHOT: pricing section with both buttons. Red box on the two buttons. CTA bar: ON.
[NEED: screenshot of the pricing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235 | Hand-hold: step 3
Step 3: Enter your info and payment on the secure checkout.
Want to split it? Tap "More payment options" for Klarna or Afterpay.
Design: CHECKOUT SCREENSHOT: payment page. Red box on "More payment options". CTA bar: ON.
[NEED: screenshot of the payment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236 | Hand-hold: step 4
Step 4: You'll see a confirmation page and get an email with next steps.
Design: CHECKOUT SCREENSHOT: thank-you page. CTA bar: OFF.
[NEED: screenshot of the confirmation page or email. What does the email include (Telegram invite, calendar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237 | CTA
That's it. The link is in the chat.
Design: CTA.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238 | Guarantee: the reason
I'm only taking 15 people.
I'd rather give your money back than have you in a seat that isn't right for you.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239 | Guarantee: the promise
So here's my Two-Week Clarity Guarantee.
Come to the first 2 calls, live or on replay.
Do the Week 1 audit and the Week 2 homework.
Design: TITLE.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239 | Guarantee: the promise
So here's my Two-Week Clarity Guarantee.
Come to the first 2 calls, live or on replay.
Do the Week 1 audit and the Week 2 homework.
Design: TITLE.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239 | Guarantee: the promise
So here's my Two-Week Clarity Guarantee.
Come to the first 2 calls, live or on replay.
Do the Week 1 audit and the Week 2 homework.
Design: TITLE.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240 | Guarantee: the promise
If you don't feel it was worth it, message me before the Week 3 call on November 16.
I'll refund every dollar.
Design: STATEMENT. "Every dollar" in accent color. CTA bar: ON.
[VERIFY: your Terms of Service page should match this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241 | Guarantee
Your part: show up and do the work.
My part: make it worth it.
Design: SPLIT.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242 | Informed decision
I'm not asking you to decide tonight.
I'm asking you to make a fully informed decision.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243 | Scarcity
15 seats total.
5 of them are VIP.
Why so small?
So I can actually understand each person's business and give you real help.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243 | Scarcity
15 seats total.
5 of them are VIP.
Why so small?
So I can actually understand each person's business and give you real help.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243 | Scarcity
15 seats total.
5 of them are VIP.
Why so small?
So I can actually understand each person's business and give you real help.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243 | Scarcity
15 seats total.
5 of them are VIP.
Why so small?
So I can actually understand each person's business and give you real help.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244 | Scarcity: deadline
Founding pricing ends Friday, October 30 at 11:59 PM Eastern.
Or when the seats fill.
Design: STATEMENT. CTA bar: ON.
[VERIFY: 11:59 PM Eastern is my placeholder. Confirm the exact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245 | Scarcity
After that, it's $1,497 for the cohort and $1,997 for VIP.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246 | CTA
Grab your seat. The link is in the chat.
Design: CTA.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247 | FAQ intro
Let's answer the questions you might be asking.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248 | FAQ: money
"I can't afford it right now."
Look at what you're already losing.
The specials. The slow weeks. The money walking out your door.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248 | FAQ: money
"I can't afford it right now."
Look at what you're already losing.
The specials. The slow weeks. The money walking out your door.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248 | FAQ: money
"I can't afford it right now."
Look at what you're already losing.
The specials. The slow weeks. The money walking out your door.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249 | FAQ: money
Klarna and Afterpay let you split it into smaller payments.
And the Two-Week Clarity Guarantee means you'll know it's worth it before Week 3.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250 | FAQ: money
The question isn't whether you can afford this.
It's whether you can afford another year of the same hours, the same slow weeks, and the same body aches.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251 | FAQ: time
"I don't have time."
It's one 90-minute call a week, on Monday evenings.
Can't make it? Watch the replay.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251 | FAQ: time
"I don't have time."
It's one 90-minute call a week, on Monday evenings.
Can't make it? Watch the replay.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251 | FAQ: time
"I don't have time."
It's one 90-minute call a week, on Monday evenings.
Can't make it? Watch the replay.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252 | FAQ: time
And Week 2 is all about getting time back: a faster workflow from setup to cleanup.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253 | FAQ
"I'm not a lash artist. Will this work for me?"
Yes. Positioning, content, pricing, and systems work the same for hair, nails, skin, brows, makeup, and PMU.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253 | FAQ
"I'm not a lash artist. Will this work for me?"
Yes. Positioning, content, pricing, and systems work the same for hair, nails, skin, brows, makeup, and PMU.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254 | FAQ
"I'm still pretty new."
If you already have clients, even a few, this is for you.
If you don't have any clients yet, this isn't the right fit yet.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254 | FAQ
"I'm still pretty new."
If you already have clients, even a few, this is for you.
If you don't have any clients yet, this isn't the right fit yet.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254 | FAQ
"I'm still pretty new."
If you already have clients, even a few, this is for you.
If you don't have any clients yet, this isn't the right fit yet.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255 | FAQ
"Is this another course I'll buy and never finish?"
No. It's live, with weekly homework and me holding you accountable.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255 | FAQ
"Is this another course I'll buy and never finish?"
No. It's live, with weekly homework and me holding you accountable.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256 | FAQ: proof
"I know there are things I would have continued to overthink or put off if I didn't have you challenging me to just make the decision and execute."
Design: QUOTE: testimonial 3 screenshot, red box on this line.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257 | FAQ
"What's the difference between Standard and VIP?"
VIP adds 3 private 1:1 sessions with me and a personal audit of your business and Instagram.
Design: STATEMENT. CTA bar: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258 | FAQ
"When does it start?"
Monday, November 2 at 7:30 PM Eastern.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259 | FAQ: money and time, again
"Can I just wait for the next one?"
You can. It'll be $1,497.
And you'll have spent a few more months working the same hours for the same money.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259 | FAQ: money and time, again
"Can I just wait for the next one?"
You can. It'll be $1,497.
And you'll have spent a few more months working the same hours for the same money.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259 | FAQ: money and time, again
"Can I just wait for the next one?"
You can. It'll be $1,497.
And you'll have spent a few more months working the same hours for the same money.
Design: STATEMENT. Each new line appears on click.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260 | Final close
You have two choices.
Do it on your own. Or build it with me.
Design: STATEMENT.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261 | Final close
If you're ready to stop guessing and start building, the link is in the chat.
Design: CTA.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262 | Final close
I'll see you Monday, November 2.
Design: STATEMENT. Photo of you. CTA bar: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slide 263 | Q&amp;A
Questions? Ask away.
Design: Q&amp;A. CTA bar ON and stays on screen for the rest of the call: prices, "Ends Oct 30", "Link in the chat", and training.rieartistry.com/mentorship-page.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jp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jp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jp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jp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jp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214-1.jp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jp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238-1.jpg"/><Relationship Id="rId2" Type="http://schemas.openxmlformats.org/officeDocument/2006/relationships/slideLayout" Target="../slideLayouts/slideLayout1.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jp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269-1.jp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image" Target="../media/image-283-1.jpg"/><Relationship Id="rId2" Type="http://schemas.openxmlformats.org/officeDocument/2006/relationships/slideLayout" Target="../slideLayouts/slideLayout1.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image" Target="../media/image-284-1.jpg"/><Relationship Id="rId2" Type="http://schemas.openxmlformats.org/officeDocument/2006/relationships/slideLayout" Target="../slideLayouts/slideLayout1.xml"/><Relationship Id="rId3"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image" Target="../media/image-285-1.jpg"/><Relationship Id="rId2" Type="http://schemas.openxmlformats.org/officeDocument/2006/relationships/slideLayout" Target="../slideLayouts/slideLayout1.xml"/><Relationship Id="rId3"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image" Target="../media/image-287-1.jpg"/><Relationship Id="rId2" Type="http://schemas.openxmlformats.org/officeDocument/2006/relationships/slideLayout" Target="../slideLayouts/slideLayout1.xml"/><Relationship Id="rId3"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image" Target="../media/image-290-1.jpg"/><Relationship Id="rId2" Type="http://schemas.openxmlformats.org/officeDocument/2006/relationships/slideLayout" Target="../slideLayouts/slideLayout1.xml"/><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image" Target="../media/image-307-1.jpg"/><Relationship Id="rId2" Type="http://schemas.openxmlformats.org/officeDocument/2006/relationships/slideLayout" Target="../slideLayouts/slideLayout1.xml"/><Relationship Id="rId3"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image" Target="../media/image-319-1.jpg"/><Relationship Id="rId2" Type="http://schemas.openxmlformats.org/officeDocument/2006/relationships/slideLayout" Target="../slideLayouts/slideLayout1.xml"/><Relationship Id="rId3"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image" Target="../media/image-325-1.jpg"/><Relationship Id="rId2" Type="http://schemas.openxmlformats.org/officeDocument/2006/relationships/slideLayout" Target="../slideLayouts/slideLayout1.xml"/><Relationship Id="rId3"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image" Target="../media/image-333-1.jpg"/><Relationship Id="rId2" Type="http://schemas.openxmlformats.org/officeDocument/2006/relationships/slideLayout" Target="../slideLayouts/slideLayout1.xml"/><Relationship Id="rId3"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image" Target="../media/image-346-1.jpg"/><Relationship Id="rId2" Type="http://schemas.openxmlformats.org/officeDocument/2006/relationships/slideLayout" Target="../slideLayouts/slideLayout1.xml"/><Relationship Id="rId3"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image" Target="../media/image-374-1.jpg"/><Relationship Id="rId2" Type="http://schemas.openxmlformats.org/officeDocument/2006/relationships/slideLayout" Target="../slideLayouts/slideLayout1.xml"/><Relationship Id="rId3"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image" Target="../media/image-375-1.jpg"/><Relationship Id="rId2" Type="http://schemas.openxmlformats.org/officeDocument/2006/relationships/slideLayout" Target="../slideLayouts/slideLayout1.xml"/><Relationship Id="rId3"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image" Target="../media/image-425-1.jpg"/><Relationship Id="rId2" Type="http://schemas.openxmlformats.org/officeDocument/2006/relationships/slideLayout" Target="../slideLayouts/slideLayout1.xml"/><Relationship Id="rId3"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image" Target="../media/image-433-1.jpg"/><Relationship Id="rId2" Type="http://schemas.openxmlformats.org/officeDocument/2006/relationships/slideLayout" Target="../slideLayouts/slideLayout1.xml"/><Relationship Id="rId3"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1</a:t>
            </a:r>
            <a:endParaRPr lang="en-US" sz="1000" dirty="0"/>
          </a:p>
        </p:txBody>
      </p:sp>
      <p:sp>
        <p:nvSpPr>
          <p:cNvPr id="4" name="Text 1"/>
          <p:cNvSpPr txBox="1"/>
          <p:nvPr/>
        </p:nvSpPr>
        <p:spPr>
          <a:xfrm>
            <a:off x="731520" y="1097280"/>
            <a:ext cx="10728655" cy="3840480"/>
          </a:xfrm>
          <a:prstGeom prst="rect">
            <a:avLst/>
          </a:prstGeom>
          <a:noFill/>
          <a:ln/>
        </p:spPr>
        <p:txBody>
          <a:bodyPr wrap="square" lIns="0" tIns="0" rIns="0" bIns="0" rtlCol="0" anchor="ctr"/>
          <a:lstStyle/>
          <a:p>
            <a:pPr indent="0" marL="0">
              <a:buNone/>
            </a:pPr>
            <a:r>
              <a:rPr lang="en-US" sz="6200" b="1" dirty="0">
                <a:solidFill>
                  <a:srgbClr val="F7EEE5"/>
                </a:solidFill>
                <a:latin typeface="Cormorant Garamond"/>
                <a:ea typeface="Cormorant Garamond"/>
                <a:cs typeface="Cormorant Garamond"/>
              </a:rPr>
              <a:t>How beauty pros are getting booked by the right clients</a:t>
            </a:r>
            <a:endParaRPr lang="en-US" sz="6200" dirty="0"/>
          </a:p>
          <a:p>
            <a:pPr indent="0" marL="0">
              <a:buNone/>
            </a:pPr>
            <a:r>
              <a:rPr lang="en-US" sz="4600" b="1" dirty="0">
                <a:solidFill>
                  <a:srgbClr val="F5C6D2"/>
                </a:solidFill>
                <a:latin typeface="Cormorant Garamond"/>
                <a:ea typeface="Cormorant Garamond"/>
                <a:cs typeface="Cormorant Garamond"/>
              </a:rPr>
              <a:t>without adding more hours in the chair</a:t>
            </a:r>
            <a:endParaRPr lang="en-US" sz="6200" dirty="0"/>
          </a:p>
        </p:txBody>
      </p:sp>
      <p:sp>
        <p:nvSpPr>
          <p:cNvPr id="5" name="Text 2"/>
          <p:cNvSpPr txBox="1"/>
          <p:nvPr/>
        </p:nvSpPr>
        <p:spPr>
          <a:xfrm>
            <a:off x="731520" y="5852160"/>
            <a:ext cx="10728655" cy="457200"/>
          </a:xfrm>
          <a:prstGeom prst="rect">
            <a:avLst/>
          </a:prstGeom>
          <a:noFill/>
          <a:ln/>
        </p:spPr>
        <p:txBody>
          <a:bodyPr wrap="square" lIns="0" tIns="0" rIns="0" bIns="0" rtlCol="0" anchor="ctr"/>
          <a:lstStyle/>
          <a:p>
            <a:pPr indent="0" marL="0">
              <a:buNone/>
            </a:pPr>
            <a:r>
              <a:rPr lang="en-US" sz="2000" dirty="0">
                <a:solidFill>
                  <a:srgbClr val="D9CBBE"/>
                </a:solidFill>
                <a:latin typeface="Jost"/>
                <a:ea typeface="Jost"/>
                <a:cs typeface="Jost"/>
              </a:rPr>
              <a:t>Cherie Bowen  ·  Rie Artistry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have two agendas tonight.</a:t>
            </a:r>
            <a:endParaRPr lang="en-US" sz="6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#1</a:t>
            </a:r>
            <a:pPr algn="l" indent="0" marL="0">
              <a:spcAft>
                <a:spcPts val="2100"/>
              </a:spcAft>
              <a:buNone/>
            </a:pPr>
            <a:r>
              <a:rPr lang="en-US" sz="6000" b="1" dirty="0">
                <a:solidFill>
                  <a:srgbClr val="2A201B"/>
                </a:solidFill>
                <a:latin typeface="Jost"/>
                <a:ea typeface="Jost"/>
                <a:cs typeface="Jost"/>
              </a:rPr>
              <a:t>: Give you the most practical training you've ever had on growing your beauty business.</a:t>
            </a:r>
            <a:endParaRPr lang="en-US" sz="6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#2</a:t>
            </a:r>
            <a:pPr algn="l" indent="0" marL="0">
              <a:spcAft>
                <a:spcPts val="2100"/>
              </a:spcAft>
              <a:buNone/>
            </a:pPr>
            <a:r>
              <a:rPr lang="en-US" sz="6000" b="1" dirty="0">
                <a:solidFill>
                  <a:srgbClr val="2A201B"/>
                </a:solidFill>
                <a:latin typeface="Jost"/>
                <a:ea typeface="Jost"/>
                <a:cs typeface="Jost"/>
              </a:rPr>
              <a:t>: At the end, invite a few of you to work with me personally for 8 weeks.</a:t>
            </a:r>
            <a:endParaRPr lang="en-US" sz="6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If I don't deliver on #1, don't even think about #2.</a:t>
            </a:r>
            <a:endParaRPr lang="en-US" sz="6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900"/>
              </a:spcAft>
              <a:buNone/>
            </a:pPr>
            <a:r>
              <a:rPr lang="en-US" sz="6200" b="1" dirty="0">
                <a:solidFill>
                  <a:srgbClr val="2A201B"/>
                </a:solidFill>
                <a:latin typeface="Cormorant Garamond"/>
                <a:ea typeface="Cormorant Garamond"/>
                <a:cs typeface="Cormorant Garamond"/>
              </a:rPr>
              <a:t>Fair deal?</a:t>
            </a:r>
            <a:endParaRPr lang="en-US" sz="62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DEAL</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believe this will be the most useful hour you've spent on your business this year.</a:t>
            </a:r>
            <a:endParaRPr lang="en-US" sz="6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You've heard that before.</a:t>
            </a:r>
            <a:endParaRPr lang="en-US" sz="6900" dirty="0"/>
          </a:p>
          <a:p>
            <a:pPr algn="l" indent="0" marL="0">
              <a:spcAft>
                <a:spcPts val="2100"/>
              </a:spcAft>
              <a:buNone/>
            </a:pPr>
            <a:r>
              <a:rPr lang="en-US" sz="6000" dirty="0">
                <a:solidFill>
                  <a:srgbClr val="FBF7F1"/>
                </a:solidFill>
                <a:latin typeface="Jost"/>
                <a:ea typeface="Jost"/>
                <a:cs typeface="Jost"/>
              </a:rPr>
              <a:t>So don't take my word for it.</a:t>
            </a:r>
            <a:endParaRPr lang="en-US" sz="6000" dirty="0"/>
          </a:p>
          <a:p>
            <a:pPr algn="l" indent="0" marL="0">
              <a:spcAft>
                <a:spcPts val="2100"/>
              </a:spcAft>
              <a:buNone/>
            </a:pPr>
            <a:r>
              <a:rPr lang="en-US" sz="6000" dirty="0">
                <a:solidFill>
                  <a:srgbClr val="FBF7F1"/>
                </a:solidFill>
                <a:latin typeface="Jost"/>
                <a:ea typeface="Jost"/>
                <a:cs typeface="Jost"/>
              </a:rPr>
              <a:t>Judge me at the end.</a:t>
            </a:r>
            <a:endParaRPr lang="en-US" sz="6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You've heard that before.</a:t>
            </a:r>
            <a:endParaRPr lang="en-US" sz="6900" dirty="0"/>
          </a:p>
          <a:p>
            <a:pPr algn="l" indent="0" marL="0">
              <a:spcAft>
                <a:spcPts val="2100"/>
              </a:spcAft>
              <a:buNone/>
            </a:pPr>
            <a:r>
              <a:rPr lang="en-US" sz="6000" dirty="0">
                <a:solidFill>
                  <a:srgbClr val="2A201B"/>
                </a:solidFill>
                <a:latin typeface="Jost"/>
                <a:ea typeface="Jost"/>
                <a:cs typeface="Jost"/>
              </a:rPr>
              <a:t>So don't take my word for it.</a:t>
            </a:r>
            <a:endParaRPr lang="en-US" sz="6000" dirty="0"/>
          </a:p>
          <a:p>
            <a:pPr algn="l" indent="0" marL="0">
              <a:spcAft>
                <a:spcPts val="2100"/>
              </a:spcAft>
              <a:buNone/>
            </a:pPr>
            <a:r>
              <a:rPr lang="en-US" sz="6000" dirty="0">
                <a:solidFill>
                  <a:srgbClr val="FBF7F1"/>
                </a:solidFill>
                <a:latin typeface="Jost"/>
                <a:ea typeface="Jost"/>
                <a:cs typeface="Jost"/>
              </a:rPr>
              <a:t>Judge me at the end.</a:t>
            </a:r>
            <a:endParaRPr lang="en-US" sz="6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You've heard that before.</a:t>
            </a:r>
            <a:endParaRPr lang="en-US" sz="6900" dirty="0"/>
          </a:p>
          <a:p>
            <a:pPr algn="l" indent="0" marL="0">
              <a:spcAft>
                <a:spcPts val="2100"/>
              </a:spcAft>
              <a:buNone/>
            </a:pPr>
            <a:r>
              <a:rPr lang="en-US" sz="6000" dirty="0">
                <a:solidFill>
                  <a:srgbClr val="2A201B"/>
                </a:solidFill>
                <a:latin typeface="Jost"/>
                <a:ea typeface="Jost"/>
                <a:cs typeface="Jost"/>
              </a:rPr>
              <a:t>So don't take my word for it.</a:t>
            </a:r>
            <a:endParaRPr lang="en-US" sz="6000" dirty="0"/>
          </a:p>
          <a:p>
            <a:pPr algn="l" indent="0" marL="0">
              <a:spcAft>
                <a:spcPts val="2100"/>
              </a:spcAft>
              <a:buNone/>
            </a:pPr>
            <a:r>
              <a:rPr lang="en-US" sz="6000" dirty="0">
                <a:solidFill>
                  <a:srgbClr val="2A201B"/>
                </a:solidFill>
                <a:latin typeface="Jost"/>
                <a:ea typeface="Jost"/>
                <a:cs typeface="Jost"/>
              </a:rPr>
              <a:t>Judge me at the end.</a:t>
            </a:r>
            <a:endParaRPr lang="en-US" sz="6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2017.</a:t>
            </a:r>
            <a:endParaRPr lang="en-US" sz="4800" dirty="0"/>
          </a:p>
          <a:p>
            <a:pPr algn="l" indent="0" marL="0">
              <a:spcAft>
                <a:spcPts val="1700"/>
              </a:spcAft>
              <a:buNone/>
            </a:pPr>
            <a:r>
              <a:rPr lang="en-US" sz="4800" dirty="0">
                <a:solidFill>
                  <a:srgbClr val="2A201B"/>
                </a:solidFill>
                <a:latin typeface="Jost"/>
                <a:ea typeface="Jost"/>
                <a:cs typeface="Jost"/>
              </a:rPr>
              <a:t>I was one of the only lash artists in my area.</a:t>
            </a:r>
            <a:endParaRPr lang="en-US" sz="4800" dirty="0"/>
          </a:p>
        </p:txBody>
      </p:sp>
      <p:pic>
        <p:nvPicPr>
          <p:cNvPr id="5" name="Image 0" descr="/home/claude/webinar/deck-img/lash-work-2017.jpg">    </p:cNvPr>
          <p:cNvPicPr>
            <a:picLocks noChangeAspect="1"/>
          </p:cNvPicPr>
          <p:nvPr/>
        </p:nvPicPr>
        <p:blipFill>
          <a:blip r:embed="rId1"/>
          <a:stretch>
            <a:fillRect/>
          </a:stretch>
        </p:blipFill>
        <p:spPr>
          <a:xfrm>
            <a:off x="6309360" y="1773747"/>
            <a:ext cx="5333695" cy="32647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grew it into The Lash Plug.</a:t>
            </a:r>
            <a:endParaRPr lang="en-US" sz="5500" dirty="0"/>
          </a:p>
        </p:txBody>
      </p:sp>
      <p:pic>
        <p:nvPicPr>
          <p:cNvPr id="5" name="Image 0" descr="/home/claude/webinar/deck-img/lashplug-instagram-then.jpg">    </p:cNvPr>
          <p:cNvPicPr>
            <a:picLocks noChangeAspect="1"/>
          </p:cNvPicPr>
          <p:nvPr/>
        </p:nvPicPr>
        <p:blipFill>
          <a:blip r:embed="rId1"/>
          <a:stretch>
            <a:fillRect/>
          </a:stretch>
        </p:blipFill>
        <p:spPr>
          <a:xfrm>
            <a:off x="7612993" y="457200"/>
            <a:ext cx="2726429" cy="5897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was training other lash artists.</a:t>
            </a:r>
            <a:endParaRPr lang="en-US" sz="5500" dirty="0"/>
          </a:p>
        </p:txBody>
      </p:sp>
      <p:pic>
        <p:nvPicPr>
          <p:cNvPr id="5" name="Image 0" descr="/home/claude/webinar/deck-img/training-class-4-blurred.jpg">    </p:cNvPr>
          <p:cNvPicPr>
            <a:picLocks noChangeAspect="1"/>
          </p:cNvPicPr>
          <p:nvPr/>
        </p:nvPicPr>
        <p:blipFill>
          <a:blip r:embed="rId1"/>
          <a:stretch>
            <a:fillRect/>
          </a:stretch>
        </p:blipFill>
        <p:spPr>
          <a:xfrm>
            <a:off x="6764503" y="457200"/>
            <a:ext cx="4423410" cy="58978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 built it to six figures. From scratch.</a:t>
            </a:r>
            <a:endParaRPr lang="en-US" sz="6200" dirty="0"/>
          </a:p>
        </p:txBody>
      </p:sp>
      <p:pic>
        <p:nvPicPr>
          <p:cNvPr id="5" name="Image 0" descr="/home/claude/webinar/deck-img/revenue-total-194430-compact.jpg">    </p:cNvPr>
          <p:cNvPicPr>
            <a:picLocks noChangeAspect="1"/>
          </p:cNvPicPr>
          <p:nvPr/>
        </p:nvPicPr>
        <p:blipFill>
          <a:blip r:embed="rId1"/>
          <a:stretch>
            <a:fillRect/>
          </a:stretch>
        </p:blipFill>
        <p:spPr>
          <a:xfrm>
            <a:off x="731520" y="2857122"/>
            <a:ext cx="10728655" cy="777996"/>
          </a:xfrm>
          <a:prstGeom prst="rect">
            <a:avLst/>
          </a:prstGeom>
        </p:spPr>
      </p:pic>
      <p:pic>
        <p:nvPicPr>
          <p:cNvPr id="6" name="Image 1" descr="/home/claude/webinar/deck-img/revenue-total-142475-compact.jpg">    </p:cNvPr>
          <p:cNvPicPr>
            <a:picLocks noChangeAspect="1"/>
          </p:cNvPicPr>
          <p:nvPr/>
        </p:nvPicPr>
        <p:blipFill>
          <a:blip r:embed="rId2"/>
          <a:stretch>
            <a:fillRect/>
          </a:stretch>
        </p:blipFill>
        <p:spPr>
          <a:xfrm>
            <a:off x="731520" y="4352465"/>
            <a:ext cx="10728655" cy="7133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100"/>
              </a:spcAft>
              <a:buNone/>
            </a:pPr>
            <a:r>
              <a:rPr lang="en-US" sz="3200" b="1" dirty="0">
                <a:solidFill>
                  <a:srgbClr val="2A201B"/>
                </a:solidFill>
                <a:latin typeface="Jost"/>
                <a:ea typeface="Jost"/>
                <a:cs typeface="Jost"/>
              </a:rPr>
              <a:t>And 2,863 hours in the chair in one year.</a:t>
            </a:r>
            <a:endParaRPr lang="en-US" sz="3200" dirty="0"/>
          </a:p>
          <a:p>
            <a:pPr algn="l" indent="0" marL="0">
              <a:spcAft>
                <a:spcPts val="1100"/>
              </a:spcAft>
              <a:buNone/>
            </a:pPr>
            <a:r>
              <a:rPr lang="en-US" sz="3200" dirty="0">
                <a:solidFill>
                  <a:srgbClr val="FBF7F1"/>
                </a:solidFill>
                <a:latin typeface="Jost"/>
                <a:ea typeface="Jost"/>
                <a:cs typeface="Jost"/>
              </a:rPr>
              <a:t>That's about 55 hours a week.</a:t>
            </a:r>
            <a:endParaRPr lang="en-US" sz="3200" dirty="0"/>
          </a:p>
        </p:txBody>
      </p:sp>
      <p:pic>
        <p:nvPicPr>
          <p:cNvPr id="5" name="Image 0" descr="/home/claude/webinar/deck-img/revenue-total-194430-compact.jpg">    </p:cNvPr>
          <p:cNvPicPr>
            <a:picLocks noChangeAspect="1"/>
          </p:cNvPicPr>
          <p:nvPr/>
        </p:nvPicPr>
        <p:blipFill>
          <a:blip r:embed="rId1"/>
          <a:stretch>
            <a:fillRect/>
          </a:stretch>
        </p:blipFill>
        <p:spPr>
          <a:xfrm>
            <a:off x="731520" y="2857122"/>
            <a:ext cx="10728655" cy="777996"/>
          </a:xfrm>
          <a:prstGeom prst="rect">
            <a:avLst/>
          </a:prstGeom>
        </p:spPr>
      </p:pic>
      <p:sp>
        <p:nvSpPr>
          <p:cNvPr id="6" name="Text 2"/>
          <p:cNvSpPr txBox="1"/>
          <p:nvPr/>
        </p:nvSpPr>
        <p:spPr>
          <a:xfrm>
            <a:off x="731520" y="5989320"/>
            <a:ext cx="10728655" cy="36576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2,863 hours ÷ 52 weeks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100"/>
              </a:spcAft>
              <a:buNone/>
            </a:pPr>
            <a:r>
              <a:rPr lang="en-US" sz="3200" b="1" dirty="0">
                <a:solidFill>
                  <a:srgbClr val="2A201B"/>
                </a:solidFill>
                <a:latin typeface="Jost"/>
                <a:ea typeface="Jost"/>
                <a:cs typeface="Jost"/>
              </a:rPr>
              <a:t>And 2,863 hours in the chair in one year.</a:t>
            </a:r>
            <a:endParaRPr lang="en-US" sz="3200" dirty="0"/>
          </a:p>
          <a:p>
            <a:pPr algn="l" indent="0" marL="0">
              <a:spcAft>
                <a:spcPts val="1100"/>
              </a:spcAft>
              <a:buNone/>
            </a:pPr>
            <a:r>
              <a:rPr lang="en-US" sz="3200" dirty="0">
                <a:solidFill>
                  <a:srgbClr val="2A201B"/>
                </a:solidFill>
                <a:latin typeface="Jost"/>
                <a:ea typeface="Jost"/>
                <a:cs typeface="Jost"/>
              </a:rPr>
              <a:t>That's about 55 hours a week.</a:t>
            </a:r>
            <a:endParaRPr lang="en-US" sz="3200" dirty="0"/>
          </a:p>
        </p:txBody>
      </p:sp>
      <p:pic>
        <p:nvPicPr>
          <p:cNvPr id="5" name="Image 0" descr="/home/claude/webinar/deck-img/revenue-total-194430-compact.jpg">    </p:cNvPr>
          <p:cNvPicPr>
            <a:picLocks noChangeAspect="1"/>
          </p:cNvPicPr>
          <p:nvPr/>
        </p:nvPicPr>
        <p:blipFill>
          <a:blip r:embed="rId1"/>
          <a:stretch>
            <a:fillRect/>
          </a:stretch>
        </p:blipFill>
        <p:spPr>
          <a:xfrm>
            <a:off x="731520" y="2857122"/>
            <a:ext cx="10728655" cy="777996"/>
          </a:xfrm>
          <a:prstGeom prst="rect">
            <a:avLst/>
          </a:prstGeom>
        </p:spPr>
      </p:pic>
      <p:sp>
        <p:nvSpPr>
          <p:cNvPr id="6" name="Text 2"/>
          <p:cNvSpPr txBox="1"/>
          <p:nvPr/>
        </p:nvSpPr>
        <p:spPr>
          <a:xfrm>
            <a:off x="731520" y="5989320"/>
            <a:ext cx="10728655" cy="36576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2,863 hours ÷ 52 weeks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was burnt out.</a:t>
            </a:r>
            <a:endParaRPr lang="en-US" sz="6900" dirty="0"/>
          </a:p>
          <a:p>
            <a:pPr algn="l" indent="0" marL="0">
              <a:spcAft>
                <a:spcPts val="2100"/>
              </a:spcAft>
              <a:buNone/>
            </a:pPr>
            <a:r>
              <a:rPr lang="en-US" sz="6000" dirty="0">
                <a:solidFill>
                  <a:srgbClr val="FBF7F1"/>
                </a:solidFill>
                <a:latin typeface="Jost"/>
                <a:ea typeface="Jost"/>
                <a:cs typeface="Jost"/>
              </a:rPr>
              <a:t>And I felt God calling me to leave.</a:t>
            </a:r>
            <a:endParaRPr lang="en-US" sz="6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was burnt out.</a:t>
            </a:r>
            <a:endParaRPr lang="en-US" sz="6900" dirty="0"/>
          </a:p>
          <a:p>
            <a:pPr algn="l" indent="0" marL="0">
              <a:spcAft>
                <a:spcPts val="2100"/>
              </a:spcAft>
              <a:buNone/>
            </a:pPr>
            <a:r>
              <a:rPr lang="en-US" sz="6000" dirty="0">
                <a:solidFill>
                  <a:srgbClr val="2A201B"/>
                </a:solidFill>
                <a:latin typeface="Jost"/>
                <a:ea typeface="Jost"/>
                <a:cs typeface="Jost"/>
              </a:rPr>
              <a:t>And I felt God calling me to leave.</a:t>
            </a:r>
            <a:endParaRPr lang="en-US" sz="6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March 2023.</a:t>
            </a:r>
            <a:endParaRPr lang="en-US" sz="6000" dirty="0"/>
          </a:p>
          <a:p>
            <a:pPr algn="l" indent="0" marL="0">
              <a:spcAft>
                <a:spcPts val="2100"/>
              </a:spcAft>
              <a:buNone/>
            </a:pPr>
            <a:r>
              <a:rPr lang="en-US" sz="6000" dirty="0">
                <a:solidFill>
                  <a:srgbClr val="2A201B"/>
                </a:solidFill>
                <a:latin typeface="Jost"/>
                <a:ea typeface="Jost"/>
                <a:cs typeface="Jost"/>
              </a:rPr>
              <a:t>I surrendered my life to Christ and walked away from all of it.</a:t>
            </a:r>
            <a:endParaRPr lang="en-US" sz="6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My supplies went into storage. Then to auction.</a:t>
            </a:r>
            <a:endParaRPr lang="en-US" sz="6900" dirty="0"/>
          </a:p>
          <a:p>
            <a:pPr algn="l" indent="0" marL="0">
              <a:spcAft>
                <a:spcPts val="2100"/>
              </a:spcAft>
              <a:buNone/>
            </a:pPr>
            <a:r>
              <a:rPr lang="en-US" sz="6000" dirty="0">
                <a:solidFill>
                  <a:srgbClr val="FBF7F1"/>
                </a:solidFill>
                <a:latin typeface="Jost"/>
                <a:ea typeface="Jost"/>
                <a:cs typeface="Jost"/>
              </a:rPr>
              <a:t>I deleted my Instagram. Every client. Gone.</a:t>
            </a:r>
            <a:endParaRPr lang="en-US" sz="6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My supplies went into storage. Then to auction.</a:t>
            </a:r>
            <a:endParaRPr lang="en-US" sz="6900" dirty="0"/>
          </a:p>
          <a:p>
            <a:pPr algn="l" indent="0" marL="0">
              <a:spcAft>
                <a:spcPts val="2100"/>
              </a:spcAft>
              <a:buNone/>
            </a:pPr>
            <a:r>
              <a:rPr lang="en-US" sz="6000" dirty="0">
                <a:solidFill>
                  <a:srgbClr val="2A201B"/>
                </a:solidFill>
                <a:latin typeface="Jost"/>
                <a:ea typeface="Jost"/>
                <a:cs typeface="Jost"/>
              </a:rPr>
              <a:t>I deleted my Instagram. Every client. Gone.</a:t>
            </a:r>
            <a:endParaRPr lang="en-US" sz="6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became a Realtor.</a:t>
            </a:r>
            <a:endParaRPr lang="en-US" sz="5500" dirty="0"/>
          </a:p>
          <a:p>
            <a:pPr algn="l" indent="0" marL="0">
              <a:spcAft>
                <a:spcPts val="1700"/>
              </a:spcAft>
              <a:buNone/>
            </a:pPr>
            <a:r>
              <a:rPr lang="en-US" sz="4800" dirty="0">
                <a:solidFill>
                  <a:srgbClr val="FBF7F1"/>
                </a:solidFill>
                <a:latin typeface="Jost"/>
                <a:ea typeface="Jost"/>
                <a:cs typeface="Jost"/>
              </a:rPr>
              <a:t>It wasn't for me.</a:t>
            </a:r>
            <a:endParaRPr lang="en-US" sz="4800" dirty="0"/>
          </a:p>
        </p:txBody>
      </p:sp>
      <p:pic>
        <p:nvPicPr>
          <p:cNvPr id="5" name="Image 0" descr="/home/claude/webinar/deck-img/realtor-card-blurred.jpg">    </p:cNvPr>
          <p:cNvPicPr>
            <a:picLocks noChangeAspect="1"/>
          </p:cNvPicPr>
          <p:nvPr/>
        </p:nvPicPr>
        <p:blipFill>
          <a:blip r:embed="rId1"/>
          <a:stretch>
            <a:fillRect/>
          </a:stretch>
        </p:blipFill>
        <p:spPr>
          <a:xfrm>
            <a:off x="7040807" y="457200"/>
            <a:ext cx="3870802" cy="58978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became a Realtor.</a:t>
            </a:r>
            <a:endParaRPr lang="en-US" sz="5500" dirty="0"/>
          </a:p>
          <a:p>
            <a:pPr algn="l" indent="0" marL="0">
              <a:spcAft>
                <a:spcPts val="1700"/>
              </a:spcAft>
              <a:buNone/>
            </a:pPr>
            <a:r>
              <a:rPr lang="en-US" sz="4800" dirty="0">
                <a:solidFill>
                  <a:srgbClr val="2A201B"/>
                </a:solidFill>
                <a:latin typeface="Jost"/>
                <a:ea typeface="Jost"/>
                <a:cs typeface="Jost"/>
              </a:rPr>
              <a:t>It wasn't for me.</a:t>
            </a:r>
            <a:endParaRPr lang="en-US" sz="4800" dirty="0"/>
          </a:p>
        </p:txBody>
      </p:sp>
      <p:pic>
        <p:nvPicPr>
          <p:cNvPr id="5" name="Image 0" descr="/home/claude/webinar/deck-img/realtor-card-blurred.jpg">    </p:cNvPr>
          <p:cNvPicPr>
            <a:picLocks noChangeAspect="1"/>
          </p:cNvPicPr>
          <p:nvPr/>
        </p:nvPicPr>
        <p:blipFill>
          <a:blip r:embed="rId1"/>
          <a:stretch>
            <a:fillRect/>
          </a:stretch>
        </p:blipFill>
        <p:spPr>
          <a:xfrm>
            <a:off x="7040807" y="457200"/>
            <a:ext cx="3870802" cy="58978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August 2024. I came back to lashes.</a:t>
            </a:r>
            <a:endParaRPr lang="en-US" sz="4800" dirty="0"/>
          </a:p>
          <a:p>
            <a:pPr algn="l" indent="0" marL="0">
              <a:spcAft>
                <a:spcPts val="1700"/>
              </a:spcAft>
              <a:buNone/>
            </a:pPr>
            <a:r>
              <a:rPr lang="en-US" sz="4800" dirty="0">
                <a:solidFill>
                  <a:srgbClr val="2A201B"/>
                </a:solidFill>
                <a:latin typeface="Jost"/>
                <a:ea typeface="Jost"/>
                <a:cs typeface="Jost"/>
              </a:rPr>
              <a:t>3 posts. 14 followers.</a:t>
            </a:r>
            <a:endParaRPr lang="en-US" sz="4800" dirty="0"/>
          </a:p>
        </p:txBody>
      </p:sp>
      <p:pic>
        <p:nvPicPr>
          <p:cNvPr id="5" name="Image 0" descr="/home/claude/webinar/deck-img/rieartistry-instagram-restart-14-followers.jpg">    </p:cNvPr>
          <p:cNvPicPr>
            <a:picLocks noChangeAspect="1"/>
          </p:cNvPicPr>
          <p:nvPr/>
        </p:nvPicPr>
        <p:blipFill>
          <a:blip r:embed="rId1"/>
          <a:stretch>
            <a:fillRect/>
          </a:stretch>
        </p:blipFill>
        <p:spPr>
          <a:xfrm>
            <a:off x="7612993" y="457200"/>
            <a:ext cx="2726429" cy="58978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wasn't the "it girl" anymore.</a:t>
            </a:r>
            <a:endParaRPr lang="en-US" sz="5500" dirty="0"/>
          </a:p>
          <a:p>
            <a:pPr algn="l" indent="0" marL="0">
              <a:spcAft>
                <a:spcPts val="1700"/>
              </a:spcAft>
              <a:buNone/>
            </a:pPr>
            <a:r>
              <a:rPr lang="en-US" sz="4800" dirty="0">
                <a:solidFill>
                  <a:srgbClr val="FBF7F1"/>
                </a:solidFill>
                <a:latin typeface="Jost"/>
                <a:ea typeface="Jost"/>
                <a:cs typeface="Jost"/>
              </a:rPr>
              <a:t>Everything had changed. My methods felt outdated.</a:t>
            </a:r>
            <a:endParaRPr lang="en-US" sz="4800" dirty="0"/>
          </a:p>
          <a:p>
            <a:pPr algn="l" indent="0" marL="0">
              <a:spcAft>
                <a:spcPts val="1700"/>
              </a:spcAft>
              <a:buNone/>
            </a:pPr>
            <a:r>
              <a:rPr lang="en-US" sz="4800" dirty="0">
                <a:solidFill>
                  <a:srgbClr val="FBF7F1"/>
                </a:solidFill>
                <a:latin typeface="Jost"/>
                <a:ea typeface="Jost"/>
                <a:cs typeface="Jost"/>
              </a:rPr>
              <a:t>I spent months and thousands of dollars on trainings and mentorships.</a:t>
            </a:r>
            <a:endParaRPr lang="en-US" sz="4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wasn't the "it girl" anymore.</a:t>
            </a:r>
            <a:endParaRPr lang="en-US" sz="5500" dirty="0"/>
          </a:p>
          <a:p>
            <a:pPr algn="l" indent="0" marL="0">
              <a:spcAft>
                <a:spcPts val="1700"/>
              </a:spcAft>
              <a:buNone/>
            </a:pPr>
            <a:r>
              <a:rPr lang="en-US" sz="4800" dirty="0">
                <a:solidFill>
                  <a:srgbClr val="2A201B"/>
                </a:solidFill>
                <a:latin typeface="Jost"/>
                <a:ea typeface="Jost"/>
                <a:cs typeface="Jost"/>
              </a:rPr>
              <a:t>Everything had changed. My methods felt outdated.</a:t>
            </a:r>
            <a:endParaRPr lang="en-US" sz="4800" dirty="0"/>
          </a:p>
          <a:p>
            <a:pPr algn="l" indent="0" marL="0">
              <a:spcAft>
                <a:spcPts val="1700"/>
              </a:spcAft>
              <a:buNone/>
            </a:pPr>
            <a:r>
              <a:rPr lang="en-US" sz="4800" dirty="0">
                <a:solidFill>
                  <a:srgbClr val="FBF7F1"/>
                </a:solidFill>
                <a:latin typeface="Jost"/>
                <a:ea typeface="Jost"/>
                <a:cs typeface="Jost"/>
              </a:rPr>
              <a:t>I spent months and thousands of dollars on trainings and mentorships.</a:t>
            </a: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wasn't the "it girl" anymore.</a:t>
            </a:r>
            <a:endParaRPr lang="en-US" sz="5500" dirty="0"/>
          </a:p>
          <a:p>
            <a:pPr algn="l" indent="0" marL="0">
              <a:spcAft>
                <a:spcPts val="1700"/>
              </a:spcAft>
              <a:buNone/>
            </a:pPr>
            <a:r>
              <a:rPr lang="en-US" sz="4800" dirty="0">
                <a:solidFill>
                  <a:srgbClr val="2A201B"/>
                </a:solidFill>
                <a:latin typeface="Jost"/>
                <a:ea typeface="Jost"/>
                <a:cs typeface="Jost"/>
              </a:rPr>
              <a:t>Everything had changed. My methods felt outdated.</a:t>
            </a:r>
            <a:endParaRPr lang="en-US" sz="4800" dirty="0"/>
          </a:p>
          <a:p>
            <a:pPr algn="l" indent="0" marL="0">
              <a:spcAft>
                <a:spcPts val="1700"/>
              </a:spcAft>
              <a:buNone/>
            </a:pPr>
            <a:r>
              <a:rPr lang="en-US" sz="4800" dirty="0">
                <a:solidFill>
                  <a:srgbClr val="2A201B"/>
                </a:solidFill>
                <a:latin typeface="Jost"/>
                <a:ea typeface="Jost"/>
                <a:cs typeface="Jost"/>
              </a:rPr>
              <a:t>I spent months and thousands of dollars on trainings and mentorships.</a:t>
            </a:r>
            <a:endParaRPr lang="en-US" sz="4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Then one moment changed everything.</a:t>
            </a:r>
            <a:endParaRPr lang="en-US" sz="6900" dirty="0"/>
          </a:p>
          <a:p>
            <a:pPr algn="l" indent="0" marL="0">
              <a:spcAft>
                <a:spcPts val="2100"/>
              </a:spcAft>
              <a:buNone/>
            </a:pPr>
            <a:r>
              <a:rPr lang="en-US" sz="6000" dirty="0">
                <a:solidFill>
                  <a:srgbClr val="FBF7F1"/>
                </a:solidFill>
                <a:latin typeface="Jost"/>
                <a:ea typeface="Jost"/>
                <a:cs typeface="Jost"/>
              </a:rPr>
              <a:t>I'll tell you about it later.</a:t>
            </a:r>
            <a:endParaRPr lang="en-US" sz="6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Then one moment changed everything.</a:t>
            </a:r>
            <a:endParaRPr lang="en-US" sz="6900" dirty="0"/>
          </a:p>
          <a:p>
            <a:pPr algn="l" indent="0" marL="0">
              <a:spcAft>
                <a:spcPts val="2100"/>
              </a:spcAft>
              <a:buNone/>
            </a:pPr>
            <a:r>
              <a:rPr lang="en-US" sz="6000" dirty="0">
                <a:solidFill>
                  <a:srgbClr val="2A201B"/>
                </a:solidFill>
                <a:latin typeface="Jost"/>
                <a:ea typeface="Jost"/>
                <a:cs typeface="Jost"/>
              </a:rPr>
              <a:t>I'll tell you about it later.</a:t>
            </a:r>
            <a:endParaRPr lang="en-US" sz="6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I've built a six-figure beauty business from scratch.</a:t>
            </a:r>
            <a:endParaRPr lang="en-US" sz="6900" dirty="0"/>
          </a:p>
          <a:p>
            <a:pPr algn="l" indent="0" marL="0">
              <a:spcAft>
                <a:spcPts val="2100"/>
              </a:spcAft>
              <a:buNone/>
            </a:pPr>
            <a:r>
              <a:rPr lang="en-US" sz="6900" b="1" dirty="0">
                <a:solidFill>
                  <a:srgbClr val="FBF7F1"/>
                </a:solidFill>
                <a:latin typeface="Cormorant Garamond"/>
                <a:ea typeface="Cormorant Garamond"/>
                <a:cs typeface="Cormorant Garamond"/>
              </a:rPr>
              <a:t>Twice.</a:t>
            </a:r>
            <a:endParaRPr lang="en-US" sz="6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I've built a six-figure beauty business from scratch.</a:t>
            </a:r>
            <a:endParaRPr lang="en-US" sz="6900" dirty="0"/>
          </a:p>
          <a:p>
            <a:pPr algn="l" indent="0" marL="0">
              <a:spcAft>
                <a:spcPts val="2100"/>
              </a:spcAft>
              <a:buNone/>
            </a:pPr>
            <a:r>
              <a:rPr lang="en-US" sz="6900" b="1" dirty="0">
                <a:solidFill>
                  <a:srgbClr val="AD5A6E"/>
                </a:solidFill>
                <a:latin typeface="Cormorant Garamond"/>
                <a:ea typeface="Cormorant Garamond"/>
                <a:cs typeface="Cormorant Garamond"/>
              </a:rPr>
              <a:t>Twice.</a:t>
            </a:r>
            <a:endParaRPr lang="en-US" sz="6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Today: Rie Artistry.</a:t>
            </a:r>
            <a:endParaRPr lang="en-US" sz="5500" dirty="0"/>
          </a:p>
        </p:txBody>
      </p:sp>
      <p:pic>
        <p:nvPicPr>
          <p:cNvPr id="5" name="Image 0" descr="/home/claude/webinar/deck-img/rieartistry-instagram-now.jpg">    </p:cNvPr>
          <p:cNvPicPr>
            <a:picLocks noChangeAspect="1"/>
          </p:cNvPicPr>
          <p:nvPr/>
        </p:nvPicPr>
        <p:blipFill>
          <a:blip r:embed="rId1"/>
          <a:stretch>
            <a:fillRect/>
          </a:stretch>
        </p:blipFill>
        <p:spPr>
          <a:xfrm>
            <a:off x="7618355" y="457200"/>
            <a:ext cx="2715706" cy="58978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923 appointments last year.</a:t>
            </a:r>
            <a:endParaRPr lang="en-US" sz="5400" dirty="0"/>
          </a:p>
        </p:txBody>
      </p:sp>
      <p:pic>
        <p:nvPicPr>
          <p:cNvPr id="5" name="Image 0" descr="/home/claude/webinar/deck-img/acuity-2025-923-appointments-compact.jpg">    </p:cNvPr>
          <p:cNvPicPr>
            <a:picLocks noChangeAspect="1"/>
          </p:cNvPicPr>
          <p:nvPr/>
        </p:nvPicPr>
        <p:blipFill>
          <a:blip r:embed="rId1"/>
          <a:stretch>
            <a:fillRect/>
          </a:stretch>
        </p:blipFill>
        <p:spPr>
          <a:xfrm>
            <a:off x="3269013" y="2651760"/>
            <a:ext cx="5653668" cy="11887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Fully booked. So booked I had to limit my calendar.</a:t>
            </a:r>
            <a:endParaRPr lang="en-US" sz="5500" dirty="0"/>
          </a:p>
        </p:txBody>
      </p:sp>
      <p:pic>
        <p:nvPicPr>
          <p:cNvPr id="5" name="Image 0" descr="/home/claude/webinar/deck-img/booked-calendar.jpg">    </p:cNvPr>
          <p:cNvPicPr>
            <a:picLocks noChangeAspect="1"/>
          </p:cNvPicPr>
          <p:nvPr/>
        </p:nvPicPr>
        <p:blipFill>
          <a:blip r:embed="rId1"/>
          <a:stretch>
            <a:fillRect/>
          </a:stretch>
        </p:blipFill>
        <p:spPr>
          <a:xfrm>
            <a:off x="6617056" y="457200"/>
            <a:ext cx="4718304" cy="58978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a:t>
            </a:r>
            <a:endParaRPr lang="en-US" sz="1000" dirty="0"/>
          </a:p>
        </p:txBody>
      </p:sp>
      <p:sp>
        <p:nvSpPr>
          <p:cNvPr id="4" name="Text 1"/>
          <p:cNvSpPr txBox="1"/>
          <p:nvPr/>
        </p:nvSpPr>
        <p:spPr>
          <a:xfrm>
            <a:off x="731520" y="640080"/>
            <a:ext cx="4480560" cy="571500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11 clients pay me </a:t>
            </a:r>
            <a:pPr algn="l" indent="0" marL="0">
              <a:spcAft>
                <a:spcPts val="1700"/>
              </a:spcAft>
              <a:buNone/>
            </a:pPr>
            <a:r>
              <a:rPr lang="en-US" sz="4800" b="1" dirty="0">
                <a:solidFill>
                  <a:srgbClr val="AD5A6E"/>
                </a:solidFill>
                <a:latin typeface="Jost"/>
                <a:ea typeface="Jost"/>
                <a:cs typeface="Jost"/>
              </a:rPr>
              <a:t>$190</a:t>
            </a:r>
            <a:pPr algn="l" indent="0" marL="0">
              <a:spcAft>
                <a:spcPts val="1700"/>
              </a:spcAft>
              <a:buNone/>
            </a:pPr>
            <a:r>
              <a:rPr lang="en-US" sz="4800" b="1" dirty="0">
                <a:solidFill>
                  <a:srgbClr val="2A201B"/>
                </a:solidFill>
                <a:latin typeface="Jost"/>
                <a:ea typeface="Jost"/>
                <a:cs typeface="Jost"/>
              </a:rPr>
              <a:t> every month.</a:t>
            </a:r>
            <a:endParaRPr lang="en-US" sz="4800" dirty="0"/>
          </a:p>
          <a:p>
            <a:pPr algn="l" indent="0" marL="0">
              <a:spcAft>
                <a:spcPts val="1700"/>
              </a:spcAft>
              <a:buNone/>
            </a:pPr>
            <a:r>
              <a:rPr lang="en-US" sz="4800" dirty="0">
                <a:solidFill>
                  <a:srgbClr val="2A201B"/>
                </a:solidFill>
                <a:latin typeface="Jost"/>
                <a:ea typeface="Jost"/>
                <a:cs typeface="Jost"/>
              </a:rPr>
              <a:t>Before I open my doors.</a:t>
            </a:r>
            <a:endParaRPr lang="en-US" sz="4800" dirty="0"/>
          </a:p>
        </p:txBody>
      </p:sp>
      <p:pic>
        <p:nvPicPr>
          <p:cNvPr id="5" name="Image 0" descr="/home/claude/webinar/deck-img/membership-payment-1.jpg">    </p:cNvPr>
          <p:cNvPicPr>
            <a:picLocks noChangeAspect="1"/>
          </p:cNvPicPr>
          <p:nvPr/>
        </p:nvPicPr>
        <p:blipFill>
          <a:blip r:embed="rId1"/>
          <a:stretch>
            <a:fillRect/>
          </a:stretch>
        </p:blipFill>
        <p:spPr>
          <a:xfrm>
            <a:off x="5669280" y="1619727"/>
            <a:ext cx="2849728" cy="3572826"/>
          </a:xfrm>
          <a:prstGeom prst="rect">
            <a:avLst/>
          </a:prstGeom>
        </p:spPr>
      </p:pic>
      <p:pic>
        <p:nvPicPr>
          <p:cNvPr id="6" name="Image 1" descr="/home/claude/webinar/deck-img/membership-payment-2.jpg">    </p:cNvPr>
          <p:cNvPicPr>
            <a:picLocks noChangeAspect="1"/>
          </p:cNvPicPr>
          <p:nvPr/>
        </p:nvPicPr>
        <p:blipFill>
          <a:blip r:embed="rId2"/>
          <a:stretch>
            <a:fillRect/>
          </a:stretch>
        </p:blipFill>
        <p:spPr>
          <a:xfrm>
            <a:off x="8793328" y="1619727"/>
            <a:ext cx="2849728" cy="357282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26</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And now other pros text me this.</a:t>
            </a:r>
            <a:endParaRPr lang="en-US" sz="5500" dirty="0"/>
          </a:p>
        </p:txBody>
      </p:sp>
      <p:pic>
        <p:nvPicPr>
          <p:cNvPr id="5" name="Image 0" descr="/home/claude/webinar/deck-img/pro-text-whats-the-blueprint.jpg">    </p:cNvPr>
          <p:cNvPicPr>
            <a:picLocks noChangeAspect="1"/>
          </p:cNvPicPr>
          <p:nvPr/>
        </p:nvPicPr>
        <p:blipFill>
          <a:blip r:embed="rId1"/>
          <a:stretch>
            <a:fillRect/>
          </a:stretch>
        </p:blipFill>
        <p:spPr>
          <a:xfrm>
            <a:off x="6309360" y="2094782"/>
            <a:ext cx="5333695" cy="262271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27</a:t>
            </a:r>
            <a:endParaRPr lang="en-US" sz="1000" dirty="0"/>
          </a:p>
        </p:txBody>
      </p:sp>
      <p:sp>
        <p:nvSpPr>
          <p:cNvPr id="4" name="Text 1"/>
          <p:cNvSpPr txBox="1"/>
          <p:nvPr/>
        </p:nvSpPr>
        <p:spPr>
          <a:xfrm>
            <a:off x="731520" y="731520"/>
            <a:ext cx="5669280" cy="48920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"If girls knew how booked and busy you was, they'd be running to pay you for mentorship"</a:t>
            </a:r>
            <a:endParaRPr lang="en-US" sz="3600" dirty="0"/>
          </a:p>
        </p:txBody>
      </p:sp>
      <p:sp>
        <p:nvSpPr>
          <p:cNvPr id="5" name="Text 2"/>
          <p:cNvSpPr txBox="1"/>
          <p:nvPr/>
        </p:nvSpPr>
        <p:spPr>
          <a:xfrm>
            <a:off x="731520" y="58064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text I got</a:t>
            </a:r>
            <a:endParaRPr lang="en-US" sz="2200" dirty="0"/>
          </a:p>
        </p:txBody>
      </p:sp>
      <p:pic>
        <p:nvPicPr>
          <p:cNvPr id="6" name="Image 0" descr="/home/claude/webinar/deck-img/testimonial-4.jpg">    </p:cNvPr>
          <p:cNvPicPr>
            <a:picLocks noChangeAspect="1"/>
          </p:cNvPicPr>
          <p:nvPr/>
        </p:nvPicPr>
        <p:blipFill>
          <a:blip r:embed="rId1"/>
          <a:stretch>
            <a:fillRect/>
          </a:stretch>
        </p:blipFill>
        <p:spPr>
          <a:xfrm>
            <a:off x="6766560" y="2738628"/>
            <a:ext cx="4754880" cy="1426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Tonight's goal:</a:t>
            </a:r>
            <a:endParaRPr lang="en-US" sz="6900" dirty="0"/>
          </a:p>
          <a:p>
            <a:pPr algn="l" indent="0" marL="0">
              <a:spcAft>
                <a:spcPts val="2100"/>
              </a:spcAft>
              <a:buNone/>
            </a:pPr>
            <a:r>
              <a:rPr lang="en-US" sz="6000" dirty="0">
                <a:solidFill>
                  <a:srgbClr val="2A201B"/>
                </a:solidFill>
                <a:latin typeface="Jost"/>
                <a:ea typeface="Jost"/>
                <a:cs typeface="Jost"/>
              </a:rPr>
              <a:t>Show you the easiest way to get booked by the right clients, without adding more hours in the chair.</a:t>
            </a:r>
            <a:endParaRPr lang="en-US" sz="6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FBF7F1"/>
                </a:solidFill>
                <a:latin typeface="Jost"/>
                <a:ea typeface="Jost"/>
                <a:cs typeface="Jost"/>
              </a:rPr>
              <a:t>Brow artist</a:t>
            </a:r>
            <a:endParaRPr lang="en-US" sz="3200" dirty="0"/>
          </a:p>
          <a:p>
            <a:pPr algn="l" indent="0" marL="0">
              <a:spcAft>
                <a:spcPts val="1100"/>
              </a:spcAft>
              <a:buNone/>
            </a:pPr>
            <a:r>
              <a:rPr lang="en-US" sz="3200" dirty="0">
                <a:solidFill>
                  <a:srgbClr val="FBF7F1"/>
                </a:solidFill>
                <a:latin typeface="Jost"/>
                <a:ea typeface="Jost"/>
                <a:cs typeface="Jost"/>
              </a:rPr>
              <a:t>Hairstylist</a:t>
            </a:r>
            <a:endParaRPr lang="en-US" sz="3200" dirty="0"/>
          </a:p>
          <a:p>
            <a:pPr algn="l" indent="0" marL="0">
              <a:spcAft>
                <a:spcPts val="1100"/>
              </a:spcAft>
              <a:buNone/>
            </a:pPr>
            <a:r>
              <a:rPr lang="en-US" sz="3200" dirty="0">
                <a:solidFill>
                  <a:srgbClr val="FBF7F1"/>
                </a:solidFill>
                <a:latin typeface="Jost"/>
                <a:ea typeface="Jost"/>
                <a:cs typeface="Jost"/>
              </a:rPr>
              <a:t>Makeup artist</a:t>
            </a:r>
            <a:endParaRPr lang="en-US" sz="3200" dirty="0"/>
          </a:p>
          <a:p>
            <a:pPr algn="l" indent="0" marL="0">
              <a:spcAft>
                <a:spcPts val="1100"/>
              </a:spcAft>
              <a:buNone/>
            </a:pPr>
            <a:r>
              <a:rPr lang="en-US" sz="3200" dirty="0">
                <a:solidFill>
                  <a:srgbClr val="FBF7F1"/>
                </a:solidFill>
                <a:latin typeface="Jost"/>
                <a:ea typeface="Jost"/>
                <a:cs typeface="Jost"/>
              </a:rPr>
              <a:t>Nail tech</a:t>
            </a:r>
            <a:endParaRPr lang="en-US" sz="3200" dirty="0"/>
          </a:p>
          <a:p>
            <a:pPr algn="l" indent="0" marL="0">
              <a:spcAft>
                <a:spcPts val="1100"/>
              </a:spcAft>
              <a:buNone/>
            </a:pPr>
            <a:r>
              <a:rPr lang="en-US" sz="3200" dirty="0">
                <a:solidFill>
                  <a:srgbClr val="FBF7F1"/>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FBF7F1"/>
                </a:solidFill>
                <a:latin typeface="Jost"/>
                <a:ea typeface="Jost"/>
                <a:cs typeface="Jost"/>
              </a:rPr>
              <a:t>Hairstylist</a:t>
            </a:r>
            <a:endParaRPr lang="en-US" sz="3200" dirty="0"/>
          </a:p>
          <a:p>
            <a:pPr algn="l" indent="0" marL="0">
              <a:spcAft>
                <a:spcPts val="1100"/>
              </a:spcAft>
              <a:buNone/>
            </a:pPr>
            <a:r>
              <a:rPr lang="en-US" sz="3200" dirty="0">
                <a:solidFill>
                  <a:srgbClr val="FBF7F1"/>
                </a:solidFill>
                <a:latin typeface="Jost"/>
                <a:ea typeface="Jost"/>
                <a:cs typeface="Jost"/>
              </a:rPr>
              <a:t>Makeup artist</a:t>
            </a:r>
            <a:endParaRPr lang="en-US" sz="3200" dirty="0"/>
          </a:p>
          <a:p>
            <a:pPr algn="l" indent="0" marL="0">
              <a:spcAft>
                <a:spcPts val="1100"/>
              </a:spcAft>
              <a:buNone/>
            </a:pPr>
            <a:r>
              <a:rPr lang="en-US" sz="3200" dirty="0">
                <a:solidFill>
                  <a:srgbClr val="FBF7F1"/>
                </a:solidFill>
                <a:latin typeface="Jost"/>
                <a:ea typeface="Jost"/>
                <a:cs typeface="Jost"/>
              </a:rPr>
              <a:t>Nail tech</a:t>
            </a:r>
            <a:endParaRPr lang="en-US" sz="3200" dirty="0"/>
          </a:p>
          <a:p>
            <a:pPr algn="l" indent="0" marL="0">
              <a:spcAft>
                <a:spcPts val="1100"/>
              </a:spcAft>
              <a:buNone/>
            </a:pPr>
            <a:r>
              <a:rPr lang="en-US" sz="3200" dirty="0">
                <a:solidFill>
                  <a:srgbClr val="FBF7F1"/>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FBF7F1"/>
                </a:solidFill>
                <a:latin typeface="Jost"/>
                <a:ea typeface="Jost"/>
                <a:cs typeface="Jost"/>
              </a:rPr>
              <a:t>Makeup artist</a:t>
            </a:r>
            <a:endParaRPr lang="en-US" sz="3200" dirty="0"/>
          </a:p>
          <a:p>
            <a:pPr algn="l" indent="0" marL="0">
              <a:spcAft>
                <a:spcPts val="1100"/>
              </a:spcAft>
              <a:buNone/>
            </a:pPr>
            <a:r>
              <a:rPr lang="en-US" sz="3200" dirty="0">
                <a:solidFill>
                  <a:srgbClr val="FBF7F1"/>
                </a:solidFill>
                <a:latin typeface="Jost"/>
                <a:ea typeface="Jost"/>
                <a:cs typeface="Jost"/>
              </a:rPr>
              <a:t>Nail tech</a:t>
            </a:r>
            <a:endParaRPr lang="en-US" sz="3200" dirty="0"/>
          </a:p>
          <a:p>
            <a:pPr algn="l" indent="0" marL="0">
              <a:spcAft>
                <a:spcPts val="1100"/>
              </a:spcAft>
              <a:buNone/>
            </a:pPr>
            <a:r>
              <a:rPr lang="en-US" sz="3200" dirty="0">
                <a:solidFill>
                  <a:srgbClr val="FBF7F1"/>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2A201B"/>
                </a:solidFill>
                <a:latin typeface="Jost"/>
                <a:ea typeface="Jost"/>
                <a:cs typeface="Jost"/>
              </a:rPr>
              <a:t>Makeup artist</a:t>
            </a:r>
            <a:endParaRPr lang="en-US" sz="3200" dirty="0"/>
          </a:p>
          <a:p>
            <a:pPr algn="l" indent="0" marL="0">
              <a:spcAft>
                <a:spcPts val="1100"/>
              </a:spcAft>
              <a:buNone/>
            </a:pPr>
            <a:r>
              <a:rPr lang="en-US" sz="3200" dirty="0">
                <a:solidFill>
                  <a:srgbClr val="FBF7F1"/>
                </a:solidFill>
                <a:latin typeface="Jost"/>
                <a:ea typeface="Jost"/>
                <a:cs typeface="Jost"/>
              </a:rPr>
              <a:t>Nail tech</a:t>
            </a:r>
            <a:endParaRPr lang="en-US" sz="3200" dirty="0"/>
          </a:p>
          <a:p>
            <a:pPr algn="l" indent="0" marL="0">
              <a:spcAft>
                <a:spcPts val="1100"/>
              </a:spcAft>
              <a:buNone/>
            </a:pPr>
            <a:r>
              <a:rPr lang="en-US" sz="3200" dirty="0">
                <a:solidFill>
                  <a:srgbClr val="FBF7F1"/>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2A201B"/>
                </a:solidFill>
                <a:latin typeface="Jost"/>
                <a:ea typeface="Jost"/>
                <a:cs typeface="Jost"/>
              </a:rPr>
              <a:t>Makeup artist</a:t>
            </a:r>
            <a:endParaRPr lang="en-US" sz="3200" dirty="0"/>
          </a:p>
          <a:p>
            <a:pPr algn="l" indent="0" marL="0">
              <a:spcAft>
                <a:spcPts val="1100"/>
              </a:spcAft>
              <a:buNone/>
            </a:pPr>
            <a:r>
              <a:rPr lang="en-US" sz="3200" dirty="0">
                <a:solidFill>
                  <a:srgbClr val="2A201B"/>
                </a:solidFill>
                <a:latin typeface="Jost"/>
                <a:ea typeface="Jost"/>
                <a:cs typeface="Jost"/>
              </a:rPr>
              <a:t>Nail tech</a:t>
            </a:r>
            <a:endParaRPr lang="en-US" sz="3200" dirty="0"/>
          </a:p>
          <a:p>
            <a:pPr algn="l" indent="0" marL="0">
              <a:spcAft>
                <a:spcPts val="1100"/>
              </a:spcAft>
              <a:buNone/>
            </a:pPr>
            <a:r>
              <a:rPr lang="en-US" sz="3200" dirty="0">
                <a:solidFill>
                  <a:srgbClr val="FBF7F1"/>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2A201B"/>
                </a:solidFill>
                <a:latin typeface="Jost"/>
                <a:ea typeface="Jost"/>
                <a:cs typeface="Jost"/>
              </a:rPr>
              <a:t>Makeup artist</a:t>
            </a:r>
            <a:endParaRPr lang="en-US" sz="3200" dirty="0"/>
          </a:p>
          <a:p>
            <a:pPr algn="l" indent="0" marL="0">
              <a:spcAft>
                <a:spcPts val="1100"/>
              </a:spcAft>
              <a:buNone/>
            </a:pPr>
            <a:r>
              <a:rPr lang="en-US" sz="3200" dirty="0">
                <a:solidFill>
                  <a:srgbClr val="2A201B"/>
                </a:solidFill>
                <a:latin typeface="Jost"/>
                <a:ea typeface="Jost"/>
                <a:cs typeface="Jost"/>
              </a:rPr>
              <a:t>Nail tech</a:t>
            </a:r>
            <a:endParaRPr lang="en-US" sz="3200" dirty="0"/>
          </a:p>
          <a:p>
            <a:pPr algn="l" indent="0" marL="0">
              <a:spcAft>
                <a:spcPts val="1100"/>
              </a:spcAft>
              <a:buNone/>
            </a:pPr>
            <a:r>
              <a:rPr lang="en-US" sz="3200" dirty="0">
                <a:solidFill>
                  <a:srgbClr val="2A201B"/>
                </a:solidFill>
                <a:latin typeface="Jost"/>
                <a:ea typeface="Jost"/>
                <a:cs typeface="Jost"/>
              </a:rPr>
              <a:t>Esthetician</a:t>
            </a:r>
            <a:endParaRPr lang="en-US" sz="3200" dirty="0"/>
          </a:p>
          <a:p>
            <a:pPr algn="l" indent="0" marL="0">
              <a:spcAft>
                <a:spcPts val="1100"/>
              </a:spcAft>
              <a:buNone/>
            </a:pPr>
            <a:r>
              <a:rPr lang="en-US" sz="3200" dirty="0">
                <a:solidFill>
                  <a:srgbClr val="FBF7F1"/>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2A201B"/>
                </a:solidFill>
                <a:latin typeface="Jost"/>
                <a:ea typeface="Jost"/>
                <a:cs typeface="Jost"/>
              </a:rPr>
              <a:t>Makeup artist</a:t>
            </a:r>
            <a:endParaRPr lang="en-US" sz="3200" dirty="0"/>
          </a:p>
          <a:p>
            <a:pPr algn="l" indent="0" marL="0">
              <a:spcAft>
                <a:spcPts val="1100"/>
              </a:spcAft>
              <a:buNone/>
            </a:pPr>
            <a:r>
              <a:rPr lang="en-US" sz="3200" dirty="0">
                <a:solidFill>
                  <a:srgbClr val="2A201B"/>
                </a:solidFill>
                <a:latin typeface="Jost"/>
                <a:ea typeface="Jost"/>
                <a:cs typeface="Jost"/>
              </a:rPr>
              <a:t>Nail tech</a:t>
            </a:r>
            <a:endParaRPr lang="en-US" sz="3200" dirty="0"/>
          </a:p>
          <a:p>
            <a:pPr algn="l" indent="0" marL="0">
              <a:spcAft>
                <a:spcPts val="1100"/>
              </a:spcAft>
              <a:buNone/>
            </a:pPr>
            <a:r>
              <a:rPr lang="en-US" sz="3200" dirty="0">
                <a:solidFill>
                  <a:srgbClr val="2A201B"/>
                </a:solidFill>
                <a:latin typeface="Jost"/>
                <a:ea typeface="Jost"/>
                <a:cs typeface="Jost"/>
              </a:rPr>
              <a:t>Esthetician</a:t>
            </a:r>
            <a:endParaRPr lang="en-US" sz="3200" dirty="0"/>
          </a:p>
          <a:p>
            <a:pPr algn="l" indent="0" marL="0">
              <a:spcAft>
                <a:spcPts val="1100"/>
              </a:spcAft>
              <a:buNone/>
            </a:pPr>
            <a:r>
              <a:rPr lang="en-US" sz="3200" dirty="0">
                <a:solidFill>
                  <a:srgbClr val="2A201B"/>
                </a:solidFill>
                <a:latin typeface="Jost"/>
                <a:ea typeface="Jost"/>
                <a:cs typeface="Jost"/>
              </a:rPr>
              <a:t>PMU artist</a:t>
            </a:r>
            <a:endParaRPr lang="en-US" sz="3200" dirty="0"/>
          </a:p>
          <a:p>
            <a:pPr algn="l" indent="0" marL="0">
              <a:spcAft>
                <a:spcPts val="1100"/>
              </a:spcAft>
              <a:buNone/>
            </a:pPr>
            <a:r>
              <a:rPr lang="en-US" sz="3200" dirty="0">
                <a:solidFill>
                  <a:srgbClr val="FBF7F1"/>
                </a:solidFill>
                <a:latin typeface="Jost"/>
                <a:ea typeface="Jost"/>
                <a:cs typeface="Jost"/>
              </a:rPr>
              <a:t>And you already have clients. Even a few.</a:t>
            </a:r>
            <a:endParaRPr lang="en-US" sz="3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This is for you if you're a:</a:t>
            </a:r>
            <a:endParaRPr lang="en-US" sz="3700" dirty="0"/>
          </a:p>
          <a:p>
            <a:pPr algn="l" indent="0" marL="0">
              <a:spcAft>
                <a:spcPts val="1100"/>
              </a:spcAft>
              <a:buNone/>
            </a:pPr>
            <a:r>
              <a:rPr lang="en-US" sz="3200" dirty="0">
                <a:solidFill>
                  <a:srgbClr val="2A201B"/>
                </a:solidFill>
                <a:latin typeface="Jost"/>
                <a:ea typeface="Jost"/>
                <a:cs typeface="Jost"/>
              </a:rPr>
              <a:t>Lash artist</a:t>
            </a:r>
            <a:endParaRPr lang="en-US" sz="3200" dirty="0"/>
          </a:p>
          <a:p>
            <a:pPr algn="l" indent="0" marL="0">
              <a:spcAft>
                <a:spcPts val="1100"/>
              </a:spcAft>
              <a:buNone/>
            </a:pPr>
            <a:r>
              <a:rPr lang="en-US" sz="3200" dirty="0">
                <a:solidFill>
                  <a:srgbClr val="2A201B"/>
                </a:solidFill>
                <a:latin typeface="Jost"/>
                <a:ea typeface="Jost"/>
                <a:cs typeface="Jost"/>
              </a:rPr>
              <a:t>Brow artist</a:t>
            </a:r>
            <a:endParaRPr lang="en-US" sz="3200" dirty="0"/>
          </a:p>
          <a:p>
            <a:pPr algn="l" indent="0" marL="0">
              <a:spcAft>
                <a:spcPts val="1100"/>
              </a:spcAft>
              <a:buNone/>
            </a:pPr>
            <a:r>
              <a:rPr lang="en-US" sz="3200" dirty="0">
                <a:solidFill>
                  <a:srgbClr val="2A201B"/>
                </a:solidFill>
                <a:latin typeface="Jost"/>
                <a:ea typeface="Jost"/>
                <a:cs typeface="Jost"/>
              </a:rPr>
              <a:t>Hairstylist</a:t>
            </a:r>
            <a:endParaRPr lang="en-US" sz="3200" dirty="0"/>
          </a:p>
          <a:p>
            <a:pPr algn="l" indent="0" marL="0">
              <a:spcAft>
                <a:spcPts val="1100"/>
              </a:spcAft>
              <a:buNone/>
            </a:pPr>
            <a:r>
              <a:rPr lang="en-US" sz="3200" dirty="0">
                <a:solidFill>
                  <a:srgbClr val="2A201B"/>
                </a:solidFill>
                <a:latin typeface="Jost"/>
                <a:ea typeface="Jost"/>
                <a:cs typeface="Jost"/>
              </a:rPr>
              <a:t>Makeup artist</a:t>
            </a:r>
            <a:endParaRPr lang="en-US" sz="3200" dirty="0"/>
          </a:p>
          <a:p>
            <a:pPr algn="l" indent="0" marL="0">
              <a:spcAft>
                <a:spcPts val="1100"/>
              </a:spcAft>
              <a:buNone/>
            </a:pPr>
            <a:r>
              <a:rPr lang="en-US" sz="3200" dirty="0">
                <a:solidFill>
                  <a:srgbClr val="2A201B"/>
                </a:solidFill>
                <a:latin typeface="Jost"/>
                <a:ea typeface="Jost"/>
                <a:cs typeface="Jost"/>
              </a:rPr>
              <a:t>Nail tech</a:t>
            </a:r>
            <a:endParaRPr lang="en-US" sz="3200" dirty="0"/>
          </a:p>
          <a:p>
            <a:pPr algn="l" indent="0" marL="0">
              <a:spcAft>
                <a:spcPts val="1100"/>
              </a:spcAft>
              <a:buNone/>
            </a:pPr>
            <a:r>
              <a:rPr lang="en-US" sz="3200" dirty="0">
                <a:solidFill>
                  <a:srgbClr val="2A201B"/>
                </a:solidFill>
                <a:latin typeface="Jost"/>
                <a:ea typeface="Jost"/>
                <a:cs typeface="Jost"/>
              </a:rPr>
              <a:t>Esthetician</a:t>
            </a:r>
            <a:endParaRPr lang="en-US" sz="3200" dirty="0"/>
          </a:p>
          <a:p>
            <a:pPr algn="l" indent="0" marL="0">
              <a:spcAft>
                <a:spcPts val="1100"/>
              </a:spcAft>
              <a:buNone/>
            </a:pPr>
            <a:r>
              <a:rPr lang="en-US" sz="3200" dirty="0">
                <a:solidFill>
                  <a:srgbClr val="2A201B"/>
                </a:solidFill>
                <a:latin typeface="Jost"/>
                <a:ea typeface="Jost"/>
                <a:cs typeface="Jost"/>
              </a:rPr>
              <a:t>PMU artist</a:t>
            </a:r>
            <a:endParaRPr lang="en-US" sz="3200" dirty="0"/>
          </a:p>
          <a:p>
            <a:pPr algn="l" indent="0" marL="0">
              <a:spcAft>
                <a:spcPts val="1100"/>
              </a:spcAft>
              <a:buNone/>
            </a:pPr>
            <a:r>
              <a:rPr lang="en-US" sz="3200" dirty="0">
                <a:solidFill>
                  <a:srgbClr val="2A201B"/>
                </a:solidFill>
                <a:latin typeface="Jost"/>
                <a:ea typeface="Jost"/>
                <a:cs typeface="Jost"/>
              </a:rPr>
              <a:t>And you already have clients. Even a few.</a:t>
            </a:r>
            <a:endParaRPr 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I'm giving you my best tonight.</a:t>
            </a:r>
            <a:endParaRPr lang="en-US" sz="6200" dirty="0"/>
          </a:p>
          <a:p>
            <a:pPr algn="l" indent="0" marL="0">
              <a:spcAft>
                <a:spcPts val="1900"/>
              </a:spcAft>
              <a:buNone/>
            </a:pPr>
            <a:r>
              <a:rPr lang="en-US" sz="5400" dirty="0">
                <a:solidFill>
                  <a:srgbClr val="FBF7F1"/>
                </a:solidFill>
                <a:latin typeface="Jost"/>
                <a:ea typeface="Jost"/>
                <a:cs typeface="Jost"/>
              </a:rPr>
              <a:t>I'm asking for yours.</a:t>
            </a:r>
            <a:endParaRPr lang="en-US" sz="5400" dirty="0"/>
          </a:p>
          <a:p>
            <a:pPr algn="l" indent="0" marL="0">
              <a:spcAft>
                <a:spcPts val="1900"/>
              </a:spcAft>
              <a:buNone/>
            </a:pPr>
            <a:r>
              <a:rPr lang="en-US" sz="5400" dirty="0">
                <a:solidFill>
                  <a:srgbClr val="FBF7F1"/>
                </a:solidFill>
                <a:latin typeface="Jost"/>
                <a:ea typeface="Jost"/>
                <a:cs typeface="Jost"/>
              </a:rPr>
              <a:t>As I teach each step, picture yourself doing it in your own business.</a:t>
            </a:r>
            <a:endParaRPr lang="en-US" sz="5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I'm giving you my best tonight.</a:t>
            </a:r>
            <a:endParaRPr lang="en-US" sz="6200" dirty="0"/>
          </a:p>
          <a:p>
            <a:pPr algn="l" indent="0" marL="0">
              <a:spcAft>
                <a:spcPts val="1900"/>
              </a:spcAft>
              <a:buNone/>
            </a:pPr>
            <a:r>
              <a:rPr lang="en-US" sz="5400" dirty="0">
                <a:solidFill>
                  <a:srgbClr val="2A201B"/>
                </a:solidFill>
                <a:latin typeface="Jost"/>
                <a:ea typeface="Jost"/>
                <a:cs typeface="Jost"/>
              </a:rPr>
              <a:t>I'm asking for yours.</a:t>
            </a:r>
            <a:endParaRPr lang="en-US" sz="5400" dirty="0"/>
          </a:p>
          <a:p>
            <a:pPr algn="l" indent="0" marL="0">
              <a:spcAft>
                <a:spcPts val="1900"/>
              </a:spcAft>
              <a:buNone/>
            </a:pPr>
            <a:r>
              <a:rPr lang="en-US" sz="5400" dirty="0">
                <a:solidFill>
                  <a:srgbClr val="FBF7F1"/>
                </a:solidFill>
                <a:latin typeface="Jost"/>
                <a:ea typeface="Jost"/>
                <a:cs typeface="Jost"/>
              </a:rPr>
              <a:t>As I teach each step, picture yourself doing it in your own business.</a:t>
            </a:r>
            <a:endParaRPr lang="en-US" sz="5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I'm giving you my best tonight.</a:t>
            </a:r>
            <a:endParaRPr lang="en-US" sz="6200" dirty="0"/>
          </a:p>
          <a:p>
            <a:pPr algn="l" indent="0" marL="0">
              <a:spcAft>
                <a:spcPts val="1900"/>
              </a:spcAft>
              <a:buNone/>
            </a:pPr>
            <a:r>
              <a:rPr lang="en-US" sz="5400" dirty="0">
                <a:solidFill>
                  <a:srgbClr val="2A201B"/>
                </a:solidFill>
                <a:latin typeface="Jost"/>
                <a:ea typeface="Jost"/>
                <a:cs typeface="Jost"/>
              </a:rPr>
              <a:t>I'm asking for yours.</a:t>
            </a:r>
            <a:endParaRPr lang="en-US" sz="5400" dirty="0"/>
          </a:p>
          <a:p>
            <a:pPr algn="l" indent="0" marL="0">
              <a:spcAft>
                <a:spcPts val="1900"/>
              </a:spcAft>
              <a:buNone/>
            </a:pPr>
            <a:r>
              <a:rPr lang="en-US" sz="5400" dirty="0">
                <a:solidFill>
                  <a:srgbClr val="2A201B"/>
                </a:solidFill>
                <a:latin typeface="Jost"/>
                <a:ea typeface="Jost"/>
                <a:cs typeface="Jost"/>
              </a:rPr>
              <a:t>As I teach each step, picture yourself doing it in your own business.</a:t>
            </a:r>
            <a:endParaRPr lang="en-US" sz="5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31</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900"/>
              </a:spcAft>
              <a:buNone/>
            </a:pPr>
            <a:r>
              <a:rPr lang="en-US" sz="6200" b="1" dirty="0">
                <a:solidFill>
                  <a:srgbClr val="2A201B"/>
                </a:solidFill>
                <a:latin typeface="Cormorant Garamond"/>
                <a:ea typeface="Cormorant Garamond"/>
                <a:cs typeface="Cormorant Garamond"/>
              </a:rPr>
              <a:t>Will you do that?</a:t>
            </a:r>
            <a:endParaRPr lang="en-US" sz="62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YES</a:t>
            </a:r>
            <a:endParaRPr lang="en-US" sz="4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Say this out loud with me:</a:t>
            </a:r>
            <a:endParaRPr lang="en-US" sz="6900" dirty="0"/>
          </a:p>
          <a:p>
            <a:pPr algn="l" indent="0" marL="0">
              <a:spcAft>
                <a:spcPts val="2100"/>
              </a:spcAft>
              <a:buNone/>
            </a:pPr>
            <a:r>
              <a:rPr lang="en-US" sz="6900" b="1" dirty="0">
                <a:solidFill>
                  <a:srgbClr val="AD5A6E"/>
                </a:solidFill>
                <a:latin typeface="Cormorant Garamond"/>
                <a:ea typeface="Cormorant Garamond"/>
                <a:cs typeface="Cormorant Garamond"/>
              </a:rPr>
              <a:t>"I'm the obvious choice, not the cheaper choice."</a:t>
            </a:r>
            <a:endParaRPr lang="en-US" sz="6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Now type it in the chat.</a:t>
            </a:r>
            <a:endParaRPr lang="en-US" sz="6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How did saying that feel?</a:t>
            </a:r>
            <a:endParaRPr lang="en-US" sz="6900" dirty="0"/>
          </a:p>
          <a:p>
            <a:pPr algn="l" indent="0" marL="0">
              <a:spcAft>
                <a:spcPts val="2100"/>
              </a:spcAft>
              <a:buNone/>
            </a:pPr>
            <a:r>
              <a:rPr lang="en-US" sz="6000" dirty="0">
                <a:solidFill>
                  <a:srgbClr val="2A201B"/>
                </a:solidFill>
                <a:latin typeface="Jost"/>
                <a:ea typeface="Jost"/>
                <a:cs typeface="Jost"/>
              </a:rPr>
              <a:t>Type one word.</a:t>
            </a:r>
            <a:endParaRPr lang="en-US" sz="6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Before I teach you anything, let's clear the doubts.</a:t>
            </a:r>
            <a:endParaRPr lang="en-US" sz="6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#1:</a:t>
            </a:r>
            <a:endParaRPr lang="en-US" sz="5400" dirty="0"/>
          </a:p>
          <a:p>
            <a:pPr algn="l" indent="0" marL="0">
              <a:spcAft>
                <a:spcPts val="1900"/>
              </a:spcAft>
              <a:buNone/>
            </a:pPr>
            <a:r>
              <a:rPr lang="en-US" sz="5400" dirty="0">
                <a:solidFill>
                  <a:srgbClr val="2A201B"/>
                </a:solidFill>
                <a:latin typeface="Jost"/>
                <a:ea typeface="Jost"/>
                <a:cs typeface="Jost"/>
              </a:rPr>
              <a:t>"I need to post more to get booked."</a:t>
            </a:r>
            <a:endParaRPr lang="en-US" sz="5400" dirty="0"/>
          </a:p>
          <a:p>
            <a:pPr algn="l" indent="0" marL="0">
              <a:spcAft>
                <a:spcPts val="1900"/>
              </a:spcAft>
              <a:buNone/>
            </a:pPr>
            <a:r>
              <a:rPr lang="en-US" sz="5400" dirty="0">
                <a:solidFill>
                  <a:srgbClr val="FBF7F1"/>
                </a:solidFill>
                <a:latin typeface="Jost"/>
                <a:ea typeface="Jost"/>
                <a:cs typeface="Jost"/>
              </a:rPr>
              <a:t>It's not how much you post.</a:t>
            </a:r>
            <a:endParaRPr lang="en-US" sz="5400" dirty="0"/>
          </a:p>
          <a:p>
            <a:pPr algn="l" indent="0" marL="0">
              <a:spcAft>
                <a:spcPts val="1900"/>
              </a:spcAft>
              <a:buNone/>
            </a:pPr>
            <a:r>
              <a:rPr lang="en-US" sz="5400" dirty="0">
                <a:solidFill>
                  <a:srgbClr val="FBF7F1"/>
                </a:solidFill>
                <a:latin typeface="Jost"/>
                <a:ea typeface="Jost"/>
                <a:cs typeface="Jost"/>
              </a:rPr>
              <a:t>It's what you post.</a:t>
            </a:r>
            <a:endParaRPr lang="en-US" sz="5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#1:</a:t>
            </a:r>
            <a:endParaRPr lang="en-US" sz="5400" dirty="0"/>
          </a:p>
          <a:p>
            <a:pPr algn="l" indent="0" marL="0">
              <a:spcAft>
                <a:spcPts val="1900"/>
              </a:spcAft>
              <a:buNone/>
            </a:pPr>
            <a:r>
              <a:rPr lang="en-US" sz="5400" dirty="0">
                <a:solidFill>
                  <a:srgbClr val="2A201B"/>
                </a:solidFill>
                <a:latin typeface="Jost"/>
                <a:ea typeface="Jost"/>
                <a:cs typeface="Jost"/>
              </a:rPr>
              <a:t>"I need to post more to get booked."</a:t>
            </a:r>
            <a:endParaRPr lang="en-US" sz="5400" dirty="0"/>
          </a:p>
          <a:p>
            <a:pPr algn="l" indent="0" marL="0">
              <a:spcAft>
                <a:spcPts val="1900"/>
              </a:spcAft>
              <a:buNone/>
            </a:pPr>
            <a:r>
              <a:rPr lang="en-US" sz="5400" dirty="0">
                <a:solidFill>
                  <a:srgbClr val="2A201B"/>
                </a:solidFill>
                <a:latin typeface="Jost"/>
                <a:ea typeface="Jost"/>
                <a:cs typeface="Jost"/>
              </a:rPr>
              <a:t>It's not how much you post.</a:t>
            </a:r>
            <a:endParaRPr lang="en-US" sz="5400" dirty="0"/>
          </a:p>
          <a:p>
            <a:pPr algn="l" indent="0" marL="0">
              <a:spcAft>
                <a:spcPts val="1900"/>
              </a:spcAft>
              <a:buNone/>
            </a:pPr>
            <a:r>
              <a:rPr lang="en-US" sz="5400" dirty="0">
                <a:solidFill>
                  <a:srgbClr val="FBF7F1"/>
                </a:solidFill>
                <a:latin typeface="Jost"/>
                <a:ea typeface="Jost"/>
                <a:cs typeface="Jost"/>
              </a:rPr>
              <a:t>It's what you post.</a:t>
            </a:r>
            <a:endParaRPr lang="en-US" sz="5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#1:</a:t>
            </a:r>
            <a:endParaRPr lang="en-US" sz="5400" dirty="0"/>
          </a:p>
          <a:p>
            <a:pPr algn="l" indent="0" marL="0">
              <a:spcAft>
                <a:spcPts val="1900"/>
              </a:spcAft>
              <a:buNone/>
            </a:pPr>
            <a:r>
              <a:rPr lang="en-US" sz="5400" dirty="0">
                <a:solidFill>
                  <a:srgbClr val="2A201B"/>
                </a:solidFill>
                <a:latin typeface="Jost"/>
                <a:ea typeface="Jost"/>
                <a:cs typeface="Jost"/>
              </a:rPr>
              <a:t>"I need to post more to get booked."</a:t>
            </a:r>
            <a:endParaRPr lang="en-US" sz="5400" dirty="0"/>
          </a:p>
          <a:p>
            <a:pPr algn="l" indent="0" marL="0">
              <a:spcAft>
                <a:spcPts val="1900"/>
              </a:spcAft>
              <a:buNone/>
            </a:pPr>
            <a:r>
              <a:rPr lang="en-US" sz="5400" dirty="0">
                <a:solidFill>
                  <a:srgbClr val="2A201B"/>
                </a:solidFill>
                <a:latin typeface="Jost"/>
                <a:ea typeface="Jost"/>
                <a:cs typeface="Jost"/>
              </a:rPr>
              <a:t>It's not how much you post.</a:t>
            </a:r>
            <a:endParaRPr lang="en-US" sz="5400" dirty="0"/>
          </a:p>
          <a:p>
            <a:pPr algn="l" indent="0" marL="0">
              <a:spcAft>
                <a:spcPts val="1900"/>
              </a:spcAft>
              <a:buNone/>
            </a:pPr>
            <a:r>
              <a:rPr lang="en-US" sz="5400" dirty="0">
                <a:solidFill>
                  <a:srgbClr val="2A201B"/>
                </a:solidFill>
                <a:latin typeface="Jost"/>
                <a:ea typeface="Jost"/>
                <a:cs typeface="Jost"/>
              </a:rPr>
              <a:t>It's what you post.</a:t>
            </a:r>
            <a:endParaRPr lang="en-US" sz="5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37</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I started over with 14 followers.</a:t>
            </a:r>
            <a:endParaRPr lang="en-US" sz="4800" dirty="0"/>
          </a:p>
          <a:p>
            <a:pPr algn="l" indent="0" marL="0">
              <a:spcAft>
                <a:spcPts val="1700"/>
              </a:spcAft>
              <a:buNone/>
            </a:pPr>
            <a:r>
              <a:rPr lang="en-US" sz="4800" dirty="0">
                <a:solidFill>
                  <a:srgbClr val="2A201B"/>
                </a:solidFill>
                <a:latin typeface="Jost"/>
                <a:ea typeface="Jost"/>
                <a:cs typeface="Jost"/>
              </a:rPr>
              <a:t>And I was fully booked within my first year back.</a:t>
            </a:r>
            <a:endParaRPr lang="en-US" sz="4800" dirty="0"/>
          </a:p>
        </p:txBody>
      </p:sp>
      <p:pic>
        <p:nvPicPr>
          <p:cNvPr id="5" name="Image 0" descr="/home/claude/webinar/deck-img/rieartistry-instagram-restart-14-followers.jpg">    </p:cNvPr>
          <p:cNvPicPr>
            <a:picLocks noChangeAspect="1"/>
          </p:cNvPicPr>
          <p:nvPr/>
        </p:nvPicPr>
        <p:blipFill>
          <a:blip r:embed="rId1"/>
          <a:stretch>
            <a:fillRect/>
          </a:stretch>
        </p:blipFill>
        <p:spPr>
          <a:xfrm>
            <a:off x="7612993" y="457200"/>
            <a:ext cx="2726429" cy="58978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Doubt #2:</a:t>
            </a:r>
            <a:endParaRPr lang="en-US" sz="4800" dirty="0"/>
          </a:p>
          <a:p>
            <a:pPr algn="l" indent="0" marL="0">
              <a:spcAft>
                <a:spcPts val="1700"/>
              </a:spcAft>
              <a:buNone/>
            </a:pPr>
            <a:r>
              <a:rPr lang="en-US" sz="4800" dirty="0">
                <a:solidFill>
                  <a:srgbClr val="2A201B"/>
                </a:solidFill>
                <a:latin typeface="Jost"/>
                <a:ea typeface="Jost"/>
                <a:cs typeface="Jost"/>
              </a:rPr>
              <a:t>"I have to run specials to stay booked."</a:t>
            </a:r>
            <a:endParaRPr lang="en-US" sz="4800" dirty="0"/>
          </a:p>
          <a:p>
            <a:pPr algn="l" indent="0" marL="0">
              <a:spcAft>
                <a:spcPts val="1700"/>
              </a:spcAft>
              <a:buNone/>
            </a:pPr>
            <a:r>
              <a:rPr lang="en-US" sz="4800" dirty="0">
                <a:solidFill>
                  <a:srgbClr val="FBF7F1"/>
                </a:solidFill>
                <a:latin typeface="Jost"/>
                <a:ea typeface="Jost"/>
                <a:cs typeface="Jost"/>
              </a:rPr>
              <a:t>When clients can't tell why you're different, price is the only thing left to compare.</a:t>
            </a:r>
            <a:endParaRPr lang="en-US" sz="4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Doubt #2:</a:t>
            </a:r>
            <a:endParaRPr lang="en-US" sz="4800" dirty="0"/>
          </a:p>
          <a:p>
            <a:pPr algn="l" indent="0" marL="0">
              <a:spcAft>
                <a:spcPts val="1700"/>
              </a:spcAft>
              <a:buNone/>
            </a:pPr>
            <a:r>
              <a:rPr lang="en-US" sz="4800" dirty="0">
                <a:solidFill>
                  <a:srgbClr val="2A201B"/>
                </a:solidFill>
                <a:latin typeface="Jost"/>
                <a:ea typeface="Jost"/>
                <a:cs typeface="Jost"/>
              </a:rPr>
              <a:t>"I have to run specials to stay booked."</a:t>
            </a:r>
            <a:endParaRPr lang="en-US" sz="4800" dirty="0"/>
          </a:p>
          <a:p>
            <a:pPr algn="l" indent="0" marL="0">
              <a:spcAft>
                <a:spcPts val="1700"/>
              </a:spcAft>
              <a:buNone/>
            </a:pPr>
            <a:r>
              <a:rPr lang="en-US" sz="4800" dirty="0">
                <a:solidFill>
                  <a:srgbClr val="2A201B"/>
                </a:solidFill>
                <a:latin typeface="Jost"/>
                <a:ea typeface="Jost"/>
                <a:cs typeface="Jost"/>
              </a:rPr>
              <a:t>When clients can't tell why you're different, price is the only thing left to compare.</a:t>
            </a:r>
            <a:endParaRPr lang="en-US" sz="4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39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used to run specials to try and get clients in.</a:t>
            </a:r>
            <a:endParaRPr lang="en-US" sz="6900" dirty="0"/>
          </a:p>
          <a:p>
            <a:pPr algn="l" indent="0" marL="0">
              <a:spcAft>
                <a:spcPts val="2100"/>
              </a:spcAft>
              <a:buNone/>
            </a:pPr>
            <a:r>
              <a:rPr lang="en-US" sz="6000" dirty="0">
                <a:solidFill>
                  <a:srgbClr val="2A201B"/>
                </a:solidFill>
                <a:latin typeface="Jost"/>
                <a:ea typeface="Jost"/>
                <a:cs typeface="Jost"/>
              </a:rPr>
              <a:t>Now I have </a:t>
            </a:r>
            <a:pPr algn="l" indent="0" marL="0">
              <a:spcAft>
                <a:spcPts val="2100"/>
              </a:spcAft>
              <a:buNone/>
            </a:pPr>
            <a:r>
              <a:rPr lang="en-US" sz="6000" b="1" dirty="0">
                <a:solidFill>
                  <a:srgbClr val="AD5A6E"/>
                </a:solidFill>
                <a:latin typeface="Jost"/>
                <a:ea typeface="Jost"/>
                <a:cs typeface="Jost"/>
              </a:rPr>
              <a:t>11</a:t>
            </a:r>
            <a:pPr algn="l" indent="0" marL="0">
              <a:spcAft>
                <a:spcPts val="2100"/>
              </a:spcAft>
              <a:buNone/>
            </a:pPr>
            <a:r>
              <a:rPr lang="en-US" sz="6000" dirty="0">
                <a:solidFill>
                  <a:srgbClr val="2A201B"/>
                </a:solidFill>
                <a:latin typeface="Jost"/>
                <a:ea typeface="Jost"/>
                <a:cs typeface="Jost"/>
              </a:rPr>
              <a:t> clients paying me every month instead.</a:t>
            </a:r>
            <a:endParaRPr lang="en-US" sz="6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#3:</a:t>
            </a:r>
            <a:endParaRPr lang="en-US" sz="5400" dirty="0"/>
          </a:p>
          <a:p>
            <a:pPr algn="l" indent="0" marL="0">
              <a:spcAft>
                <a:spcPts val="1900"/>
              </a:spcAft>
              <a:buNone/>
            </a:pPr>
            <a:r>
              <a:rPr lang="en-US" sz="5400" dirty="0">
                <a:solidFill>
                  <a:srgbClr val="2A201B"/>
                </a:solidFill>
                <a:latin typeface="Jost"/>
                <a:ea typeface="Jost"/>
                <a:cs typeface="Jost"/>
              </a:rPr>
              <a:t>"I've bought courses before. They didn't work."</a:t>
            </a:r>
            <a:endParaRPr lang="en-US" sz="5400" dirty="0"/>
          </a:p>
          <a:p>
            <a:pPr algn="l" indent="0" marL="0">
              <a:spcAft>
                <a:spcPts val="1900"/>
              </a:spcAft>
              <a:buNone/>
            </a:pPr>
            <a:r>
              <a:rPr lang="en-US" sz="5400" dirty="0">
                <a:solidFill>
                  <a:srgbClr val="FBF7F1"/>
                </a:solidFill>
                <a:latin typeface="Jost"/>
                <a:ea typeface="Jost"/>
                <a:cs typeface="Jost"/>
              </a:rPr>
              <a:t>Me too.</a:t>
            </a:r>
            <a:endParaRPr lang="en-US" sz="5400" dirty="0"/>
          </a:p>
          <a:p>
            <a:pPr algn="l" indent="0" marL="0">
              <a:spcAft>
                <a:spcPts val="1900"/>
              </a:spcAft>
              <a:buNone/>
            </a:pPr>
            <a:r>
              <a:rPr lang="en-US" sz="5400" dirty="0">
                <a:solidFill>
                  <a:srgbClr val="FBF7F1"/>
                </a:solidFill>
                <a:latin typeface="Jost"/>
                <a:ea typeface="Jost"/>
                <a:cs typeface="Jost"/>
              </a:rPr>
              <a:t>Some of them weren't as valuable as I hoped.</a:t>
            </a:r>
            <a:endParaRPr lang="en-US" sz="5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#3:</a:t>
            </a:r>
            <a:endParaRPr lang="en-US" sz="5400" dirty="0"/>
          </a:p>
          <a:p>
            <a:pPr algn="l" indent="0" marL="0">
              <a:spcAft>
                <a:spcPts val="1900"/>
              </a:spcAft>
              <a:buNone/>
            </a:pPr>
            <a:r>
              <a:rPr lang="en-US" sz="5400" dirty="0">
                <a:solidFill>
                  <a:srgbClr val="2A201B"/>
                </a:solidFill>
                <a:latin typeface="Jost"/>
                <a:ea typeface="Jost"/>
                <a:cs typeface="Jost"/>
              </a:rPr>
              <a:t>"I've bought courses before. They didn't work."</a:t>
            </a:r>
            <a:endParaRPr lang="en-US" sz="5400" dirty="0"/>
          </a:p>
          <a:p>
            <a:pPr algn="l" indent="0" marL="0">
              <a:spcAft>
                <a:spcPts val="1900"/>
              </a:spcAft>
              <a:buNone/>
            </a:pPr>
            <a:r>
              <a:rPr lang="en-US" sz="5400" dirty="0">
                <a:solidFill>
                  <a:srgbClr val="2A201B"/>
                </a:solidFill>
                <a:latin typeface="Jost"/>
                <a:ea typeface="Jost"/>
                <a:cs typeface="Jost"/>
              </a:rPr>
              <a:t>Me too.</a:t>
            </a:r>
            <a:endParaRPr lang="en-US" sz="5400" dirty="0"/>
          </a:p>
          <a:p>
            <a:pPr algn="l" indent="0" marL="0">
              <a:spcAft>
                <a:spcPts val="1900"/>
              </a:spcAft>
              <a:buNone/>
            </a:pPr>
            <a:r>
              <a:rPr lang="en-US" sz="5400" dirty="0">
                <a:solidFill>
                  <a:srgbClr val="FBF7F1"/>
                </a:solidFill>
                <a:latin typeface="Jost"/>
                <a:ea typeface="Jost"/>
                <a:cs typeface="Jost"/>
              </a:rPr>
              <a:t>Some of them weren't as valuable as I hoped.</a:t>
            </a:r>
            <a:endParaRPr lang="en-US" sz="5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Doubt #3:</a:t>
            </a:r>
            <a:endParaRPr lang="en-US" sz="5400" dirty="0"/>
          </a:p>
          <a:p>
            <a:pPr algn="l" indent="0" marL="0">
              <a:spcAft>
                <a:spcPts val="1900"/>
              </a:spcAft>
              <a:buNone/>
            </a:pPr>
            <a:r>
              <a:rPr lang="en-US" sz="5400" dirty="0">
                <a:solidFill>
                  <a:srgbClr val="2A201B"/>
                </a:solidFill>
                <a:latin typeface="Jost"/>
                <a:ea typeface="Jost"/>
                <a:cs typeface="Jost"/>
              </a:rPr>
              <a:t>"I've bought courses before. They didn't work."</a:t>
            </a:r>
            <a:endParaRPr lang="en-US" sz="5400" dirty="0"/>
          </a:p>
          <a:p>
            <a:pPr algn="l" indent="0" marL="0">
              <a:spcAft>
                <a:spcPts val="1900"/>
              </a:spcAft>
              <a:buNone/>
            </a:pPr>
            <a:r>
              <a:rPr lang="en-US" sz="5400" dirty="0">
                <a:solidFill>
                  <a:srgbClr val="2A201B"/>
                </a:solidFill>
                <a:latin typeface="Jost"/>
                <a:ea typeface="Jost"/>
                <a:cs typeface="Jost"/>
              </a:rPr>
              <a:t>Me too.</a:t>
            </a:r>
            <a:endParaRPr lang="en-US" sz="5400" dirty="0"/>
          </a:p>
          <a:p>
            <a:pPr algn="l" indent="0" marL="0">
              <a:spcAft>
                <a:spcPts val="1900"/>
              </a:spcAft>
              <a:buNone/>
            </a:pPr>
            <a:r>
              <a:rPr lang="en-US" sz="5400" dirty="0">
                <a:solidFill>
                  <a:srgbClr val="2A201B"/>
                </a:solidFill>
                <a:latin typeface="Jost"/>
                <a:ea typeface="Jost"/>
                <a:cs typeface="Jost"/>
              </a:rPr>
              <a:t>Some of them weren't as valuable as I hoped.</a:t>
            </a:r>
            <a:endParaRPr lang="en-US" sz="5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Information doesn't change your business.</a:t>
            </a:r>
            <a:endParaRPr lang="en-US" sz="6200" dirty="0"/>
          </a:p>
          <a:p>
            <a:pPr algn="l" indent="0" marL="0">
              <a:spcAft>
                <a:spcPts val="1900"/>
              </a:spcAft>
              <a:buNone/>
            </a:pPr>
            <a:r>
              <a:rPr lang="en-US" sz="5400" dirty="0">
                <a:solidFill>
                  <a:srgbClr val="FBF7F1"/>
                </a:solidFill>
                <a:latin typeface="Jost"/>
                <a:ea typeface="Jost"/>
                <a:cs typeface="Jost"/>
              </a:rPr>
              <a:t>Putting it to work does.</a:t>
            </a:r>
            <a:endParaRPr lang="en-US" sz="5400" dirty="0"/>
          </a:p>
          <a:p>
            <a:pPr algn="l" indent="0" marL="0">
              <a:spcAft>
                <a:spcPts val="1900"/>
              </a:spcAft>
              <a:buNone/>
            </a:pPr>
            <a:r>
              <a:rPr lang="en-US" sz="5400" dirty="0">
                <a:solidFill>
                  <a:srgbClr val="FBF7F1"/>
                </a:solidFill>
                <a:latin typeface="Jost"/>
                <a:ea typeface="Jost"/>
                <a:cs typeface="Jost"/>
              </a:rPr>
              <a:t>Tonight, you'll put it to work with me. Live.</a:t>
            </a:r>
            <a:endParaRPr lang="en-US" sz="5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Information doesn't change your business.</a:t>
            </a:r>
            <a:endParaRPr lang="en-US" sz="6200" dirty="0"/>
          </a:p>
          <a:p>
            <a:pPr algn="l" indent="0" marL="0">
              <a:spcAft>
                <a:spcPts val="1900"/>
              </a:spcAft>
              <a:buNone/>
            </a:pPr>
            <a:r>
              <a:rPr lang="en-US" sz="5400" dirty="0">
                <a:solidFill>
                  <a:srgbClr val="2A201B"/>
                </a:solidFill>
                <a:latin typeface="Jost"/>
                <a:ea typeface="Jost"/>
                <a:cs typeface="Jost"/>
              </a:rPr>
              <a:t>Putting it to work does.</a:t>
            </a:r>
            <a:endParaRPr lang="en-US" sz="5400" dirty="0"/>
          </a:p>
          <a:p>
            <a:pPr algn="l" indent="0" marL="0">
              <a:spcAft>
                <a:spcPts val="1900"/>
              </a:spcAft>
              <a:buNone/>
            </a:pPr>
            <a:r>
              <a:rPr lang="en-US" sz="5400" dirty="0">
                <a:solidFill>
                  <a:srgbClr val="FBF7F1"/>
                </a:solidFill>
                <a:latin typeface="Jost"/>
                <a:ea typeface="Jost"/>
                <a:cs typeface="Jost"/>
              </a:rPr>
              <a:t>Tonight, you'll put it to work with me. Live.</a:t>
            </a:r>
            <a:endParaRPr lang="en-US" sz="5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Information doesn't change your business.</a:t>
            </a:r>
            <a:endParaRPr lang="en-US" sz="6200" dirty="0"/>
          </a:p>
          <a:p>
            <a:pPr algn="l" indent="0" marL="0">
              <a:spcAft>
                <a:spcPts val="1900"/>
              </a:spcAft>
              <a:buNone/>
            </a:pPr>
            <a:r>
              <a:rPr lang="en-US" sz="5400" dirty="0">
                <a:solidFill>
                  <a:srgbClr val="2A201B"/>
                </a:solidFill>
                <a:latin typeface="Jost"/>
                <a:ea typeface="Jost"/>
                <a:cs typeface="Jost"/>
              </a:rPr>
              <a:t>Putting it to work does.</a:t>
            </a:r>
            <a:endParaRPr lang="en-US" sz="5400" dirty="0"/>
          </a:p>
          <a:p>
            <a:pPr algn="l" indent="0" marL="0">
              <a:spcAft>
                <a:spcPts val="1900"/>
              </a:spcAft>
              <a:buNone/>
            </a:pPr>
            <a:r>
              <a:rPr lang="en-US" sz="5400" dirty="0">
                <a:solidFill>
                  <a:srgbClr val="2A201B"/>
                </a:solidFill>
                <a:latin typeface="Jost"/>
                <a:ea typeface="Jost"/>
                <a:cs typeface="Jost"/>
              </a:rPr>
              <a:t>Tonight, you'll put it to work with me. Live.</a:t>
            </a:r>
            <a:endParaRPr lang="en-US" sz="5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Type this:</a:t>
            </a:r>
            <a:endParaRPr lang="en-US" sz="6900" dirty="0"/>
          </a:p>
          <a:p>
            <a:pPr algn="l" indent="0" marL="0">
              <a:spcAft>
                <a:spcPts val="2100"/>
              </a:spcAft>
              <a:buNone/>
            </a:pPr>
            <a:r>
              <a:rPr lang="en-US" sz="6900" b="1" dirty="0">
                <a:solidFill>
                  <a:srgbClr val="AD5A6E"/>
                </a:solidFill>
                <a:latin typeface="Cormorant Garamond"/>
                <a:ea typeface="Cormorant Garamond"/>
                <a:cs typeface="Cormorant Garamond"/>
              </a:rPr>
              <a:t>"This time, I'm doing the work."</a:t>
            </a:r>
            <a:endParaRPr lang="en-US" sz="6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I'm going to say two words.</a:t>
            </a:r>
            <a:endParaRPr lang="en-US" sz="6900" dirty="0"/>
          </a:p>
          <a:p>
            <a:pPr algn="l" indent="0" marL="0">
              <a:spcAft>
                <a:spcPts val="2100"/>
              </a:spcAft>
              <a:buNone/>
            </a:pPr>
            <a:r>
              <a:rPr lang="en-US" sz="6000" dirty="0">
                <a:solidFill>
                  <a:srgbClr val="2A201B"/>
                </a:solidFill>
                <a:latin typeface="Jost"/>
                <a:ea typeface="Jost"/>
                <a:cs typeface="Jost"/>
              </a:rPr>
              <a:t>Type the first thing that comes to mind.</a:t>
            </a:r>
            <a:endParaRPr lang="en-US" sz="6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Price increase.</a:t>
            </a:r>
            <a:endParaRPr lang="en-US" sz="6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Whatever you typed, it's not really about the number.</a:t>
            </a:r>
            <a:endParaRPr lang="en-US" sz="5500" dirty="0"/>
          </a:p>
          <a:p>
            <a:pPr algn="l" indent="0" marL="0">
              <a:spcAft>
                <a:spcPts val="1700"/>
              </a:spcAft>
              <a:buNone/>
            </a:pPr>
            <a:r>
              <a:rPr lang="en-US" sz="4800" dirty="0">
                <a:solidFill>
                  <a:srgbClr val="FBF7F1"/>
                </a:solidFill>
                <a:latin typeface="Jost"/>
                <a:ea typeface="Jost"/>
                <a:cs typeface="Jost"/>
              </a:rPr>
              <a:t>A price increase is scary when clients can't tell why you're worth more.</a:t>
            </a:r>
            <a:endParaRPr lang="en-US" sz="4800" dirty="0"/>
          </a:p>
          <a:p>
            <a:pPr algn="l" indent="0" marL="0">
              <a:spcAft>
                <a:spcPts val="1700"/>
              </a:spcAft>
              <a:buNone/>
            </a:pPr>
            <a:r>
              <a:rPr lang="en-US" sz="4800" dirty="0">
                <a:solidFill>
                  <a:srgbClr val="FBF7F1"/>
                </a:solidFill>
                <a:latin typeface="Jost"/>
                <a:ea typeface="Jost"/>
                <a:cs typeface="Jost"/>
              </a:rPr>
              <a:t>When they can, it's just the next step.</a:t>
            </a:r>
            <a:endParaRPr lang="en-US" sz="4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Whatever you typed, it's not really about the number.</a:t>
            </a:r>
            <a:endParaRPr lang="en-US" sz="5500" dirty="0"/>
          </a:p>
          <a:p>
            <a:pPr algn="l" indent="0" marL="0">
              <a:spcAft>
                <a:spcPts val="1700"/>
              </a:spcAft>
              <a:buNone/>
            </a:pPr>
            <a:r>
              <a:rPr lang="en-US" sz="4800" dirty="0">
                <a:solidFill>
                  <a:srgbClr val="2A201B"/>
                </a:solidFill>
                <a:latin typeface="Jost"/>
                <a:ea typeface="Jost"/>
                <a:cs typeface="Jost"/>
              </a:rPr>
              <a:t>A price increase is scary when clients can't tell why you're worth more.</a:t>
            </a:r>
            <a:endParaRPr lang="en-US" sz="4800" dirty="0"/>
          </a:p>
          <a:p>
            <a:pPr algn="l" indent="0" marL="0">
              <a:spcAft>
                <a:spcPts val="1700"/>
              </a:spcAft>
              <a:buNone/>
            </a:pPr>
            <a:r>
              <a:rPr lang="en-US" sz="4800" dirty="0">
                <a:solidFill>
                  <a:srgbClr val="FBF7F1"/>
                </a:solidFill>
                <a:latin typeface="Jost"/>
                <a:ea typeface="Jost"/>
                <a:cs typeface="Jost"/>
              </a:rPr>
              <a:t>When they can, it's just the next step.</a:t>
            </a:r>
            <a:endParaRPr lang="en-US" sz="4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Whatever you typed, it's not really about the number.</a:t>
            </a:r>
            <a:endParaRPr lang="en-US" sz="5500" dirty="0"/>
          </a:p>
          <a:p>
            <a:pPr algn="l" indent="0" marL="0">
              <a:spcAft>
                <a:spcPts val="1700"/>
              </a:spcAft>
              <a:buNone/>
            </a:pPr>
            <a:r>
              <a:rPr lang="en-US" sz="4800" dirty="0">
                <a:solidFill>
                  <a:srgbClr val="2A201B"/>
                </a:solidFill>
                <a:latin typeface="Jost"/>
                <a:ea typeface="Jost"/>
                <a:cs typeface="Jost"/>
              </a:rPr>
              <a:t>A price increase is scary when clients can't tell why you're worth more.</a:t>
            </a:r>
            <a:endParaRPr lang="en-US" sz="4800" dirty="0"/>
          </a:p>
          <a:p>
            <a:pPr algn="l" indent="0" marL="0">
              <a:spcAft>
                <a:spcPts val="1700"/>
              </a:spcAft>
              <a:buNone/>
            </a:pPr>
            <a:r>
              <a:rPr lang="en-US" sz="4800" dirty="0">
                <a:solidFill>
                  <a:srgbClr val="2A201B"/>
                </a:solidFill>
                <a:latin typeface="Jost"/>
                <a:ea typeface="Jost"/>
                <a:cs typeface="Jost"/>
              </a:rPr>
              <a:t>When they can, it's just the next step.</a:t>
            </a:r>
            <a:endParaRPr lang="en-US" sz="4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Let me guess how the next 12 months go if nothing changes.</a:t>
            </a:r>
            <a:endParaRPr lang="en-US" sz="6000" dirty="0"/>
          </a:p>
          <a:p>
            <a:pPr algn="l" indent="0" marL="0">
              <a:spcAft>
                <a:spcPts val="2100"/>
              </a:spcAft>
              <a:buNone/>
            </a:pPr>
            <a:r>
              <a:rPr lang="en-US" sz="6000" dirty="0">
                <a:solidFill>
                  <a:srgbClr val="2A201B"/>
                </a:solidFill>
                <a:latin typeface="Jost"/>
                <a:ea typeface="Jost"/>
                <a:cs typeface="Jost"/>
              </a:rPr>
              <a:t>Stop me if I'm wrong.</a:t>
            </a:r>
            <a:endParaRPr lang="en-US" sz="6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Some weeks you're fully booked and exhausted.</a:t>
            </a:r>
            <a:endParaRPr lang="en-US" sz="6200" dirty="0"/>
          </a:p>
          <a:p>
            <a:pPr algn="l" indent="0" marL="0">
              <a:spcAft>
                <a:spcPts val="1900"/>
              </a:spcAft>
              <a:buNone/>
            </a:pPr>
            <a:r>
              <a:rPr lang="en-US" sz="5400" dirty="0">
                <a:solidFill>
                  <a:srgbClr val="FBF7F1"/>
                </a:solidFill>
                <a:latin typeface="Jost"/>
                <a:ea typeface="Jost"/>
                <a:cs typeface="Jost"/>
              </a:rPr>
              <a:t>Other weeks you're refreshing your booking app wondering where everybody went.</a:t>
            </a:r>
            <a:endParaRPr lang="en-US" sz="5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Some weeks you're fully booked and exhausted.</a:t>
            </a:r>
            <a:endParaRPr lang="en-US" sz="6200" dirty="0"/>
          </a:p>
          <a:p>
            <a:pPr algn="l" indent="0" marL="0">
              <a:spcAft>
                <a:spcPts val="1900"/>
              </a:spcAft>
              <a:buNone/>
            </a:pPr>
            <a:r>
              <a:rPr lang="en-US" sz="5400" dirty="0">
                <a:solidFill>
                  <a:srgbClr val="2A201B"/>
                </a:solidFill>
                <a:latin typeface="Jost"/>
                <a:ea typeface="Jost"/>
                <a:cs typeface="Jost"/>
              </a:rPr>
              <a:t>Other weeks you're refreshing your booking app wondering where everybody went.</a:t>
            </a:r>
            <a:endParaRPr lang="en-US" sz="5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know you should raise your prices.</a:t>
            </a:r>
            <a:endParaRPr lang="en-US" sz="6900" dirty="0"/>
          </a:p>
          <a:p>
            <a:pPr algn="l" indent="0" marL="0">
              <a:spcAft>
                <a:spcPts val="2100"/>
              </a:spcAft>
              <a:buNone/>
            </a:pPr>
            <a:r>
              <a:rPr lang="en-US" sz="6000" dirty="0">
                <a:solidFill>
                  <a:srgbClr val="2A201B"/>
                </a:solidFill>
                <a:latin typeface="Jost"/>
                <a:ea typeface="Jost"/>
                <a:cs typeface="Jost"/>
              </a:rPr>
              <a:t>But you keep hearing, "What if they leave?"</a:t>
            </a:r>
            <a:endParaRPr lang="en-US" sz="6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49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Your back, your neck, your wrists, your eyes start telling on you.</a:t>
            </a:r>
            <a:endParaRPr lang="en-US" sz="6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You're the artist, the receptionist, the marketer, and the janitor.</a:t>
            </a:r>
            <a:endParaRPr lang="en-US" sz="6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51</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900"/>
              </a:spcAft>
              <a:buNone/>
            </a:pPr>
            <a:r>
              <a:rPr lang="en-US" sz="6200" b="1" dirty="0">
                <a:solidFill>
                  <a:srgbClr val="2A201B"/>
                </a:solidFill>
                <a:latin typeface="Cormorant Garamond"/>
                <a:ea typeface="Cormorant Garamond"/>
                <a:cs typeface="Cormorant Garamond"/>
              </a:rPr>
              <a:t>How close was I?</a:t>
            </a:r>
            <a:endParaRPr lang="en-US" sz="62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1 to 10</a:t>
            </a:r>
            <a:endParaRPr lang="en-US" sz="4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Quick math.</a:t>
            </a:r>
            <a:endParaRPr lang="en-US" sz="6900" dirty="0"/>
          </a:p>
          <a:p>
            <a:pPr algn="l" indent="0" marL="0">
              <a:spcAft>
                <a:spcPts val="2100"/>
              </a:spcAft>
              <a:buNone/>
            </a:pPr>
            <a:r>
              <a:rPr lang="en-US" sz="6000" dirty="0">
                <a:solidFill>
                  <a:srgbClr val="FBF7F1"/>
                </a:solidFill>
                <a:latin typeface="Jost"/>
                <a:ea typeface="Jost"/>
                <a:cs typeface="Jost"/>
              </a:rPr>
              <a:t>Say you run a </a:t>
            </a:r>
            <a:pPr algn="l" indent="0" marL="0">
              <a:spcAft>
                <a:spcPts val="2100"/>
              </a:spcAft>
              <a:buNone/>
            </a:pPr>
            <a:r>
              <a:rPr lang="en-US" sz="6000" b="1" dirty="0">
                <a:solidFill>
                  <a:srgbClr val="FBF7F1"/>
                </a:solidFill>
                <a:latin typeface="Jost"/>
                <a:ea typeface="Jost"/>
                <a:cs typeface="Jost"/>
              </a:rPr>
              <a:t>$20</a:t>
            </a:r>
            <a:pPr algn="l" indent="0" marL="0">
              <a:spcAft>
                <a:spcPts val="2100"/>
              </a:spcAft>
              <a:buNone/>
            </a:pPr>
            <a:r>
              <a:rPr lang="en-US" sz="6000" dirty="0">
                <a:solidFill>
                  <a:srgbClr val="FBF7F1"/>
                </a:solidFill>
                <a:latin typeface="Jost"/>
                <a:ea typeface="Jost"/>
                <a:cs typeface="Jost"/>
              </a:rPr>
              <a:t>-off special for 5 clients a week.</a:t>
            </a:r>
            <a:endParaRPr lang="en-US" sz="6000" dirty="0"/>
          </a:p>
          <a:p>
            <a:pPr algn="l" indent="0" marL="0">
              <a:spcAft>
                <a:spcPts val="2100"/>
              </a:spcAft>
              <a:buNone/>
            </a:pPr>
            <a:r>
              <a:rPr lang="en-US" sz="6000" dirty="0">
                <a:solidFill>
                  <a:srgbClr val="FBF7F1"/>
                </a:solidFill>
                <a:latin typeface="Jost"/>
                <a:ea typeface="Jost"/>
                <a:cs typeface="Jost"/>
              </a:rPr>
              <a:t>That's </a:t>
            </a:r>
            <a:pPr algn="l" indent="0" marL="0">
              <a:spcAft>
                <a:spcPts val="2100"/>
              </a:spcAft>
              <a:buNone/>
            </a:pPr>
            <a:r>
              <a:rPr lang="en-US" sz="6000" b="1" dirty="0">
                <a:solidFill>
                  <a:srgbClr val="FBF7F1"/>
                </a:solidFill>
                <a:latin typeface="Jost"/>
                <a:ea typeface="Jost"/>
                <a:cs typeface="Jost"/>
              </a:rPr>
              <a:t>$100</a:t>
            </a:r>
            <a:pPr algn="l" indent="0" marL="0">
              <a:spcAft>
                <a:spcPts val="2100"/>
              </a:spcAft>
              <a:buNone/>
            </a:pPr>
            <a:r>
              <a:rPr lang="en-US" sz="6000" dirty="0">
                <a:solidFill>
                  <a:srgbClr val="FBF7F1"/>
                </a:solidFill>
                <a:latin typeface="Jost"/>
                <a:ea typeface="Jost"/>
                <a:cs typeface="Jost"/>
              </a:rPr>
              <a:t> a week.</a:t>
            </a:r>
            <a:endParaRPr lang="en-US" sz="6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Quick math.</a:t>
            </a:r>
            <a:endParaRPr lang="en-US" sz="6900" dirty="0"/>
          </a:p>
          <a:p>
            <a:pPr algn="l" indent="0" marL="0">
              <a:spcAft>
                <a:spcPts val="2100"/>
              </a:spcAft>
              <a:buNone/>
            </a:pPr>
            <a:r>
              <a:rPr lang="en-US" sz="6000" dirty="0">
                <a:solidFill>
                  <a:srgbClr val="2A201B"/>
                </a:solidFill>
                <a:latin typeface="Jost"/>
                <a:ea typeface="Jost"/>
                <a:cs typeface="Jost"/>
              </a:rPr>
              <a:t>Say you run a </a:t>
            </a:r>
            <a:pPr algn="l" indent="0" marL="0">
              <a:spcAft>
                <a:spcPts val="2100"/>
              </a:spcAft>
              <a:buNone/>
            </a:pPr>
            <a:r>
              <a:rPr lang="en-US" sz="6000" b="1" dirty="0">
                <a:solidFill>
                  <a:srgbClr val="AD5A6E"/>
                </a:solidFill>
                <a:latin typeface="Jost"/>
                <a:ea typeface="Jost"/>
                <a:cs typeface="Jost"/>
              </a:rPr>
              <a:t>$20</a:t>
            </a:r>
            <a:pPr algn="l" indent="0" marL="0">
              <a:spcAft>
                <a:spcPts val="2100"/>
              </a:spcAft>
              <a:buNone/>
            </a:pPr>
            <a:r>
              <a:rPr lang="en-US" sz="6000" dirty="0">
                <a:solidFill>
                  <a:srgbClr val="2A201B"/>
                </a:solidFill>
                <a:latin typeface="Jost"/>
                <a:ea typeface="Jost"/>
                <a:cs typeface="Jost"/>
              </a:rPr>
              <a:t>-off special for 5 clients a week.</a:t>
            </a:r>
            <a:endParaRPr lang="en-US" sz="6000" dirty="0"/>
          </a:p>
          <a:p>
            <a:pPr algn="l" indent="0" marL="0">
              <a:spcAft>
                <a:spcPts val="2100"/>
              </a:spcAft>
              <a:buNone/>
            </a:pPr>
            <a:r>
              <a:rPr lang="en-US" sz="6000" dirty="0">
                <a:solidFill>
                  <a:srgbClr val="FBF7F1"/>
                </a:solidFill>
                <a:latin typeface="Jost"/>
                <a:ea typeface="Jost"/>
                <a:cs typeface="Jost"/>
              </a:rPr>
              <a:t>That's </a:t>
            </a:r>
            <a:pPr algn="l" indent="0" marL="0">
              <a:spcAft>
                <a:spcPts val="2100"/>
              </a:spcAft>
              <a:buNone/>
            </a:pPr>
            <a:r>
              <a:rPr lang="en-US" sz="6000" b="1" dirty="0">
                <a:solidFill>
                  <a:srgbClr val="FBF7F1"/>
                </a:solidFill>
                <a:latin typeface="Jost"/>
                <a:ea typeface="Jost"/>
                <a:cs typeface="Jost"/>
              </a:rPr>
              <a:t>$100</a:t>
            </a:r>
            <a:pPr algn="l" indent="0" marL="0">
              <a:spcAft>
                <a:spcPts val="2100"/>
              </a:spcAft>
              <a:buNone/>
            </a:pPr>
            <a:r>
              <a:rPr lang="en-US" sz="6000" dirty="0">
                <a:solidFill>
                  <a:srgbClr val="FBF7F1"/>
                </a:solidFill>
                <a:latin typeface="Jost"/>
                <a:ea typeface="Jost"/>
                <a:cs typeface="Jost"/>
              </a:rPr>
              <a:t> a week.</a:t>
            </a:r>
            <a:endParaRPr lang="en-US" sz="6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Quick math.</a:t>
            </a:r>
            <a:endParaRPr lang="en-US" sz="6900" dirty="0"/>
          </a:p>
          <a:p>
            <a:pPr algn="l" indent="0" marL="0">
              <a:spcAft>
                <a:spcPts val="2100"/>
              </a:spcAft>
              <a:buNone/>
            </a:pPr>
            <a:r>
              <a:rPr lang="en-US" sz="6000" dirty="0">
                <a:solidFill>
                  <a:srgbClr val="2A201B"/>
                </a:solidFill>
                <a:latin typeface="Jost"/>
                <a:ea typeface="Jost"/>
                <a:cs typeface="Jost"/>
              </a:rPr>
              <a:t>Say you run a </a:t>
            </a:r>
            <a:pPr algn="l" indent="0" marL="0">
              <a:spcAft>
                <a:spcPts val="2100"/>
              </a:spcAft>
              <a:buNone/>
            </a:pPr>
            <a:r>
              <a:rPr lang="en-US" sz="6000" b="1" dirty="0">
                <a:solidFill>
                  <a:srgbClr val="AD5A6E"/>
                </a:solidFill>
                <a:latin typeface="Jost"/>
                <a:ea typeface="Jost"/>
                <a:cs typeface="Jost"/>
              </a:rPr>
              <a:t>$20</a:t>
            </a:r>
            <a:pPr algn="l" indent="0" marL="0">
              <a:spcAft>
                <a:spcPts val="2100"/>
              </a:spcAft>
              <a:buNone/>
            </a:pPr>
            <a:r>
              <a:rPr lang="en-US" sz="6000" dirty="0">
                <a:solidFill>
                  <a:srgbClr val="2A201B"/>
                </a:solidFill>
                <a:latin typeface="Jost"/>
                <a:ea typeface="Jost"/>
                <a:cs typeface="Jost"/>
              </a:rPr>
              <a:t>-off special for 5 clients a week.</a:t>
            </a:r>
            <a:endParaRPr lang="en-US" sz="6000" dirty="0"/>
          </a:p>
          <a:p>
            <a:pPr algn="l" indent="0" marL="0">
              <a:spcAft>
                <a:spcPts val="2100"/>
              </a:spcAft>
              <a:buNone/>
            </a:pPr>
            <a:r>
              <a:rPr lang="en-US" sz="6000" dirty="0">
                <a:solidFill>
                  <a:srgbClr val="2A201B"/>
                </a:solidFill>
                <a:latin typeface="Jost"/>
                <a:ea typeface="Jost"/>
                <a:cs typeface="Jost"/>
              </a:rPr>
              <a:t>That's </a:t>
            </a:r>
            <a:pPr algn="l" indent="0" marL="0">
              <a:spcAft>
                <a:spcPts val="2100"/>
              </a:spcAft>
              <a:buNone/>
            </a:pPr>
            <a:r>
              <a:rPr lang="en-US" sz="6000" b="1" dirty="0">
                <a:solidFill>
                  <a:srgbClr val="AD5A6E"/>
                </a:solidFill>
                <a:latin typeface="Jost"/>
                <a:ea typeface="Jost"/>
                <a:cs typeface="Jost"/>
              </a:rPr>
              <a:t>$100</a:t>
            </a:r>
            <a:pPr algn="l" indent="0" marL="0">
              <a:spcAft>
                <a:spcPts val="2100"/>
              </a:spcAft>
              <a:buNone/>
            </a:pPr>
            <a:r>
              <a:rPr lang="en-US" sz="6000" dirty="0">
                <a:solidFill>
                  <a:srgbClr val="2A201B"/>
                </a:solidFill>
                <a:latin typeface="Jost"/>
                <a:ea typeface="Jost"/>
                <a:cs typeface="Jost"/>
              </a:rPr>
              <a:t> a week.</a:t>
            </a:r>
            <a:endParaRPr lang="en-US" sz="6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That's </a:t>
            </a:r>
            <a:pPr algn="l" indent="0" marL="0">
              <a:spcAft>
                <a:spcPts val="2100"/>
              </a:spcAft>
              <a:buNone/>
            </a:pPr>
            <a:r>
              <a:rPr lang="en-US" sz="6000" b="1" dirty="0">
                <a:solidFill>
                  <a:srgbClr val="AD5A6E"/>
                </a:solidFill>
                <a:latin typeface="Jost"/>
                <a:ea typeface="Jost"/>
                <a:cs typeface="Jost"/>
              </a:rPr>
              <a:t>$5,200</a:t>
            </a:r>
            <a:pPr algn="l" indent="0" marL="0">
              <a:spcAft>
                <a:spcPts val="2100"/>
              </a:spcAft>
              <a:buNone/>
            </a:pPr>
            <a:r>
              <a:rPr lang="en-US" sz="6000" b="1" dirty="0">
                <a:solidFill>
                  <a:srgbClr val="2A201B"/>
                </a:solidFill>
                <a:latin typeface="Jost"/>
                <a:ea typeface="Jost"/>
                <a:cs typeface="Jost"/>
              </a:rPr>
              <a:t> a year you gave away.</a:t>
            </a:r>
            <a:endParaRPr lang="en-US" sz="6000" dirty="0"/>
          </a:p>
          <a:p>
            <a:pPr algn="l" indent="0" marL="0">
              <a:spcAft>
                <a:spcPts val="2100"/>
              </a:spcAft>
              <a:buNone/>
            </a:pPr>
            <a:r>
              <a:rPr lang="en-US" sz="6000" dirty="0">
                <a:solidFill>
                  <a:srgbClr val="FBF7F1"/>
                </a:solidFill>
                <a:latin typeface="Jost"/>
                <a:ea typeface="Jost"/>
                <a:cs typeface="Jost"/>
              </a:rPr>
              <a:t>And that's just one special.</a:t>
            </a:r>
            <a:endParaRPr lang="en-US" sz="6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That's </a:t>
            </a:r>
            <a:pPr algn="l" indent="0" marL="0">
              <a:spcAft>
                <a:spcPts val="2100"/>
              </a:spcAft>
              <a:buNone/>
            </a:pPr>
            <a:r>
              <a:rPr lang="en-US" sz="6000" b="1" dirty="0">
                <a:solidFill>
                  <a:srgbClr val="AD5A6E"/>
                </a:solidFill>
                <a:latin typeface="Jost"/>
                <a:ea typeface="Jost"/>
                <a:cs typeface="Jost"/>
              </a:rPr>
              <a:t>$5,200</a:t>
            </a:r>
            <a:pPr algn="l" indent="0" marL="0">
              <a:spcAft>
                <a:spcPts val="2100"/>
              </a:spcAft>
              <a:buNone/>
            </a:pPr>
            <a:r>
              <a:rPr lang="en-US" sz="6000" b="1" dirty="0">
                <a:solidFill>
                  <a:srgbClr val="2A201B"/>
                </a:solidFill>
                <a:latin typeface="Jost"/>
                <a:ea typeface="Jost"/>
                <a:cs typeface="Jost"/>
              </a:rPr>
              <a:t> a year you gave away.</a:t>
            </a:r>
            <a:endParaRPr lang="en-US" sz="6000" dirty="0"/>
          </a:p>
          <a:p>
            <a:pPr algn="l" indent="0" marL="0">
              <a:spcAft>
                <a:spcPts val="2100"/>
              </a:spcAft>
              <a:buNone/>
            </a:pPr>
            <a:r>
              <a:rPr lang="en-US" sz="6000" dirty="0">
                <a:solidFill>
                  <a:srgbClr val="2A201B"/>
                </a:solidFill>
                <a:latin typeface="Jost"/>
                <a:ea typeface="Jost"/>
                <a:cs typeface="Jost"/>
              </a:rPr>
              <a:t>And that's just one special.</a:t>
            </a:r>
            <a:endParaRPr lang="en-US" sz="6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Now picture this.</a:t>
            </a:r>
            <a:endParaRPr lang="en-US" sz="5500" dirty="0"/>
          </a:p>
          <a:p>
            <a:pPr algn="l" indent="0" marL="0">
              <a:spcAft>
                <a:spcPts val="1700"/>
              </a:spcAft>
              <a:buNone/>
            </a:pPr>
            <a:r>
              <a:rPr lang="en-US" sz="4800" dirty="0">
                <a:solidFill>
                  <a:srgbClr val="FBF7F1"/>
                </a:solidFill>
                <a:latin typeface="Jost"/>
                <a:ea typeface="Jost"/>
                <a:cs typeface="Jost"/>
              </a:rPr>
              <a:t>A full schedule because the right clients book you, not because you're squeezing them in until 9 at night.</a:t>
            </a:r>
            <a:endParaRPr lang="en-US" sz="4800" dirty="0"/>
          </a:p>
          <a:p>
            <a:pPr algn="l" indent="0" marL="0">
              <a:spcAft>
                <a:spcPts val="1700"/>
              </a:spcAft>
              <a:buNone/>
            </a:pPr>
            <a:r>
              <a:rPr lang="en-US" sz="4800" dirty="0">
                <a:solidFill>
                  <a:srgbClr val="FBF7F1"/>
                </a:solidFill>
                <a:latin typeface="Jost"/>
                <a:ea typeface="Jost"/>
                <a:cs typeface="Jost"/>
              </a:rPr>
              <a:t>Charging what you're worth.</a:t>
            </a:r>
            <a:endParaRPr lang="en-US" sz="4800" dirty="0"/>
          </a:p>
          <a:p>
            <a:pPr algn="l" indent="0" marL="0">
              <a:spcAft>
                <a:spcPts val="1700"/>
              </a:spcAft>
              <a:buNone/>
            </a:pPr>
            <a:r>
              <a:rPr lang="en-US" sz="4800" dirty="0">
                <a:solidFill>
                  <a:srgbClr val="FBF7F1"/>
                </a:solidFill>
                <a:latin typeface="Jost"/>
                <a:ea typeface="Jost"/>
                <a:cs typeface="Jost"/>
              </a:rPr>
              <a:t>And not apologizing for it.</a:t>
            </a:r>
            <a:endParaRPr lang="en-US" sz="4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Now picture this.</a:t>
            </a:r>
            <a:endParaRPr lang="en-US" sz="5500" dirty="0"/>
          </a:p>
          <a:p>
            <a:pPr algn="l" indent="0" marL="0">
              <a:spcAft>
                <a:spcPts val="1700"/>
              </a:spcAft>
              <a:buNone/>
            </a:pPr>
            <a:r>
              <a:rPr lang="en-US" sz="4800" dirty="0">
                <a:solidFill>
                  <a:srgbClr val="2A201B"/>
                </a:solidFill>
                <a:latin typeface="Jost"/>
                <a:ea typeface="Jost"/>
                <a:cs typeface="Jost"/>
              </a:rPr>
              <a:t>A full schedule because the right clients book you, not because you're squeezing them in until 9 at night.</a:t>
            </a:r>
            <a:endParaRPr lang="en-US" sz="4800" dirty="0"/>
          </a:p>
          <a:p>
            <a:pPr algn="l" indent="0" marL="0">
              <a:spcAft>
                <a:spcPts val="1700"/>
              </a:spcAft>
              <a:buNone/>
            </a:pPr>
            <a:r>
              <a:rPr lang="en-US" sz="4800" dirty="0">
                <a:solidFill>
                  <a:srgbClr val="FBF7F1"/>
                </a:solidFill>
                <a:latin typeface="Jost"/>
                <a:ea typeface="Jost"/>
                <a:cs typeface="Jost"/>
              </a:rPr>
              <a:t>Charging what you're worth.</a:t>
            </a:r>
            <a:endParaRPr lang="en-US" sz="4800" dirty="0"/>
          </a:p>
          <a:p>
            <a:pPr algn="l" indent="0" marL="0">
              <a:spcAft>
                <a:spcPts val="1700"/>
              </a:spcAft>
              <a:buNone/>
            </a:pPr>
            <a:r>
              <a:rPr lang="en-US" sz="4800" dirty="0">
                <a:solidFill>
                  <a:srgbClr val="FBF7F1"/>
                </a:solidFill>
                <a:latin typeface="Jost"/>
                <a:ea typeface="Jost"/>
                <a:cs typeface="Jost"/>
              </a:rPr>
              <a:t>And not apologizing for it.</a:t>
            </a:r>
            <a:endParaRPr lang="en-US" sz="4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Now picture this.</a:t>
            </a:r>
            <a:endParaRPr lang="en-US" sz="5500" dirty="0"/>
          </a:p>
          <a:p>
            <a:pPr algn="l" indent="0" marL="0">
              <a:spcAft>
                <a:spcPts val="1700"/>
              </a:spcAft>
              <a:buNone/>
            </a:pPr>
            <a:r>
              <a:rPr lang="en-US" sz="4800" dirty="0">
                <a:solidFill>
                  <a:srgbClr val="2A201B"/>
                </a:solidFill>
                <a:latin typeface="Jost"/>
                <a:ea typeface="Jost"/>
                <a:cs typeface="Jost"/>
              </a:rPr>
              <a:t>A full schedule because the right clients book you, not because you're squeezing them in until 9 at night.</a:t>
            </a:r>
            <a:endParaRPr lang="en-US" sz="4800" dirty="0"/>
          </a:p>
          <a:p>
            <a:pPr algn="l" indent="0" marL="0">
              <a:spcAft>
                <a:spcPts val="1700"/>
              </a:spcAft>
              <a:buNone/>
            </a:pPr>
            <a:r>
              <a:rPr lang="en-US" sz="4800" dirty="0">
                <a:solidFill>
                  <a:srgbClr val="2A201B"/>
                </a:solidFill>
                <a:latin typeface="Jost"/>
                <a:ea typeface="Jost"/>
                <a:cs typeface="Jost"/>
              </a:rPr>
              <a:t>Charging what you're worth.</a:t>
            </a:r>
            <a:endParaRPr lang="en-US" sz="4800" dirty="0"/>
          </a:p>
          <a:p>
            <a:pPr algn="l" indent="0" marL="0">
              <a:spcAft>
                <a:spcPts val="1700"/>
              </a:spcAft>
              <a:buNone/>
            </a:pPr>
            <a:r>
              <a:rPr lang="en-US" sz="4800" dirty="0">
                <a:solidFill>
                  <a:srgbClr val="FBF7F1"/>
                </a:solidFill>
                <a:latin typeface="Jost"/>
                <a:ea typeface="Jost"/>
                <a:cs typeface="Jost"/>
              </a:rPr>
              <a:t>And not apologizing for it.</a:t>
            </a:r>
            <a:endParaRPr lang="en-US" sz="4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Now picture this.</a:t>
            </a:r>
            <a:endParaRPr lang="en-US" sz="5500" dirty="0"/>
          </a:p>
          <a:p>
            <a:pPr algn="l" indent="0" marL="0">
              <a:spcAft>
                <a:spcPts val="1700"/>
              </a:spcAft>
              <a:buNone/>
            </a:pPr>
            <a:r>
              <a:rPr lang="en-US" sz="4800" dirty="0">
                <a:solidFill>
                  <a:srgbClr val="2A201B"/>
                </a:solidFill>
                <a:latin typeface="Jost"/>
                <a:ea typeface="Jost"/>
                <a:cs typeface="Jost"/>
              </a:rPr>
              <a:t>A full schedule because the right clients book you, not because you're squeezing them in until 9 at night.</a:t>
            </a:r>
            <a:endParaRPr lang="en-US" sz="4800" dirty="0"/>
          </a:p>
          <a:p>
            <a:pPr algn="l" indent="0" marL="0">
              <a:spcAft>
                <a:spcPts val="1700"/>
              </a:spcAft>
              <a:buNone/>
            </a:pPr>
            <a:r>
              <a:rPr lang="en-US" sz="4800" dirty="0">
                <a:solidFill>
                  <a:srgbClr val="2A201B"/>
                </a:solidFill>
                <a:latin typeface="Jost"/>
                <a:ea typeface="Jost"/>
                <a:cs typeface="Jost"/>
              </a:rPr>
              <a:t>Charging what you're worth.</a:t>
            </a:r>
            <a:endParaRPr lang="en-US" sz="4800" dirty="0"/>
          </a:p>
          <a:p>
            <a:pPr algn="l" indent="0" marL="0">
              <a:spcAft>
                <a:spcPts val="1700"/>
              </a:spcAft>
              <a:buNone/>
            </a:pPr>
            <a:r>
              <a:rPr lang="en-US" sz="4800" dirty="0">
                <a:solidFill>
                  <a:srgbClr val="2A201B"/>
                </a:solidFill>
                <a:latin typeface="Jost"/>
                <a:ea typeface="Jost"/>
                <a:cs typeface="Jost"/>
              </a:rPr>
              <a:t>And not apologizing for it.</a:t>
            </a:r>
            <a:endParaRPr lang="en-US" sz="4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What would that change for you?</a:t>
            </a:r>
            <a:endParaRPr lang="en-US" sz="6900" dirty="0"/>
          </a:p>
          <a:p>
            <a:pPr algn="l" indent="0" marL="0">
              <a:spcAft>
                <a:spcPts val="2100"/>
              </a:spcAft>
              <a:buNone/>
            </a:pPr>
            <a:r>
              <a:rPr lang="en-US" sz="6000" dirty="0">
                <a:solidFill>
                  <a:srgbClr val="2A201B"/>
                </a:solidFill>
                <a:latin typeface="Jost"/>
                <a:ea typeface="Jost"/>
                <a:cs typeface="Jost"/>
              </a:rPr>
              <a:t>Type it in the chat.</a:t>
            </a:r>
            <a:endParaRPr lang="en-US" sz="6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Here's what you'll see tonight:</a:t>
            </a:r>
            <a:endParaRPr lang="en-US" sz="4100" dirty="0"/>
          </a:p>
          <a:p>
            <a:pPr algn="l" indent="0" marL="0">
              <a:spcAft>
                <a:spcPts val="1300"/>
              </a:spcAft>
              <a:buNone/>
            </a:pPr>
            <a:r>
              <a:rPr lang="en-US" sz="3600" dirty="0">
                <a:solidFill>
                  <a:srgbClr val="2A201B"/>
                </a:solidFill>
                <a:latin typeface="Jost"/>
                <a:ea typeface="Jost"/>
                <a:cs typeface="Jost"/>
              </a:rPr>
              <a:t>The one sentence that tells clients why to choose you</a:t>
            </a:r>
            <a:endParaRPr lang="en-US" sz="3600" dirty="0"/>
          </a:p>
          <a:p>
            <a:pPr algn="l" indent="0" marL="0">
              <a:spcAft>
                <a:spcPts val="1300"/>
              </a:spcAft>
              <a:buNone/>
            </a:pPr>
            <a:r>
              <a:rPr lang="en-US" sz="3600" dirty="0">
                <a:solidFill>
                  <a:srgbClr val="FBF7F1"/>
                </a:solidFill>
                <a:latin typeface="Jost"/>
                <a:ea typeface="Jost"/>
                <a:cs typeface="Jost"/>
              </a:rPr>
              <a:t>The 3 posts that turn strangers into bookings</a:t>
            </a:r>
            <a:endParaRPr lang="en-US" sz="3600" dirty="0"/>
          </a:p>
          <a:p>
            <a:pPr algn="l" indent="0" marL="0">
              <a:spcAft>
                <a:spcPts val="1300"/>
              </a:spcAft>
              <a:buNone/>
            </a:pPr>
            <a:r>
              <a:rPr lang="en-US" sz="3600" dirty="0">
                <a:solidFill>
                  <a:srgbClr val="FBF7F1"/>
                </a:solidFill>
                <a:latin typeface="Jost"/>
                <a:ea typeface="Jost"/>
                <a:cs typeface="Jost"/>
              </a:rPr>
              <a:t>The proof ladder most of us stop at step 1 of</a:t>
            </a:r>
            <a:endParaRPr lang="en-US" sz="3600" dirty="0"/>
          </a:p>
          <a:p>
            <a:pPr algn="l" indent="0" marL="0">
              <a:spcAft>
                <a:spcPts val="1300"/>
              </a:spcAft>
              <a:buNone/>
            </a:pPr>
            <a:r>
              <a:rPr lang="en-US" sz="3600" dirty="0">
                <a:solidFill>
                  <a:srgbClr val="FBF7F1"/>
                </a:solidFill>
                <a:latin typeface="Jost"/>
                <a:ea typeface="Jost"/>
                <a:cs typeface="Jost"/>
              </a:rPr>
              <a:t>The money already walking out my door, with my real numbers</a:t>
            </a:r>
            <a:endParaRPr lang="en-US" sz="3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Here's what you'll see tonight:</a:t>
            </a:r>
            <a:endParaRPr lang="en-US" sz="4100" dirty="0"/>
          </a:p>
          <a:p>
            <a:pPr algn="l" indent="0" marL="0">
              <a:spcAft>
                <a:spcPts val="1300"/>
              </a:spcAft>
              <a:buNone/>
            </a:pPr>
            <a:r>
              <a:rPr lang="en-US" sz="3600" dirty="0">
                <a:solidFill>
                  <a:srgbClr val="2A201B"/>
                </a:solidFill>
                <a:latin typeface="Jost"/>
                <a:ea typeface="Jost"/>
                <a:cs typeface="Jost"/>
              </a:rPr>
              <a:t>The one sentence that tells clients why to choose you</a:t>
            </a:r>
            <a:endParaRPr lang="en-US" sz="3600" dirty="0"/>
          </a:p>
          <a:p>
            <a:pPr algn="l" indent="0" marL="0">
              <a:spcAft>
                <a:spcPts val="1300"/>
              </a:spcAft>
              <a:buNone/>
            </a:pPr>
            <a:r>
              <a:rPr lang="en-US" sz="3600" dirty="0">
                <a:solidFill>
                  <a:srgbClr val="2A201B"/>
                </a:solidFill>
                <a:latin typeface="Jost"/>
                <a:ea typeface="Jost"/>
                <a:cs typeface="Jost"/>
              </a:rPr>
              <a:t>The 3 posts that turn strangers into bookings</a:t>
            </a:r>
            <a:endParaRPr lang="en-US" sz="3600" dirty="0"/>
          </a:p>
          <a:p>
            <a:pPr algn="l" indent="0" marL="0">
              <a:spcAft>
                <a:spcPts val="1300"/>
              </a:spcAft>
              <a:buNone/>
            </a:pPr>
            <a:r>
              <a:rPr lang="en-US" sz="3600" dirty="0">
                <a:solidFill>
                  <a:srgbClr val="FBF7F1"/>
                </a:solidFill>
                <a:latin typeface="Jost"/>
                <a:ea typeface="Jost"/>
                <a:cs typeface="Jost"/>
              </a:rPr>
              <a:t>The proof ladder most of us stop at step 1 of</a:t>
            </a:r>
            <a:endParaRPr lang="en-US" sz="3600" dirty="0"/>
          </a:p>
          <a:p>
            <a:pPr algn="l" indent="0" marL="0">
              <a:spcAft>
                <a:spcPts val="1300"/>
              </a:spcAft>
              <a:buNone/>
            </a:pPr>
            <a:r>
              <a:rPr lang="en-US" sz="3600" dirty="0">
                <a:solidFill>
                  <a:srgbClr val="FBF7F1"/>
                </a:solidFill>
                <a:latin typeface="Jost"/>
                <a:ea typeface="Jost"/>
                <a:cs typeface="Jost"/>
              </a:rPr>
              <a:t>The money already walking out my door, with my real numbers</a:t>
            </a:r>
            <a:endParaRPr lang="en-US" sz="3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Here's what you'll see tonight:</a:t>
            </a:r>
            <a:endParaRPr lang="en-US" sz="4100" dirty="0"/>
          </a:p>
          <a:p>
            <a:pPr algn="l" indent="0" marL="0">
              <a:spcAft>
                <a:spcPts val="1300"/>
              </a:spcAft>
              <a:buNone/>
            </a:pPr>
            <a:r>
              <a:rPr lang="en-US" sz="3600" dirty="0">
                <a:solidFill>
                  <a:srgbClr val="2A201B"/>
                </a:solidFill>
                <a:latin typeface="Jost"/>
                <a:ea typeface="Jost"/>
                <a:cs typeface="Jost"/>
              </a:rPr>
              <a:t>The one sentence that tells clients why to choose you</a:t>
            </a:r>
            <a:endParaRPr lang="en-US" sz="3600" dirty="0"/>
          </a:p>
          <a:p>
            <a:pPr algn="l" indent="0" marL="0">
              <a:spcAft>
                <a:spcPts val="1300"/>
              </a:spcAft>
              <a:buNone/>
            </a:pPr>
            <a:r>
              <a:rPr lang="en-US" sz="3600" dirty="0">
                <a:solidFill>
                  <a:srgbClr val="2A201B"/>
                </a:solidFill>
                <a:latin typeface="Jost"/>
                <a:ea typeface="Jost"/>
                <a:cs typeface="Jost"/>
              </a:rPr>
              <a:t>The 3 posts that turn strangers into bookings</a:t>
            </a:r>
            <a:endParaRPr lang="en-US" sz="3600" dirty="0"/>
          </a:p>
          <a:p>
            <a:pPr algn="l" indent="0" marL="0">
              <a:spcAft>
                <a:spcPts val="1300"/>
              </a:spcAft>
              <a:buNone/>
            </a:pPr>
            <a:r>
              <a:rPr lang="en-US" sz="3600" dirty="0">
                <a:solidFill>
                  <a:srgbClr val="2A201B"/>
                </a:solidFill>
                <a:latin typeface="Jost"/>
                <a:ea typeface="Jost"/>
                <a:cs typeface="Jost"/>
              </a:rPr>
              <a:t>The proof ladder most of us stop at step 1 of</a:t>
            </a:r>
            <a:endParaRPr lang="en-US" sz="3600" dirty="0"/>
          </a:p>
          <a:p>
            <a:pPr algn="l" indent="0" marL="0">
              <a:spcAft>
                <a:spcPts val="1300"/>
              </a:spcAft>
              <a:buNone/>
            </a:pPr>
            <a:r>
              <a:rPr lang="en-US" sz="3600" dirty="0">
                <a:solidFill>
                  <a:srgbClr val="FBF7F1"/>
                </a:solidFill>
                <a:latin typeface="Jost"/>
                <a:ea typeface="Jost"/>
                <a:cs typeface="Jost"/>
              </a:rPr>
              <a:t>The money already walking out my door, with my real numbers</a:t>
            </a:r>
            <a:endParaRPr lang="en-US" sz="36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Here's what you'll see tonight:</a:t>
            </a:r>
            <a:endParaRPr lang="en-US" sz="4100" dirty="0"/>
          </a:p>
          <a:p>
            <a:pPr algn="l" indent="0" marL="0">
              <a:spcAft>
                <a:spcPts val="1300"/>
              </a:spcAft>
              <a:buNone/>
            </a:pPr>
            <a:r>
              <a:rPr lang="en-US" sz="3600" dirty="0">
                <a:solidFill>
                  <a:srgbClr val="2A201B"/>
                </a:solidFill>
                <a:latin typeface="Jost"/>
                <a:ea typeface="Jost"/>
                <a:cs typeface="Jost"/>
              </a:rPr>
              <a:t>The one sentence that tells clients why to choose you</a:t>
            </a:r>
            <a:endParaRPr lang="en-US" sz="3600" dirty="0"/>
          </a:p>
          <a:p>
            <a:pPr algn="l" indent="0" marL="0">
              <a:spcAft>
                <a:spcPts val="1300"/>
              </a:spcAft>
              <a:buNone/>
            </a:pPr>
            <a:r>
              <a:rPr lang="en-US" sz="3600" dirty="0">
                <a:solidFill>
                  <a:srgbClr val="2A201B"/>
                </a:solidFill>
                <a:latin typeface="Jost"/>
                <a:ea typeface="Jost"/>
                <a:cs typeface="Jost"/>
              </a:rPr>
              <a:t>The 3 posts that turn strangers into bookings</a:t>
            </a:r>
            <a:endParaRPr lang="en-US" sz="3600" dirty="0"/>
          </a:p>
          <a:p>
            <a:pPr algn="l" indent="0" marL="0">
              <a:spcAft>
                <a:spcPts val="1300"/>
              </a:spcAft>
              <a:buNone/>
            </a:pPr>
            <a:r>
              <a:rPr lang="en-US" sz="3600" dirty="0">
                <a:solidFill>
                  <a:srgbClr val="2A201B"/>
                </a:solidFill>
                <a:latin typeface="Jost"/>
                <a:ea typeface="Jost"/>
                <a:cs typeface="Jost"/>
              </a:rPr>
              <a:t>The proof ladder most of us stop at step 1 of</a:t>
            </a:r>
            <a:endParaRPr lang="en-US" sz="3600" dirty="0"/>
          </a:p>
          <a:p>
            <a:pPr algn="l" indent="0" marL="0">
              <a:spcAft>
                <a:spcPts val="1300"/>
              </a:spcAft>
              <a:buNone/>
            </a:pPr>
            <a:r>
              <a:rPr lang="en-US" sz="3600" dirty="0">
                <a:solidFill>
                  <a:srgbClr val="2A201B"/>
                </a:solidFill>
                <a:latin typeface="Jost"/>
                <a:ea typeface="Jost"/>
                <a:cs typeface="Jost"/>
              </a:rPr>
              <a:t>The money already walking out my door, with my real numbers</a:t>
            </a:r>
            <a:endParaRPr lang="en-US" sz="3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57</a:t>
            </a:r>
            <a:endParaRPr lang="en-US" sz="1000" dirty="0"/>
          </a:p>
        </p:txBody>
      </p:sp>
      <p:sp>
        <p:nvSpPr>
          <p:cNvPr id="4" name="Text 1"/>
          <p:cNvSpPr txBox="1"/>
          <p:nvPr/>
        </p:nvSpPr>
        <p:spPr>
          <a:xfrm>
            <a:off x="731520" y="548640"/>
            <a:ext cx="10728655" cy="1005840"/>
          </a:xfrm>
          <a:prstGeom prst="rect">
            <a:avLst/>
          </a:prstGeom>
          <a:noFill/>
          <a:ln/>
        </p:spPr>
        <p:txBody>
          <a:bodyPr wrap="square" lIns="0" tIns="0" rIns="0" bIns="0" rtlCol="0" anchor="ctr"/>
          <a:lstStyle/>
          <a:p>
            <a:pPr indent="0" marL="0">
              <a:buNone/>
            </a:pPr>
            <a:r>
              <a:rPr lang="en-US" sz="4000" b="1" dirty="0">
                <a:solidFill>
                  <a:srgbClr val="2A201B"/>
                </a:solidFill>
                <a:latin typeface="Jost"/>
                <a:ea typeface="Jost"/>
                <a:cs typeface="Jost"/>
              </a:rPr>
              <a:t>Here are the same 3 steps I walk every mentee through.</a:t>
            </a:r>
            <a:endParaRPr lang="en-US" sz="4000" dirty="0"/>
          </a:p>
        </p:txBody>
      </p:sp>
      <p:sp>
        <p:nvSpPr>
          <p:cNvPr id="5" name="Shape 2"/>
          <p:cNvSpPr/>
          <p:nvPr/>
        </p:nvSpPr>
        <p:spPr>
          <a:xfrm>
            <a:off x="731520" y="1920240"/>
            <a:ext cx="640080" cy="640080"/>
          </a:xfrm>
          <a:prstGeom prst="ellipse">
            <a:avLst/>
          </a:prstGeom>
          <a:solidFill>
            <a:srgbClr val="FBF7F1"/>
          </a:solidFill>
          <a:ln w="12700">
            <a:solidFill>
              <a:srgbClr val="FBF7F1"/>
            </a:solidFill>
            <a:prstDash val="solid"/>
          </a:ln>
        </p:spPr>
      </p:sp>
      <p:sp>
        <p:nvSpPr>
          <p:cNvPr id="6"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1</a:t>
            </a:r>
            <a:endParaRPr lang="en-US" sz="2200" dirty="0"/>
          </a:p>
        </p:txBody>
      </p:sp>
      <p:sp>
        <p:nvSpPr>
          <p:cNvPr id="7" name="Text 4"/>
          <p:cNvSpPr txBox="1"/>
          <p:nvPr/>
        </p:nvSpPr>
        <p:spPr>
          <a:xfrm>
            <a:off x="1828800" y="182880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1: Position yourself so clients know why to choose you</a:t>
            </a:r>
            <a:endParaRPr lang="en-US" sz="3400" dirty="0"/>
          </a:p>
        </p:txBody>
      </p:sp>
      <p:sp>
        <p:nvSpPr>
          <p:cNvPr id="8" name="Shape 5"/>
          <p:cNvSpPr/>
          <p:nvPr/>
        </p:nvSpPr>
        <p:spPr>
          <a:xfrm>
            <a:off x="731520" y="3246120"/>
            <a:ext cx="640080" cy="640080"/>
          </a:xfrm>
          <a:prstGeom prst="ellipse">
            <a:avLst/>
          </a:prstGeom>
          <a:solidFill>
            <a:srgbClr val="FBF7F1"/>
          </a:solidFill>
          <a:ln w="12700">
            <a:solidFill>
              <a:srgbClr val="FBF7F1"/>
            </a:solidFill>
            <a:prstDash val="solid"/>
          </a:ln>
        </p:spPr>
      </p:sp>
      <p:sp>
        <p:nvSpPr>
          <p:cNvPr id="9" name="Text 6"/>
          <p:cNvSpPr txBox="1"/>
          <p:nvPr/>
        </p:nvSpPr>
        <p:spPr>
          <a:xfrm>
            <a:off x="731520" y="3246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2</a:t>
            </a:r>
            <a:endParaRPr lang="en-US" sz="2200" dirty="0"/>
          </a:p>
        </p:txBody>
      </p:sp>
      <p:sp>
        <p:nvSpPr>
          <p:cNvPr id="10" name="Text 7"/>
          <p:cNvSpPr txBox="1"/>
          <p:nvPr/>
        </p:nvSpPr>
        <p:spPr>
          <a:xfrm>
            <a:off x="1828800" y="315468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2: Post the 3 kinds of content</a:t>
            </a:r>
            <a:endParaRPr lang="en-US" sz="3400" dirty="0"/>
          </a:p>
        </p:txBody>
      </p:sp>
      <p:sp>
        <p:nvSpPr>
          <p:cNvPr id="11" name="Shape 8"/>
          <p:cNvSpPr/>
          <p:nvPr/>
        </p:nvSpPr>
        <p:spPr>
          <a:xfrm>
            <a:off x="731520" y="4572000"/>
            <a:ext cx="640080" cy="640080"/>
          </a:xfrm>
          <a:prstGeom prst="ellipse">
            <a:avLst/>
          </a:prstGeom>
          <a:solidFill>
            <a:srgbClr val="FBF7F1"/>
          </a:solidFill>
          <a:ln w="12700">
            <a:solidFill>
              <a:srgbClr val="FBF7F1"/>
            </a:solidFill>
            <a:prstDash val="solid"/>
          </a:ln>
        </p:spPr>
      </p:sp>
      <p:sp>
        <p:nvSpPr>
          <p:cNvPr id="12" name="Text 9"/>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3" name="Text 10"/>
          <p:cNvSpPr txBox="1"/>
          <p:nvPr/>
        </p:nvSpPr>
        <p:spPr>
          <a:xfrm>
            <a:off x="1828800" y="448056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3: Find your next revenue opportunity</a:t>
            </a:r>
            <a:endParaRPr lang="en-US" sz="3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57</a:t>
            </a:r>
            <a:endParaRPr lang="en-US" sz="1000" dirty="0"/>
          </a:p>
        </p:txBody>
      </p:sp>
      <p:sp>
        <p:nvSpPr>
          <p:cNvPr id="4" name="Text 1"/>
          <p:cNvSpPr txBox="1"/>
          <p:nvPr/>
        </p:nvSpPr>
        <p:spPr>
          <a:xfrm>
            <a:off x="731520" y="548640"/>
            <a:ext cx="10728655" cy="1005840"/>
          </a:xfrm>
          <a:prstGeom prst="rect">
            <a:avLst/>
          </a:prstGeom>
          <a:noFill/>
          <a:ln/>
        </p:spPr>
        <p:txBody>
          <a:bodyPr wrap="square" lIns="0" tIns="0" rIns="0" bIns="0" rtlCol="0" anchor="ctr"/>
          <a:lstStyle/>
          <a:p>
            <a:pPr indent="0" marL="0">
              <a:buNone/>
            </a:pPr>
            <a:r>
              <a:rPr lang="en-US" sz="4000" b="1" dirty="0">
                <a:solidFill>
                  <a:srgbClr val="2A201B"/>
                </a:solidFill>
                <a:latin typeface="Jost"/>
                <a:ea typeface="Jost"/>
                <a:cs typeface="Jost"/>
              </a:rPr>
              <a:t>Here are the same 3 steps I walk every mentee through.</a:t>
            </a:r>
            <a:endParaRPr lang="en-US" sz="4000" dirty="0"/>
          </a:p>
        </p:txBody>
      </p:sp>
      <p:sp>
        <p:nvSpPr>
          <p:cNvPr id="5" name="Shape 2"/>
          <p:cNvSpPr/>
          <p:nvPr/>
        </p:nvSpPr>
        <p:spPr>
          <a:xfrm>
            <a:off x="731520" y="1920240"/>
            <a:ext cx="640080" cy="640080"/>
          </a:xfrm>
          <a:prstGeom prst="ellipse">
            <a:avLst/>
          </a:prstGeom>
          <a:solidFill>
            <a:srgbClr val="2A201B"/>
          </a:solidFill>
          <a:ln w="12700">
            <a:solidFill>
              <a:srgbClr val="AD5A6E"/>
            </a:solidFill>
            <a:prstDash val="solid"/>
          </a:ln>
        </p:spPr>
      </p:sp>
      <p:sp>
        <p:nvSpPr>
          <p:cNvPr id="6"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1</a:t>
            </a:r>
            <a:endParaRPr lang="en-US" sz="2200" dirty="0"/>
          </a:p>
        </p:txBody>
      </p:sp>
      <p:sp>
        <p:nvSpPr>
          <p:cNvPr id="7" name="Text 4"/>
          <p:cNvSpPr txBox="1"/>
          <p:nvPr/>
        </p:nvSpPr>
        <p:spPr>
          <a:xfrm>
            <a:off x="1828800" y="182880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1: Position yourself so clients know why to choose you</a:t>
            </a:r>
            <a:endParaRPr lang="en-US" sz="3400" dirty="0"/>
          </a:p>
        </p:txBody>
      </p:sp>
      <p:sp>
        <p:nvSpPr>
          <p:cNvPr id="8" name="Shape 5"/>
          <p:cNvSpPr/>
          <p:nvPr/>
        </p:nvSpPr>
        <p:spPr>
          <a:xfrm>
            <a:off x="731520" y="3246120"/>
            <a:ext cx="640080" cy="640080"/>
          </a:xfrm>
          <a:prstGeom prst="ellipse">
            <a:avLst/>
          </a:prstGeom>
          <a:solidFill>
            <a:srgbClr val="FBF7F1"/>
          </a:solidFill>
          <a:ln w="12700">
            <a:solidFill>
              <a:srgbClr val="FBF7F1"/>
            </a:solidFill>
            <a:prstDash val="solid"/>
          </a:ln>
        </p:spPr>
      </p:sp>
      <p:sp>
        <p:nvSpPr>
          <p:cNvPr id="9" name="Text 6"/>
          <p:cNvSpPr txBox="1"/>
          <p:nvPr/>
        </p:nvSpPr>
        <p:spPr>
          <a:xfrm>
            <a:off x="731520" y="3246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2</a:t>
            </a:r>
            <a:endParaRPr lang="en-US" sz="2200" dirty="0"/>
          </a:p>
        </p:txBody>
      </p:sp>
      <p:sp>
        <p:nvSpPr>
          <p:cNvPr id="10" name="Text 7"/>
          <p:cNvSpPr txBox="1"/>
          <p:nvPr/>
        </p:nvSpPr>
        <p:spPr>
          <a:xfrm>
            <a:off x="1828800" y="315468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2: Post the 3 kinds of content</a:t>
            </a:r>
            <a:endParaRPr lang="en-US" sz="3400" dirty="0"/>
          </a:p>
        </p:txBody>
      </p:sp>
      <p:sp>
        <p:nvSpPr>
          <p:cNvPr id="11" name="Shape 8"/>
          <p:cNvSpPr/>
          <p:nvPr/>
        </p:nvSpPr>
        <p:spPr>
          <a:xfrm>
            <a:off x="731520" y="4572000"/>
            <a:ext cx="640080" cy="640080"/>
          </a:xfrm>
          <a:prstGeom prst="ellipse">
            <a:avLst/>
          </a:prstGeom>
          <a:solidFill>
            <a:srgbClr val="FBF7F1"/>
          </a:solidFill>
          <a:ln w="12700">
            <a:solidFill>
              <a:srgbClr val="FBF7F1"/>
            </a:solidFill>
            <a:prstDash val="solid"/>
          </a:ln>
        </p:spPr>
      </p:sp>
      <p:sp>
        <p:nvSpPr>
          <p:cNvPr id="12" name="Text 9"/>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3" name="Text 10"/>
          <p:cNvSpPr txBox="1"/>
          <p:nvPr/>
        </p:nvSpPr>
        <p:spPr>
          <a:xfrm>
            <a:off x="1828800" y="448056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3: Find your next revenue opportunity</a:t>
            </a:r>
            <a:endParaRPr lang="en-US" sz="3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57</a:t>
            </a:r>
            <a:endParaRPr lang="en-US" sz="1000" dirty="0"/>
          </a:p>
        </p:txBody>
      </p:sp>
      <p:sp>
        <p:nvSpPr>
          <p:cNvPr id="4" name="Text 1"/>
          <p:cNvSpPr txBox="1"/>
          <p:nvPr/>
        </p:nvSpPr>
        <p:spPr>
          <a:xfrm>
            <a:off x="731520" y="548640"/>
            <a:ext cx="10728655" cy="1005840"/>
          </a:xfrm>
          <a:prstGeom prst="rect">
            <a:avLst/>
          </a:prstGeom>
          <a:noFill/>
          <a:ln/>
        </p:spPr>
        <p:txBody>
          <a:bodyPr wrap="square" lIns="0" tIns="0" rIns="0" bIns="0" rtlCol="0" anchor="ctr"/>
          <a:lstStyle/>
          <a:p>
            <a:pPr indent="0" marL="0">
              <a:buNone/>
            </a:pPr>
            <a:r>
              <a:rPr lang="en-US" sz="4000" b="1" dirty="0">
                <a:solidFill>
                  <a:srgbClr val="2A201B"/>
                </a:solidFill>
                <a:latin typeface="Jost"/>
                <a:ea typeface="Jost"/>
                <a:cs typeface="Jost"/>
              </a:rPr>
              <a:t>Here are the same 3 steps I walk every mentee through.</a:t>
            </a:r>
            <a:endParaRPr lang="en-US" sz="4000" dirty="0"/>
          </a:p>
        </p:txBody>
      </p:sp>
      <p:sp>
        <p:nvSpPr>
          <p:cNvPr id="5" name="Shape 2"/>
          <p:cNvSpPr/>
          <p:nvPr/>
        </p:nvSpPr>
        <p:spPr>
          <a:xfrm>
            <a:off x="731520" y="1920240"/>
            <a:ext cx="640080" cy="640080"/>
          </a:xfrm>
          <a:prstGeom prst="ellipse">
            <a:avLst/>
          </a:prstGeom>
          <a:solidFill>
            <a:srgbClr val="2A201B"/>
          </a:solidFill>
          <a:ln w="12700">
            <a:solidFill>
              <a:srgbClr val="AD5A6E"/>
            </a:solidFill>
            <a:prstDash val="solid"/>
          </a:ln>
        </p:spPr>
      </p:sp>
      <p:sp>
        <p:nvSpPr>
          <p:cNvPr id="6"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1</a:t>
            </a:r>
            <a:endParaRPr lang="en-US" sz="2200" dirty="0"/>
          </a:p>
        </p:txBody>
      </p:sp>
      <p:sp>
        <p:nvSpPr>
          <p:cNvPr id="7" name="Text 4"/>
          <p:cNvSpPr txBox="1"/>
          <p:nvPr/>
        </p:nvSpPr>
        <p:spPr>
          <a:xfrm>
            <a:off x="1828800" y="182880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1: Position yourself so clients know why to choose you</a:t>
            </a:r>
            <a:endParaRPr lang="en-US" sz="3400" dirty="0"/>
          </a:p>
        </p:txBody>
      </p:sp>
      <p:sp>
        <p:nvSpPr>
          <p:cNvPr id="8" name="Shape 5"/>
          <p:cNvSpPr/>
          <p:nvPr/>
        </p:nvSpPr>
        <p:spPr>
          <a:xfrm>
            <a:off x="731520" y="3246120"/>
            <a:ext cx="640080" cy="640080"/>
          </a:xfrm>
          <a:prstGeom prst="ellipse">
            <a:avLst/>
          </a:prstGeom>
          <a:solidFill>
            <a:srgbClr val="2A201B"/>
          </a:solidFill>
          <a:ln w="12700">
            <a:solidFill>
              <a:srgbClr val="AD5A6E"/>
            </a:solidFill>
            <a:prstDash val="solid"/>
          </a:ln>
        </p:spPr>
      </p:sp>
      <p:sp>
        <p:nvSpPr>
          <p:cNvPr id="9" name="Text 6"/>
          <p:cNvSpPr txBox="1"/>
          <p:nvPr/>
        </p:nvSpPr>
        <p:spPr>
          <a:xfrm>
            <a:off x="731520" y="3246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2</a:t>
            </a:r>
            <a:endParaRPr lang="en-US" sz="2200" dirty="0"/>
          </a:p>
        </p:txBody>
      </p:sp>
      <p:sp>
        <p:nvSpPr>
          <p:cNvPr id="10" name="Text 7"/>
          <p:cNvSpPr txBox="1"/>
          <p:nvPr/>
        </p:nvSpPr>
        <p:spPr>
          <a:xfrm>
            <a:off x="1828800" y="315468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2: Post the 3 kinds of content</a:t>
            </a:r>
            <a:endParaRPr lang="en-US" sz="3400" dirty="0"/>
          </a:p>
        </p:txBody>
      </p:sp>
      <p:sp>
        <p:nvSpPr>
          <p:cNvPr id="11" name="Shape 8"/>
          <p:cNvSpPr/>
          <p:nvPr/>
        </p:nvSpPr>
        <p:spPr>
          <a:xfrm>
            <a:off x="731520" y="4572000"/>
            <a:ext cx="640080" cy="640080"/>
          </a:xfrm>
          <a:prstGeom prst="ellipse">
            <a:avLst/>
          </a:prstGeom>
          <a:solidFill>
            <a:srgbClr val="FBF7F1"/>
          </a:solidFill>
          <a:ln w="12700">
            <a:solidFill>
              <a:srgbClr val="FBF7F1"/>
            </a:solidFill>
            <a:prstDash val="solid"/>
          </a:ln>
        </p:spPr>
      </p:sp>
      <p:sp>
        <p:nvSpPr>
          <p:cNvPr id="12" name="Text 9"/>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3" name="Text 10"/>
          <p:cNvSpPr txBox="1"/>
          <p:nvPr/>
        </p:nvSpPr>
        <p:spPr>
          <a:xfrm>
            <a:off x="1828800" y="4480560"/>
            <a:ext cx="9631375" cy="822960"/>
          </a:xfrm>
          <a:prstGeom prst="rect">
            <a:avLst/>
          </a:prstGeom>
          <a:noFill/>
          <a:ln/>
        </p:spPr>
        <p:txBody>
          <a:bodyPr wrap="square" lIns="0" tIns="0" rIns="0" bIns="0" rtlCol="0" anchor="ctr"/>
          <a:lstStyle/>
          <a:p>
            <a:pPr indent="0" marL="0">
              <a:buNone/>
            </a:pPr>
            <a:r>
              <a:rPr lang="en-US" sz="3400" b="1" dirty="0">
                <a:solidFill>
                  <a:srgbClr val="FBF7F1"/>
                </a:solidFill>
                <a:latin typeface="Jost"/>
                <a:ea typeface="Jost"/>
                <a:cs typeface="Jost"/>
              </a:rPr>
              <a:t>Step 3: Find your next revenue opportunity</a:t>
            </a:r>
            <a:endParaRPr lang="en-US" sz="3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57</a:t>
            </a:r>
            <a:endParaRPr lang="en-US" sz="1000" dirty="0"/>
          </a:p>
        </p:txBody>
      </p:sp>
      <p:sp>
        <p:nvSpPr>
          <p:cNvPr id="4" name="Text 1"/>
          <p:cNvSpPr txBox="1"/>
          <p:nvPr/>
        </p:nvSpPr>
        <p:spPr>
          <a:xfrm>
            <a:off x="731520" y="548640"/>
            <a:ext cx="10728655" cy="1005840"/>
          </a:xfrm>
          <a:prstGeom prst="rect">
            <a:avLst/>
          </a:prstGeom>
          <a:noFill/>
          <a:ln/>
        </p:spPr>
        <p:txBody>
          <a:bodyPr wrap="square" lIns="0" tIns="0" rIns="0" bIns="0" rtlCol="0" anchor="ctr"/>
          <a:lstStyle/>
          <a:p>
            <a:pPr indent="0" marL="0">
              <a:buNone/>
            </a:pPr>
            <a:r>
              <a:rPr lang="en-US" sz="4000" b="1" dirty="0">
                <a:solidFill>
                  <a:srgbClr val="2A201B"/>
                </a:solidFill>
                <a:latin typeface="Jost"/>
                <a:ea typeface="Jost"/>
                <a:cs typeface="Jost"/>
              </a:rPr>
              <a:t>Here are the same 3 steps I walk every mentee through.</a:t>
            </a:r>
            <a:endParaRPr lang="en-US" sz="4000" dirty="0"/>
          </a:p>
        </p:txBody>
      </p:sp>
      <p:sp>
        <p:nvSpPr>
          <p:cNvPr id="5" name="Shape 2"/>
          <p:cNvSpPr/>
          <p:nvPr/>
        </p:nvSpPr>
        <p:spPr>
          <a:xfrm>
            <a:off x="731520" y="1920240"/>
            <a:ext cx="640080" cy="640080"/>
          </a:xfrm>
          <a:prstGeom prst="ellipse">
            <a:avLst/>
          </a:prstGeom>
          <a:solidFill>
            <a:srgbClr val="2A201B"/>
          </a:solidFill>
          <a:ln w="12700">
            <a:solidFill>
              <a:srgbClr val="AD5A6E"/>
            </a:solidFill>
            <a:prstDash val="solid"/>
          </a:ln>
        </p:spPr>
      </p:sp>
      <p:sp>
        <p:nvSpPr>
          <p:cNvPr id="6"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1</a:t>
            </a:r>
            <a:endParaRPr lang="en-US" sz="2200" dirty="0"/>
          </a:p>
        </p:txBody>
      </p:sp>
      <p:sp>
        <p:nvSpPr>
          <p:cNvPr id="7" name="Text 4"/>
          <p:cNvSpPr txBox="1"/>
          <p:nvPr/>
        </p:nvSpPr>
        <p:spPr>
          <a:xfrm>
            <a:off x="1828800" y="182880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1: Position yourself so clients know why to choose you</a:t>
            </a:r>
            <a:endParaRPr lang="en-US" sz="3400" dirty="0"/>
          </a:p>
        </p:txBody>
      </p:sp>
      <p:sp>
        <p:nvSpPr>
          <p:cNvPr id="8" name="Shape 5"/>
          <p:cNvSpPr/>
          <p:nvPr/>
        </p:nvSpPr>
        <p:spPr>
          <a:xfrm>
            <a:off x="731520" y="3246120"/>
            <a:ext cx="640080" cy="640080"/>
          </a:xfrm>
          <a:prstGeom prst="ellipse">
            <a:avLst/>
          </a:prstGeom>
          <a:solidFill>
            <a:srgbClr val="2A201B"/>
          </a:solidFill>
          <a:ln w="12700">
            <a:solidFill>
              <a:srgbClr val="AD5A6E"/>
            </a:solidFill>
            <a:prstDash val="solid"/>
          </a:ln>
        </p:spPr>
      </p:sp>
      <p:sp>
        <p:nvSpPr>
          <p:cNvPr id="9" name="Text 6"/>
          <p:cNvSpPr txBox="1"/>
          <p:nvPr/>
        </p:nvSpPr>
        <p:spPr>
          <a:xfrm>
            <a:off x="731520" y="3246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2</a:t>
            </a:r>
            <a:endParaRPr lang="en-US" sz="2200" dirty="0"/>
          </a:p>
        </p:txBody>
      </p:sp>
      <p:sp>
        <p:nvSpPr>
          <p:cNvPr id="10" name="Text 7"/>
          <p:cNvSpPr txBox="1"/>
          <p:nvPr/>
        </p:nvSpPr>
        <p:spPr>
          <a:xfrm>
            <a:off x="1828800" y="315468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2: Post the 3 kinds of content</a:t>
            </a:r>
            <a:endParaRPr lang="en-US" sz="3400" dirty="0"/>
          </a:p>
        </p:txBody>
      </p:sp>
      <p:sp>
        <p:nvSpPr>
          <p:cNvPr id="11" name="Shape 8"/>
          <p:cNvSpPr/>
          <p:nvPr/>
        </p:nvSpPr>
        <p:spPr>
          <a:xfrm>
            <a:off x="731520" y="4572000"/>
            <a:ext cx="640080" cy="640080"/>
          </a:xfrm>
          <a:prstGeom prst="ellipse">
            <a:avLst/>
          </a:prstGeom>
          <a:solidFill>
            <a:srgbClr val="2A201B"/>
          </a:solidFill>
          <a:ln w="12700">
            <a:solidFill>
              <a:srgbClr val="AD5A6E"/>
            </a:solidFill>
            <a:prstDash val="solid"/>
          </a:ln>
        </p:spPr>
      </p:sp>
      <p:sp>
        <p:nvSpPr>
          <p:cNvPr id="12" name="Text 9"/>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3" name="Text 10"/>
          <p:cNvSpPr txBox="1"/>
          <p:nvPr/>
        </p:nvSpPr>
        <p:spPr>
          <a:xfrm>
            <a:off x="1828800" y="4480560"/>
            <a:ext cx="9631375" cy="822960"/>
          </a:xfrm>
          <a:prstGeom prst="rect">
            <a:avLst/>
          </a:prstGeom>
          <a:noFill/>
          <a:ln/>
        </p:spPr>
        <p:txBody>
          <a:bodyPr wrap="square" lIns="0" tIns="0" rIns="0" bIns="0" rtlCol="0" anchor="ctr"/>
          <a:lstStyle/>
          <a:p>
            <a:pPr indent="0" marL="0">
              <a:buNone/>
            </a:pPr>
            <a:r>
              <a:rPr lang="en-US" sz="3400" b="1" dirty="0">
                <a:solidFill>
                  <a:srgbClr val="2A201B"/>
                </a:solidFill>
                <a:latin typeface="Jost"/>
                <a:ea typeface="Jost"/>
                <a:cs typeface="Jost"/>
              </a:rPr>
              <a:t>Step 3: Find your next revenue opportunity</a:t>
            </a:r>
            <a:endParaRPr lang="en-US" sz="3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58</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900"/>
              </a:spcAft>
              <a:buNone/>
            </a:pPr>
            <a:r>
              <a:rPr lang="en-US" sz="6200" b="1" dirty="0">
                <a:solidFill>
                  <a:srgbClr val="2A201B"/>
                </a:solidFill>
                <a:latin typeface="Cormorant Garamond"/>
                <a:ea typeface="Cormorant Garamond"/>
                <a:cs typeface="Cormorant Garamond"/>
              </a:rPr>
              <a:t>If these make sense, will you actually try them?</a:t>
            </a:r>
            <a:endParaRPr lang="en-US" sz="62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I'M IN</a:t>
            </a:r>
            <a:endParaRPr lang="en-US" sz="4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59</a:t>
            </a:r>
            <a:endParaRPr lang="en-US" sz="1000" dirty="0"/>
          </a:p>
        </p:txBody>
      </p:sp>
      <p:sp>
        <p:nvSpPr>
          <p:cNvPr id="4" name="Shape 1"/>
          <p:cNvSpPr/>
          <p:nvPr/>
        </p:nvSpPr>
        <p:spPr>
          <a:xfrm>
            <a:off x="731520" y="731520"/>
            <a:ext cx="822960" cy="822960"/>
          </a:xfrm>
          <a:prstGeom prst="ellipse">
            <a:avLst/>
          </a:prstGeom>
          <a:solidFill>
            <a:srgbClr val="AD5A6E"/>
          </a:solidFill>
          <a:ln w="12700">
            <a:solidFill>
              <a:srgbClr val="AD5A6E"/>
            </a:solidFill>
            <a:prstDash val="solid"/>
          </a:ln>
        </p:spPr>
      </p:sp>
      <p:sp>
        <p:nvSpPr>
          <p:cNvPr id="5" name="Text 2"/>
          <p:cNvSpPr txBox="1"/>
          <p:nvPr/>
        </p:nvSpPr>
        <p:spPr>
          <a:xfrm>
            <a:off x="731520" y="731520"/>
            <a:ext cx="822960" cy="822960"/>
          </a:xfrm>
          <a:prstGeom prst="rect">
            <a:avLst/>
          </a:prstGeom>
          <a:noFill/>
          <a:ln/>
        </p:spPr>
        <p:txBody>
          <a:bodyPr wrap="square" lIns="0" tIns="0" rIns="0" bIns="0" rtlCol="0" anchor="ctr"/>
          <a:lstStyle/>
          <a:p>
            <a:pPr algn="ctr" indent="0" marL="0">
              <a:buNone/>
            </a:pPr>
            <a:r>
              <a:rPr lang="en-US" sz="3000" b="1" dirty="0">
                <a:solidFill>
                  <a:srgbClr val="FBF7F1"/>
                </a:solidFill>
                <a:latin typeface="Jost"/>
                <a:ea typeface="Jost"/>
                <a:cs typeface="Jost"/>
              </a:rPr>
              <a:t>1</a:t>
            </a:r>
            <a:endParaRPr lang="en-US" sz="3000" dirty="0"/>
          </a:p>
        </p:txBody>
      </p:sp>
      <p:sp>
        <p:nvSpPr>
          <p:cNvPr id="6" name="Text 3"/>
          <p:cNvSpPr txBox="1"/>
          <p:nvPr/>
        </p:nvSpPr>
        <p:spPr>
          <a:xfrm>
            <a:off x="1828800" y="411480"/>
            <a:ext cx="9631375" cy="1463040"/>
          </a:xfrm>
          <a:prstGeom prst="rect">
            <a:avLst/>
          </a:prstGeom>
          <a:noFill/>
          <a:ln/>
        </p:spPr>
        <p:txBody>
          <a:bodyPr wrap="square" lIns="0" tIns="0" rIns="0" bIns="0" rtlCol="0" anchor="ctr"/>
          <a:lstStyle/>
          <a:p>
            <a:pPr indent="0" marL="0">
              <a:buNone/>
            </a:pPr>
            <a:r>
              <a:rPr lang="en-US" sz="4000" b="1" dirty="0">
                <a:solidFill>
                  <a:srgbClr val="AD5A6E"/>
                </a:solidFill>
                <a:latin typeface="Jost"/>
                <a:ea typeface="Jost"/>
                <a:cs typeface="Jost"/>
              </a:rPr>
              <a:t>Step 1: Position yourself so clients know why to choose you</a:t>
            </a:r>
            <a:endParaRPr lang="en-US" sz="4000" dirty="0"/>
          </a:p>
        </p:txBody>
      </p:sp>
      <p:sp>
        <p:nvSpPr>
          <p:cNvPr id="7" name="Shape 4"/>
          <p:cNvSpPr/>
          <p:nvPr/>
        </p:nvSpPr>
        <p:spPr>
          <a:xfrm>
            <a:off x="731520" y="2606040"/>
            <a:ext cx="640080" cy="640080"/>
          </a:xfrm>
          <a:prstGeom prst="ellipse">
            <a:avLst/>
          </a:prstGeom>
          <a:solidFill>
            <a:srgbClr val="F4EBE1"/>
          </a:solidFill>
          <a:ln w="12700">
            <a:solidFill>
              <a:srgbClr val="E4D6C7"/>
            </a:solidFill>
            <a:prstDash val="solid"/>
          </a:ln>
        </p:spPr>
      </p:sp>
      <p:sp>
        <p:nvSpPr>
          <p:cNvPr id="8" name="Text 5"/>
          <p:cNvSpPr txBox="1"/>
          <p:nvPr/>
        </p:nvSpPr>
        <p:spPr>
          <a:xfrm>
            <a:off x="731520" y="26060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2</a:t>
            </a:r>
            <a:endParaRPr lang="en-US" sz="2200" dirty="0"/>
          </a:p>
        </p:txBody>
      </p:sp>
      <p:sp>
        <p:nvSpPr>
          <p:cNvPr id="9" name="Text 6"/>
          <p:cNvSpPr txBox="1"/>
          <p:nvPr/>
        </p:nvSpPr>
        <p:spPr>
          <a:xfrm>
            <a:off x="1828800" y="2514600"/>
            <a:ext cx="9631375" cy="822960"/>
          </a:xfrm>
          <a:prstGeom prst="rect">
            <a:avLst/>
          </a:prstGeom>
          <a:noFill/>
          <a:ln/>
        </p:spPr>
        <p:txBody>
          <a:bodyPr wrap="square" lIns="0" tIns="0" rIns="0" bIns="0" rtlCol="0" anchor="ctr"/>
          <a:lstStyle/>
          <a:p>
            <a:pPr indent="0" marL="0">
              <a:buNone/>
            </a:pPr>
            <a:r>
              <a:rPr lang="en-US" sz="3000" dirty="0">
                <a:solidFill>
                  <a:srgbClr val="8F7B6E"/>
                </a:solidFill>
                <a:latin typeface="Jost"/>
                <a:ea typeface="Jost"/>
                <a:cs typeface="Jost"/>
              </a:rPr>
              <a:t>Step 2: Post the 3 kinds of content</a:t>
            </a:r>
            <a:endParaRPr lang="en-US" sz="3000" dirty="0"/>
          </a:p>
        </p:txBody>
      </p:sp>
      <p:sp>
        <p:nvSpPr>
          <p:cNvPr id="10" name="Shape 7"/>
          <p:cNvSpPr/>
          <p:nvPr/>
        </p:nvSpPr>
        <p:spPr>
          <a:xfrm>
            <a:off x="731520" y="4389120"/>
            <a:ext cx="640080" cy="640080"/>
          </a:xfrm>
          <a:prstGeom prst="ellipse">
            <a:avLst/>
          </a:prstGeom>
          <a:solidFill>
            <a:srgbClr val="F4EBE1"/>
          </a:solidFill>
          <a:ln w="12700">
            <a:solidFill>
              <a:srgbClr val="E4D6C7"/>
            </a:solidFill>
            <a:prstDash val="solid"/>
          </a:ln>
        </p:spPr>
      </p:sp>
      <p:sp>
        <p:nvSpPr>
          <p:cNvPr id="11" name="Text 8"/>
          <p:cNvSpPr txBox="1"/>
          <p:nvPr/>
        </p:nvSpPr>
        <p:spPr>
          <a:xfrm>
            <a:off x="731520" y="4389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2" name="Text 9"/>
          <p:cNvSpPr txBox="1"/>
          <p:nvPr/>
        </p:nvSpPr>
        <p:spPr>
          <a:xfrm>
            <a:off x="1828800" y="4297680"/>
            <a:ext cx="9631375" cy="822960"/>
          </a:xfrm>
          <a:prstGeom prst="rect">
            <a:avLst/>
          </a:prstGeom>
          <a:noFill/>
          <a:ln/>
        </p:spPr>
        <p:txBody>
          <a:bodyPr wrap="square" lIns="0" tIns="0" rIns="0" bIns="0" rtlCol="0" anchor="ctr"/>
          <a:lstStyle/>
          <a:p>
            <a:pPr indent="0" marL="0">
              <a:buNone/>
            </a:pPr>
            <a:r>
              <a:rPr lang="en-US" sz="3000" dirty="0">
                <a:solidFill>
                  <a:srgbClr val="8F7B6E"/>
                </a:solidFill>
                <a:latin typeface="Jost"/>
                <a:ea typeface="Jost"/>
                <a:cs typeface="Jost"/>
              </a:rPr>
              <a:t>Step 3: Find your next revenue opportunity</a:t>
            </a:r>
            <a:endParaRPr lang="en-US" sz="3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If you've ever said:</a:t>
            </a:r>
            <a:endParaRPr lang="en-US" sz="4100" dirty="0"/>
          </a:p>
          <a:p>
            <a:pPr algn="l" indent="0" marL="0">
              <a:spcAft>
                <a:spcPts val="1300"/>
              </a:spcAft>
              <a:buNone/>
            </a:pPr>
            <a:r>
              <a:rPr lang="en-US" sz="3600" dirty="0">
                <a:solidFill>
                  <a:srgbClr val="2A201B"/>
                </a:solidFill>
                <a:latin typeface="Jost"/>
                <a:ea typeface="Jost"/>
                <a:cs typeface="Jost"/>
              </a:rPr>
              <a:t>"I feel like I have to run specials to get bookings."</a:t>
            </a:r>
            <a:endParaRPr lang="en-US" sz="3600" dirty="0"/>
          </a:p>
          <a:p>
            <a:pPr algn="l" indent="0" marL="0">
              <a:spcAft>
                <a:spcPts val="1300"/>
              </a:spcAft>
              <a:buNone/>
            </a:pPr>
            <a:r>
              <a:rPr lang="en-US" sz="3600" dirty="0">
                <a:solidFill>
                  <a:srgbClr val="FBF7F1"/>
                </a:solidFill>
                <a:latin typeface="Jost"/>
                <a:ea typeface="Jost"/>
                <a:cs typeface="Jost"/>
              </a:rPr>
              <a:t>"I post my work but it's not turning into appointments."</a:t>
            </a:r>
            <a:endParaRPr lang="en-US" sz="3600" dirty="0"/>
          </a:p>
          <a:p>
            <a:pPr algn="l" indent="0" marL="0">
              <a:spcAft>
                <a:spcPts val="1300"/>
              </a:spcAft>
              <a:buNone/>
            </a:pPr>
            <a:r>
              <a:rPr lang="en-US" sz="3600" dirty="0">
                <a:solidFill>
                  <a:srgbClr val="FBF7F1"/>
                </a:solidFill>
                <a:latin typeface="Jost"/>
                <a:ea typeface="Jost"/>
                <a:cs typeface="Jost"/>
              </a:rPr>
              <a:t>"I'm good at what I do, but I get overlooked."</a:t>
            </a:r>
            <a:endParaRPr lang="en-US" sz="3600" dirty="0"/>
          </a:p>
          <a:p>
            <a:pPr algn="l" indent="0" marL="0">
              <a:spcAft>
                <a:spcPts val="1300"/>
              </a:spcAft>
              <a:buNone/>
            </a:pPr>
            <a:r>
              <a:rPr lang="en-US" sz="3600" dirty="0">
                <a:solidFill>
                  <a:srgbClr val="FBF7F1"/>
                </a:solidFill>
                <a:latin typeface="Jost"/>
                <a:ea typeface="Jost"/>
                <a:cs typeface="Jost"/>
              </a:rPr>
              <a:t>Then you probably have a positioning problem.</a:t>
            </a:r>
            <a:endParaRPr lang="en-US" sz="3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If you've ever said:</a:t>
            </a:r>
            <a:endParaRPr lang="en-US" sz="4100" dirty="0"/>
          </a:p>
          <a:p>
            <a:pPr algn="l" indent="0" marL="0">
              <a:spcAft>
                <a:spcPts val="1300"/>
              </a:spcAft>
              <a:buNone/>
            </a:pPr>
            <a:r>
              <a:rPr lang="en-US" sz="3600" dirty="0">
                <a:solidFill>
                  <a:srgbClr val="2A201B"/>
                </a:solidFill>
                <a:latin typeface="Jost"/>
                <a:ea typeface="Jost"/>
                <a:cs typeface="Jost"/>
              </a:rPr>
              <a:t>"I feel like I have to run specials to get bookings."</a:t>
            </a:r>
            <a:endParaRPr lang="en-US" sz="3600" dirty="0"/>
          </a:p>
          <a:p>
            <a:pPr algn="l" indent="0" marL="0">
              <a:spcAft>
                <a:spcPts val="1300"/>
              </a:spcAft>
              <a:buNone/>
            </a:pPr>
            <a:r>
              <a:rPr lang="en-US" sz="3600" dirty="0">
                <a:solidFill>
                  <a:srgbClr val="2A201B"/>
                </a:solidFill>
                <a:latin typeface="Jost"/>
                <a:ea typeface="Jost"/>
                <a:cs typeface="Jost"/>
              </a:rPr>
              <a:t>"I post my work but it's not turning into appointments."</a:t>
            </a:r>
            <a:endParaRPr lang="en-US" sz="3600" dirty="0"/>
          </a:p>
          <a:p>
            <a:pPr algn="l" indent="0" marL="0">
              <a:spcAft>
                <a:spcPts val="1300"/>
              </a:spcAft>
              <a:buNone/>
            </a:pPr>
            <a:r>
              <a:rPr lang="en-US" sz="3600" dirty="0">
                <a:solidFill>
                  <a:srgbClr val="FBF7F1"/>
                </a:solidFill>
                <a:latin typeface="Jost"/>
                <a:ea typeface="Jost"/>
                <a:cs typeface="Jost"/>
              </a:rPr>
              <a:t>"I'm good at what I do, but I get overlooked."</a:t>
            </a:r>
            <a:endParaRPr lang="en-US" sz="3600" dirty="0"/>
          </a:p>
          <a:p>
            <a:pPr algn="l" indent="0" marL="0">
              <a:spcAft>
                <a:spcPts val="1300"/>
              </a:spcAft>
              <a:buNone/>
            </a:pPr>
            <a:r>
              <a:rPr lang="en-US" sz="3600" dirty="0">
                <a:solidFill>
                  <a:srgbClr val="FBF7F1"/>
                </a:solidFill>
                <a:latin typeface="Jost"/>
                <a:ea typeface="Jost"/>
                <a:cs typeface="Jost"/>
              </a:rPr>
              <a:t>Then you probably have a positioning problem.</a:t>
            </a:r>
            <a:endParaRPr lang="en-US" sz="3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If you've ever said:</a:t>
            </a:r>
            <a:endParaRPr lang="en-US" sz="4100" dirty="0"/>
          </a:p>
          <a:p>
            <a:pPr algn="l" indent="0" marL="0">
              <a:spcAft>
                <a:spcPts val="1300"/>
              </a:spcAft>
              <a:buNone/>
            </a:pPr>
            <a:r>
              <a:rPr lang="en-US" sz="3600" dirty="0">
                <a:solidFill>
                  <a:srgbClr val="2A201B"/>
                </a:solidFill>
                <a:latin typeface="Jost"/>
                <a:ea typeface="Jost"/>
                <a:cs typeface="Jost"/>
              </a:rPr>
              <a:t>"I feel like I have to run specials to get bookings."</a:t>
            </a:r>
            <a:endParaRPr lang="en-US" sz="3600" dirty="0"/>
          </a:p>
          <a:p>
            <a:pPr algn="l" indent="0" marL="0">
              <a:spcAft>
                <a:spcPts val="1300"/>
              </a:spcAft>
              <a:buNone/>
            </a:pPr>
            <a:r>
              <a:rPr lang="en-US" sz="3600" dirty="0">
                <a:solidFill>
                  <a:srgbClr val="2A201B"/>
                </a:solidFill>
                <a:latin typeface="Jost"/>
                <a:ea typeface="Jost"/>
                <a:cs typeface="Jost"/>
              </a:rPr>
              <a:t>"I post my work but it's not turning into appointments."</a:t>
            </a:r>
            <a:endParaRPr lang="en-US" sz="3600" dirty="0"/>
          </a:p>
          <a:p>
            <a:pPr algn="l" indent="0" marL="0">
              <a:spcAft>
                <a:spcPts val="1300"/>
              </a:spcAft>
              <a:buNone/>
            </a:pPr>
            <a:r>
              <a:rPr lang="en-US" sz="3600" dirty="0">
                <a:solidFill>
                  <a:srgbClr val="2A201B"/>
                </a:solidFill>
                <a:latin typeface="Jost"/>
                <a:ea typeface="Jost"/>
                <a:cs typeface="Jost"/>
              </a:rPr>
              <a:t>"I'm good at what I do, but I get overlooked."</a:t>
            </a:r>
            <a:endParaRPr lang="en-US" sz="3600" dirty="0"/>
          </a:p>
          <a:p>
            <a:pPr algn="l" indent="0" marL="0">
              <a:spcAft>
                <a:spcPts val="1300"/>
              </a:spcAft>
              <a:buNone/>
            </a:pPr>
            <a:r>
              <a:rPr lang="en-US" sz="3600" dirty="0">
                <a:solidFill>
                  <a:srgbClr val="FBF7F1"/>
                </a:solidFill>
                <a:latin typeface="Jost"/>
                <a:ea typeface="Jost"/>
                <a:cs typeface="Jost"/>
              </a:rPr>
              <a:t>Then you probably have a positioning problem.</a:t>
            </a:r>
            <a:endParaRPr lang="en-US" sz="3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If you've ever said:</a:t>
            </a:r>
            <a:endParaRPr lang="en-US" sz="4100" dirty="0"/>
          </a:p>
          <a:p>
            <a:pPr algn="l" indent="0" marL="0">
              <a:spcAft>
                <a:spcPts val="1300"/>
              </a:spcAft>
              <a:buNone/>
            </a:pPr>
            <a:r>
              <a:rPr lang="en-US" sz="3600" dirty="0">
                <a:solidFill>
                  <a:srgbClr val="2A201B"/>
                </a:solidFill>
                <a:latin typeface="Jost"/>
                <a:ea typeface="Jost"/>
                <a:cs typeface="Jost"/>
              </a:rPr>
              <a:t>"I feel like I have to run specials to get bookings."</a:t>
            </a:r>
            <a:endParaRPr lang="en-US" sz="3600" dirty="0"/>
          </a:p>
          <a:p>
            <a:pPr algn="l" indent="0" marL="0">
              <a:spcAft>
                <a:spcPts val="1300"/>
              </a:spcAft>
              <a:buNone/>
            </a:pPr>
            <a:r>
              <a:rPr lang="en-US" sz="3600" dirty="0">
                <a:solidFill>
                  <a:srgbClr val="2A201B"/>
                </a:solidFill>
                <a:latin typeface="Jost"/>
                <a:ea typeface="Jost"/>
                <a:cs typeface="Jost"/>
              </a:rPr>
              <a:t>"I post my work but it's not turning into appointments."</a:t>
            </a:r>
            <a:endParaRPr lang="en-US" sz="3600" dirty="0"/>
          </a:p>
          <a:p>
            <a:pPr algn="l" indent="0" marL="0">
              <a:spcAft>
                <a:spcPts val="1300"/>
              </a:spcAft>
              <a:buNone/>
            </a:pPr>
            <a:r>
              <a:rPr lang="en-US" sz="3600" dirty="0">
                <a:solidFill>
                  <a:srgbClr val="2A201B"/>
                </a:solidFill>
                <a:latin typeface="Jost"/>
                <a:ea typeface="Jost"/>
                <a:cs typeface="Jost"/>
              </a:rPr>
              <a:t>"I'm good at what I do, but I get overlooked."</a:t>
            </a:r>
            <a:endParaRPr lang="en-US" sz="3600" dirty="0"/>
          </a:p>
          <a:p>
            <a:pPr algn="l" indent="0" marL="0">
              <a:spcAft>
                <a:spcPts val="1300"/>
              </a:spcAft>
              <a:buNone/>
            </a:pPr>
            <a:r>
              <a:rPr lang="en-US" sz="3600" dirty="0">
                <a:solidFill>
                  <a:srgbClr val="2A201B"/>
                </a:solidFill>
                <a:latin typeface="Jost"/>
                <a:ea typeface="Jost"/>
                <a:cs typeface="Jost"/>
              </a:rPr>
              <a:t>Then you probably have a positioning problem.</a:t>
            </a:r>
            <a:endParaRPr lang="en-US" sz="3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When you only post before-and-afters, people can see you do good work.</a:t>
            </a:r>
            <a:endParaRPr lang="en-US" sz="6200" dirty="0"/>
          </a:p>
          <a:p>
            <a:pPr algn="l" indent="0" marL="0">
              <a:spcAft>
                <a:spcPts val="1900"/>
              </a:spcAft>
              <a:buNone/>
            </a:pPr>
            <a:r>
              <a:rPr lang="en-US" sz="5400" dirty="0">
                <a:solidFill>
                  <a:srgbClr val="FBF7F1"/>
                </a:solidFill>
                <a:latin typeface="Jost"/>
                <a:ea typeface="Jost"/>
                <a:cs typeface="Jost"/>
              </a:rPr>
              <a:t>But they can see good work on the next person's page too.</a:t>
            </a:r>
            <a:endParaRPr lang="en-US" sz="5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When you only post before-and-afters, people can see you do good work.</a:t>
            </a:r>
            <a:endParaRPr lang="en-US" sz="6200" dirty="0"/>
          </a:p>
          <a:p>
            <a:pPr algn="l" indent="0" marL="0">
              <a:spcAft>
                <a:spcPts val="1900"/>
              </a:spcAft>
              <a:buNone/>
            </a:pPr>
            <a:r>
              <a:rPr lang="en-US" sz="5400" dirty="0">
                <a:solidFill>
                  <a:srgbClr val="2A201B"/>
                </a:solidFill>
                <a:latin typeface="Jost"/>
                <a:ea typeface="Jost"/>
                <a:cs typeface="Jost"/>
              </a:rPr>
              <a:t>But they can see good work on the next person's page too.</a:t>
            </a:r>
            <a:endParaRPr lang="en-US" sz="5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the only thing left for them to ask is:</a:t>
            </a:r>
            <a:endParaRPr lang="en-US" sz="6900" dirty="0"/>
          </a:p>
          <a:p>
            <a:pPr algn="l" indent="0" marL="0">
              <a:spcAft>
                <a:spcPts val="2100"/>
              </a:spcAft>
              <a:buNone/>
            </a:pPr>
            <a:r>
              <a:rPr lang="en-US" sz="6900" b="1" dirty="0">
                <a:solidFill>
                  <a:srgbClr val="AD5A6E"/>
                </a:solidFill>
                <a:latin typeface="Cormorant Garamond"/>
                <a:ea typeface="Cormorant Garamond"/>
                <a:cs typeface="Cormorant Garamond"/>
              </a:rPr>
              <a:t>"Well, who's cheaper or closest to me?"</a:t>
            </a:r>
            <a:endParaRPr lang="en-US" sz="6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Positioning is what you're known for, and why your ideal client would choose you over someone else.</a:t>
            </a:r>
            <a:endParaRPr lang="en-US" sz="6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Good positioning has clients paying the price you set and driving the distance to get to you.</a:t>
            </a:r>
            <a:endParaRPr lang="en-US" sz="6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65</a:t>
            </a:r>
            <a:endParaRPr lang="en-US" sz="1000" dirty="0"/>
          </a:p>
        </p:txBody>
      </p:sp>
      <p:sp>
        <p:nvSpPr>
          <p:cNvPr id="4" name="Text 1"/>
          <p:cNvSpPr txBox="1"/>
          <p:nvPr/>
        </p:nvSpPr>
        <p:spPr>
          <a:xfrm>
            <a:off x="731520" y="457200"/>
            <a:ext cx="10728655" cy="822960"/>
          </a:xfrm>
          <a:prstGeom prst="rect">
            <a:avLst/>
          </a:prstGeom>
          <a:noFill/>
          <a:ln/>
        </p:spPr>
        <p:txBody>
          <a:bodyPr wrap="square" lIns="0" tIns="0" rIns="0" bIns="0" rtlCol="0" anchor="ctr"/>
          <a:lstStyle/>
          <a:p>
            <a:pPr indent="0" marL="0">
              <a:buNone/>
            </a:pPr>
            <a:r>
              <a:rPr lang="en-US" sz="4100" b="1" dirty="0">
                <a:solidFill>
                  <a:srgbClr val="2A201B"/>
                </a:solidFill>
                <a:latin typeface="Cormorant Garamond"/>
                <a:ea typeface="Cormorant Garamond"/>
                <a:cs typeface="Cormorant Garamond"/>
              </a:rPr>
              <a:t>Find where these two overlap:</a:t>
            </a:r>
            <a:endParaRPr lang="en-US" sz="4100" dirty="0"/>
          </a:p>
        </p:txBody>
      </p:sp>
      <p:sp>
        <p:nvSpPr>
          <p:cNvPr id="5" name="Shape 2"/>
          <p:cNvSpPr/>
          <p:nvPr/>
        </p:nvSpPr>
        <p:spPr>
          <a:xfrm>
            <a:off x="2529688" y="1417320"/>
            <a:ext cx="4206240" cy="4206240"/>
          </a:xfrm>
          <a:prstGeom prst="ellipse">
            <a:avLst/>
          </a:prstGeom>
          <a:solidFill>
            <a:srgbClr val="FBF7F1"/>
          </a:solidFill>
          <a:ln w="31750">
            <a:solidFill>
              <a:srgbClr val="AD5A6E"/>
            </a:solidFill>
            <a:prstDash val="solid"/>
          </a:ln>
        </p:spPr>
      </p:sp>
      <p:sp>
        <p:nvSpPr>
          <p:cNvPr id="6" name="Shape 3"/>
          <p:cNvSpPr/>
          <p:nvPr/>
        </p:nvSpPr>
        <p:spPr>
          <a:xfrm>
            <a:off x="5455768" y="1417320"/>
            <a:ext cx="4206240" cy="4206240"/>
          </a:xfrm>
          <a:prstGeom prst="ellipse">
            <a:avLst/>
          </a:prstGeom>
          <a:solidFill>
            <a:srgbClr val="FBF7F1"/>
          </a:solidFill>
          <a:ln w="31750">
            <a:solidFill>
              <a:srgbClr val="AD5A6E"/>
            </a:solidFill>
            <a:prstDash val="solid"/>
          </a:ln>
        </p:spPr>
      </p:sp>
      <p:sp>
        <p:nvSpPr>
          <p:cNvPr id="7" name="Text 4"/>
          <p:cNvSpPr txBox="1"/>
          <p:nvPr/>
        </p:nvSpPr>
        <p:spPr>
          <a:xfrm>
            <a:off x="284972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What your audience</a:t>
            </a:r>
            <a:endParaRPr lang="en-US" sz="2200" dirty="0"/>
          </a:p>
          <a:p>
            <a:pPr algn="ctr" indent="0" marL="0">
              <a:buNone/>
            </a:pPr>
            <a:r>
              <a:rPr lang="en-US" sz="2200" dirty="0">
                <a:solidFill>
                  <a:srgbClr val="2A201B"/>
                </a:solidFill>
                <a:latin typeface="Jost"/>
                <a:ea typeface="Jost"/>
                <a:cs typeface="Jost"/>
              </a:rPr>
              <a:t>desperately wants</a:t>
            </a:r>
            <a:endParaRPr lang="en-US" sz="2200" dirty="0"/>
          </a:p>
        </p:txBody>
      </p:sp>
      <p:sp>
        <p:nvSpPr>
          <p:cNvPr id="8" name="Text 5"/>
          <p:cNvSpPr txBox="1"/>
          <p:nvPr/>
        </p:nvSpPr>
        <p:spPr>
          <a:xfrm>
            <a:off x="691880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What you are</a:t>
            </a:r>
            <a:endParaRPr lang="en-US" sz="2200" dirty="0"/>
          </a:p>
          <a:p>
            <a:pPr algn="ctr" indent="0" marL="0">
              <a:buNone/>
            </a:pPr>
            <a:r>
              <a:rPr lang="en-US" sz="2200" dirty="0">
                <a:solidFill>
                  <a:srgbClr val="2A201B"/>
                </a:solidFill>
                <a:latin typeface="Jost"/>
                <a:ea typeface="Jost"/>
                <a:cs typeface="Jost"/>
              </a:rPr>
              <a:t>uniquely incredible at</a:t>
            </a:r>
            <a:endParaRPr lang="en-US" sz="2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66</a:t>
            </a:r>
            <a:endParaRPr lang="en-US" sz="1000" dirty="0"/>
          </a:p>
        </p:txBody>
      </p:sp>
      <p:sp>
        <p:nvSpPr>
          <p:cNvPr id="4" name="Text 1"/>
          <p:cNvSpPr txBox="1"/>
          <p:nvPr/>
        </p:nvSpPr>
        <p:spPr>
          <a:xfrm>
            <a:off x="731520" y="457200"/>
            <a:ext cx="10728655" cy="822960"/>
          </a:xfrm>
          <a:prstGeom prst="rect">
            <a:avLst/>
          </a:prstGeom>
          <a:noFill/>
          <a:ln/>
        </p:spPr>
        <p:txBody>
          <a:bodyPr wrap="square" lIns="0" tIns="0" rIns="0" bIns="0" rtlCol="0" anchor="ctr"/>
          <a:lstStyle/>
          <a:p>
            <a:pPr indent="0" marL="0">
              <a:buNone/>
            </a:pPr>
            <a:r>
              <a:rPr lang="en-US" sz="4100" b="1" dirty="0">
                <a:solidFill>
                  <a:srgbClr val="2A201B"/>
                </a:solidFill>
                <a:latin typeface="Cormorant Garamond"/>
                <a:ea typeface="Cormorant Garamond"/>
                <a:cs typeface="Cormorant Garamond"/>
              </a:rPr>
              <a:t>That overlap is your unfair advantage.</a:t>
            </a:r>
            <a:endParaRPr lang="en-US" sz="4100" dirty="0"/>
          </a:p>
        </p:txBody>
      </p:sp>
      <p:sp>
        <p:nvSpPr>
          <p:cNvPr id="5" name="Shape 2"/>
          <p:cNvSpPr/>
          <p:nvPr/>
        </p:nvSpPr>
        <p:spPr>
          <a:xfrm>
            <a:off x="2529688" y="1417320"/>
            <a:ext cx="4206240" cy="4206240"/>
          </a:xfrm>
          <a:prstGeom prst="ellipse">
            <a:avLst/>
          </a:prstGeom>
          <a:solidFill>
            <a:srgbClr val="FBF7F1"/>
          </a:solidFill>
          <a:ln w="31750">
            <a:solidFill>
              <a:srgbClr val="AD5A6E"/>
            </a:solidFill>
            <a:prstDash val="solid"/>
          </a:ln>
        </p:spPr>
      </p:sp>
      <p:sp>
        <p:nvSpPr>
          <p:cNvPr id="6" name="Shape 3"/>
          <p:cNvSpPr/>
          <p:nvPr/>
        </p:nvSpPr>
        <p:spPr>
          <a:xfrm>
            <a:off x="5455768" y="1417320"/>
            <a:ext cx="4206240" cy="4206240"/>
          </a:xfrm>
          <a:prstGeom prst="ellipse">
            <a:avLst/>
          </a:prstGeom>
          <a:solidFill>
            <a:srgbClr val="FBF7F1"/>
          </a:solidFill>
          <a:ln w="31750">
            <a:solidFill>
              <a:srgbClr val="AD5A6E"/>
            </a:solidFill>
            <a:prstDash val="solid"/>
          </a:ln>
        </p:spPr>
      </p:sp>
      <p:sp>
        <p:nvSpPr>
          <p:cNvPr id="7" name="Text 4"/>
          <p:cNvSpPr txBox="1"/>
          <p:nvPr/>
        </p:nvSpPr>
        <p:spPr>
          <a:xfrm>
            <a:off x="284972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What your audience</a:t>
            </a:r>
            <a:endParaRPr lang="en-US" sz="2200" dirty="0"/>
          </a:p>
          <a:p>
            <a:pPr algn="ctr" indent="0" marL="0">
              <a:buNone/>
            </a:pPr>
            <a:r>
              <a:rPr lang="en-US" sz="2200" dirty="0">
                <a:solidFill>
                  <a:srgbClr val="2A201B"/>
                </a:solidFill>
                <a:latin typeface="Jost"/>
                <a:ea typeface="Jost"/>
                <a:cs typeface="Jost"/>
              </a:rPr>
              <a:t>desperately wants</a:t>
            </a:r>
            <a:endParaRPr lang="en-US" sz="2200" dirty="0"/>
          </a:p>
        </p:txBody>
      </p:sp>
      <p:sp>
        <p:nvSpPr>
          <p:cNvPr id="8" name="Text 5"/>
          <p:cNvSpPr txBox="1"/>
          <p:nvPr/>
        </p:nvSpPr>
        <p:spPr>
          <a:xfrm>
            <a:off x="691880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What you are</a:t>
            </a:r>
            <a:endParaRPr lang="en-US" sz="2200" dirty="0"/>
          </a:p>
          <a:p>
            <a:pPr algn="ctr" indent="0" marL="0">
              <a:buNone/>
            </a:pPr>
            <a:r>
              <a:rPr lang="en-US" sz="2200" dirty="0">
                <a:solidFill>
                  <a:srgbClr val="2A201B"/>
                </a:solidFill>
                <a:latin typeface="Jost"/>
                <a:ea typeface="Jost"/>
                <a:cs typeface="Jost"/>
              </a:rPr>
              <a:t>uniquely incredible at</a:t>
            </a:r>
            <a:endParaRPr lang="en-US" sz="2200" dirty="0"/>
          </a:p>
        </p:txBody>
      </p:sp>
      <p:sp>
        <p:nvSpPr>
          <p:cNvPr id="9" name="Shape 6"/>
          <p:cNvSpPr/>
          <p:nvPr/>
        </p:nvSpPr>
        <p:spPr>
          <a:xfrm>
            <a:off x="5775808" y="3200400"/>
            <a:ext cx="640080" cy="640080"/>
          </a:xfrm>
          <a:prstGeom prst="ellipse">
            <a:avLst/>
          </a:prstGeom>
          <a:solidFill>
            <a:srgbClr val="AD5A6E"/>
          </a:solidFill>
          <a:ln w="12700">
            <a:solidFill>
              <a:srgbClr val="AD5A6E"/>
            </a:solidFill>
            <a:prstDash val="solid"/>
          </a:ln>
        </p:spPr>
      </p:sp>
      <p:sp>
        <p:nvSpPr>
          <p:cNvPr id="10" name="Text 7"/>
          <p:cNvSpPr txBox="1"/>
          <p:nvPr/>
        </p:nvSpPr>
        <p:spPr>
          <a:xfrm>
            <a:off x="3352648" y="5669280"/>
            <a:ext cx="5486400" cy="457200"/>
          </a:xfrm>
          <a:prstGeom prst="rect">
            <a:avLst/>
          </a:prstGeom>
          <a:noFill/>
          <a:ln/>
        </p:spPr>
        <p:txBody>
          <a:bodyPr wrap="square" lIns="0" tIns="0" rIns="0" bIns="0" rtlCol="0" anchor="ctr"/>
          <a:lstStyle/>
          <a:p>
            <a:pPr algn="ctr" indent="0" marL="0">
              <a:buNone/>
            </a:pPr>
            <a:r>
              <a:rPr lang="en-US" sz="2400" b="1" dirty="0">
                <a:solidFill>
                  <a:srgbClr val="AD5A6E"/>
                </a:solidFill>
                <a:latin typeface="Jost"/>
                <a:ea typeface="Jost"/>
                <a:cs typeface="Jost"/>
              </a:rPr>
              <a:t>Your unfair advantage</a:t>
            </a:r>
            <a:endParaRPr lang="en-US"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67</a:t>
            </a:r>
            <a:endParaRPr lang="en-US" sz="1000" dirty="0"/>
          </a:p>
        </p:txBody>
      </p:sp>
      <p:sp>
        <p:nvSpPr>
          <p:cNvPr id="4" name="Text 1"/>
          <p:cNvSpPr txBox="1"/>
          <p:nvPr/>
        </p:nvSpPr>
        <p:spPr>
          <a:xfrm>
            <a:off x="731520" y="457200"/>
            <a:ext cx="10728655" cy="822960"/>
          </a:xfrm>
          <a:prstGeom prst="rect">
            <a:avLst/>
          </a:prstGeom>
          <a:noFill/>
          <a:ln/>
        </p:spPr>
        <p:txBody>
          <a:bodyPr wrap="square" lIns="0" tIns="0" rIns="0" bIns="0" rtlCol="0" anchor="ctr"/>
          <a:lstStyle/>
          <a:p>
            <a:pPr indent="0" marL="0">
              <a:buNone/>
            </a:pPr>
            <a:r>
              <a:rPr lang="en-US" sz="4100" b="1" dirty="0">
                <a:solidFill>
                  <a:srgbClr val="2A201B"/>
                </a:solidFill>
                <a:latin typeface="Cormorant Garamond"/>
                <a:ea typeface="Cormorant Garamond"/>
                <a:cs typeface="Cormorant Garamond"/>
              </a:rPr>
              <a:t>What my clients desperately want</a:t>
            </a:r>
            <a:endParaRPr lang="en-US" sz="4100" dirty="0"/>
          </a:p>
        </p:txBody>
      </p:sp>
      <p:sp>
        <p:nvSpPr>
          <p:cNvPr id="5" name="Shape 2"/>
          <p:cNvSpPr/>
          <p:nvPr/>
        </p:nvSpPr>
        <p:spPr>
          <a:xfrm>
            <a:off x="2529688" y="1417320"/>
            <a:ext cx="4206240" cy="4206240"/>
          </a:xfrm>
          <a:prstGeom prst="ellipse">
            <a:avLst/>
          </a:prstGeom>
          <a:solidFill>
            <a:srgbClr val="FBE6EB"/>
          </a:solidFill>
          <a:ln w="50800">
            <a:solidFill>
              <a:srgbClr val="AD5A6E"/>
            </a:solidFill>
            <a:prstDash val="solid"/>
          </a:ln>
        </p:spPr>
      </p:sp>
      <p:sp>
        <p:nvSpPr>
          <p:cNvPr id="6" name="Shape 3"/>
          <p:cNvSpPr/>
          <p:nvPr/>
        </p:nvSpPr>
        <p:spPr>
          <a:xfrm>
            <a:off x="5455768" y="1417320"/>
            <a:ext cx="4206240" cy="4206240"/>
          </a:xfrm>
          <a:prstGeom prst="ellipse">
            <a:avLst/>
          </a:prstGeom>
          <a:solidFill>
            <a:srgbClr val="FBF7F1"/>
          </a:solidFill>
          <a:ln w="31750">
            <a:solidFill>
              <a:srgbClr val="AD5A6E"/>
            </a:solidFill>
            <a:prstDash val="solid"/>
          </a:ln>
        </p:spPr>
      </p:sp>
      <p:sp>
        <p:nvSpPr>
          <p:cNvPr id="7" name="Text 4"/>
          <p:cNvSpPr txBox="1"/>
          <p:nvPr/>
        </p:nvSpPr>
        <p:spPr>
          <a:xfrm>
            <a:off x="2849728" y="1417320"/>
            <a:ext cx="2468880" cy="4206240"/>
          </a:xfrm>
          <a:prstGeom prst="rect">
            <a:avLst/>
          </a:prstGeom>
          <a:noFill/>
          <a:ln/>
        </p:spPr>
        <p:txBody>
          <a:bodyPr wrap="square" lIns="0" tIns="0" rIns="0" bIns="0" rtlCol="0" anchor="ctr"/>
          <a:lstStyle/>
          <a:p>
            <a:pPr algn="ctr" indent="0" marL="0">
              <a:buNone/>
            </a:pPr>
            <a:r>
              <a:rPr lang="en-US" sz="2200" b="1" dirty="0">
                <a:solidFill>
                  <a:srgbClr val="94415A"/>
                </a:solidFill>
                <a:latin typeface="Jost"/>
                <a:ea typeface="Jost"/>
                <a:cs typeface="Jost"/>
              </a:rPr>
              <a:t>Lashes that aren't too heavy or dramatic.</a:t>
            </a:r>
            <a:endParaRPr lang="en-US" sz="2200" dirty="0"/>
          </a:p>
        </p:txBody>
      </p:sp>
      <p:sp>
        <p:nvSpPr>
          <p:cNvPr id="8" name="Text 5"/>
          <p:cNvSpPr txBox="1"/>
          <p:nvPr/>
        </p:nvSpPr>
        <p:spPr>
          <a:xfrm>
            <a:off x="691880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What you are</a:t>
            </a:r>
            <a:endParaRPr lang="en-US" sz="2200" dirty="0"/>
          </a:p>
          <a:p>
            <a:pPr algn="ctr" indent="0" marL="0">
              <a:buNone/>
            </a:pPr>
            <a:r>
              <a:rPr lang="en-US" sz="2200" dirty="0">
                <a:solidFill>
                  <a:srgbClr val="2A201B"/>
                </a:solidFill>
                <a:latin typeface="Jost"/>
                <a:ea typeface="Jost"/>
                <a:cs typeface="Jost"/>
              </a:rPr>
              <a:t>uniquely incredible at</a:t>
            </a:r>
            <a:endParaRPr lang="en-US" sz="2200" dirty="0"/>
          </a:p>
        </p:txBody>
      </p:sp>
      <p:sp>
        <p:nvSpPr>
          <p:cNvPr id="9" name="Shape 6"/>
          <p:cNvSpPr/>
          <p:nvPr/>
        </p:nvSpPr>
        <p:spPr>
          <a:xfrm>
            <a:off x="5775808" y="3200400"/>
            <a:ext cx="640080" cy="640080"/>
          </a:xfrm>
          <a:prstGeom prst="ellipse">
            <a:avLst/>
          </a:prstGeom>
          <a:solidFill>
            <a:srgbClr val="AD5A6E"/>
          </a:solidFill>
          <a:ln w="12700">
            <a:solidFill>
              <a:srgbClr val="AD5A6E"/>
            </a:solidFill>
            <a:prstDash val="solid"/>
          </a:ln>
        </p:spPr>
      </p:sp>
      <p:sp>
        <p:nvSpPr>
          <p:cNvPr id="10" name="Text 7"/>
          <p:cNvSpPr txBox="1"/>
          <p:nvPr/>
        </p:nvSpPr>
        <p:spPr>
          <a:xfrm>
            <a:off x="3352648" y="5669280"/>
            <a:ext cx="5486400" cy="457200"/>
          </a:xfrm>
          <a:prstGeom prst="rect">
            <a:avLst/>
          </a:prstGeom>
          <a:noFill/>
          <a:ln/>
        </p:spPr>
        <p:txBody>
          <a:bodyPr wrap="square" lIns="0" tIns="0" rIns="0" bIns="0" rtlCol="0" anchor="ctr"/>
          <a:lstStyle/>
          <a:p>
            <a:pPr algn="ctr" indent="0" marL="0">
              <a:buNone/>
            </a:pPr>
            <a:endParaRPr lang="en-US" sz="2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68</a:t>
            </a:r>
            <a:endParaRPr lang="en-US" sz="1000" dirty="0"/>
          </a:p>
        </p:txBody>
      </p:sp>
      <p:sp>
        <p:nvSpPr>
          <p:cNvPr id="4" name="Text 1"/>
          <p:cNvSpPr txBox="1"/>
          <p:nvPr/>
        </p:nvSpPr>
        <p:spPr>
          <a:xfrm>
            <a:off x="731520" y="457200"/>
            <a:ext cx="10728655" cy="822960"/>
          </a:xfrm>
          <a:prstGeom prst="rect">
            <a:avLst/>
          </a:prstGeom>
          <a:noFill/>
          <a:ln/>
        </p:spPr>
        <p:txBody>
          <a:bodyPr wrap="square" lIns="0" tIns="0" rIns="0" bIns="0" rtlCol="0" anchor="ctr"/>
          <a:lstStyle/>
          <a:p>
            <a:pPr indent="0" marL="0">
              <a:buNone/>
            </a:pPr>
            <a:r>
              <a:rPr lang="en-US" sz="4100" b="1" dirty="0">
                <a:solidFill>
                  <a:srgbClr val="2A201B"/>
                </a:solidFill>
                <a:latin typeface="Cormorant Garamond"/>
                <a:ea typeface="Cormorant Garamond"/>
                <a:cs typeface="Cormorant Garamond"/>
              </a:rPr>
              <a:t>What I'm uniquely incredible at</a:t>
            </a:r>
            <a:endParaRPr lang="en-US" sz="4100" dirty="0"/>
          </a:p>
        </p:txBody>
      </p:sp>
      <p:sp>
        <p:nvSpPr>
          <p:cNvPr id="5" name="Shape 2"/>
          <p:cNvSpPr/>
          <p:nvPr/>
        </p:nvSpPr>
        <p:spPr>
          <a:xfrm>
            <a:off x="2529688" y="1417320"/>
            <a:ext cx="4206240" cy="4206240"/>
          </a:xfrm>
          <a:prstGeom prst="ellipse">
            <a:avLst/>
          </a:prstGeom>
          <a:solidFill>
            <a:srgbClr val="FBF7F1"/>
          </a:solidFill>
          <a:ln w="31750">
            <a:solidFill>
              <a:srgbClr val="AD5A6E"/>
            </a:solidFill>
            <a:prstDash val="solid"/>
          </a:ln>
        </p:spPr>
      </p:sp>
      <p:sp>
        <p:nvSpPr>
          <p:cNvPr id="6" name="Shape 3"/>
          <p:cNvSpPr/>
          <p:nvPr/>
        </p:nvSpPr>
        <p:spPr>
          <a:xfrm>
            <a:off x="5455768" y="1417320"/>
            <a:ext cx="4206240" cy="4206240"/>
          </a:xfrm>
          <a:prstGeom prst="ellipse">
            <a:avLst/>
          </a:prstGeom>
          <a:solidFill>
            <a:srgbClr val="FBE6EB"/>
          </a:solidFill>
          <a:ln w="50800">
            <a:solidFill>
              <a:srgbClr val="AD5A6E"/>
            </a:solidFill>
            <a:prstDash val="solid"/>
          </a:ln>
        </p:spPr>
      </p:sp>
      <p:sp>
        <p:nvSpPr>
          <p:cNvPr id="7" name="Text 4"/>
          <p:cNvSpPr txBox="1"/>
          <p:nvPr/>
        </p:nvSpPr>
        <p:spPr>
          <a:xfrm>
            <a:off x="2849728" y="1417320"/>
            <a:ext cx="2468880" cy="4206240"/>
          </a:xfrm>
          <a:prstGeom prst="rect">
            <a:avLst/>
          </a:prstGeom>
          <a:noFill/>
          <a:ln/>
        </p:spPr>
        <p:txBody>
          <a:bodyPr wrap="square" lIns="0" tIns="0" rIns="0" bIns="0" rtlCol="0" anchor="ctr"/>
          <a:lstStyle/>
          <a:p>
            <a:pPr algn="ctr" indent="0" marL="0">
              <a:buNone/>
            </a:pPr>
            <a:r>
              <a:rPr lang="en-US" sz="2200" dirty="0">
                <a:solidFill>
                  <a:srgbClr val="2A201B"/>
                </a:solidFill>
                <a:latin typeface="Jost"/>
                <a:ea typeface="Jost"/>
                <a:cs typeface="Jost"/>
              </a:rPr>
              <a:t>Lashes that aren't too heavy or dramatic</a:t>
            </a:r>
            <a:endParaRPr lang="en-US" sz="2200" dirty="0"/>
          </a:p>
        </p:txBody>
      </p:sp>
      <p:sp>
        <p:nvSpPr>
          <p:cNvPr id="8" name="Text 5"/>
          <p:cNvSpPr txBox="1"/>
          <p:nvPr/>
        </p:nvSpPr>
        <p:spPr>
          <a:xfrm>
            <a:off x="6918808" y="1417320"/>
            <a:ext cx="2468880" cy="4206240"/>
          </a:xfrm>
          <a:prstGeom prst="rect">
            <a:avLst/>
          </a:prstGeom>
          <a:noFill/>
          <a:ln/>
        </p:spPr>
        <p:txBody>
          <a:bodyPr wrap="square" lIns="0" tIns="0" rIns="0" bIns="0" rtlCol="0" anchor="ctr"/>
          <a:lstStyle/>
          <a:p>
            <a:pPr algn="ctr" indent="0" marL="0">
              <a:buNone/>
            </a:pPr>
            <a:r>
              <a:rPr lang="en-US" sz="2200" b="1" dirty="0">
                <a:solidFill>
                  <a:srgbClr val="94415A"/>
                </a:solidFill>
                <a:latin typeface="Jost"/>
                <a:ea typeface="Jost"/>
                <a:cs typeface="Jost"/>
              </a:rPr>
              <a:t>Natural, wispy lashes.</a:t>
            </a:r>
            <a:endParaRPr lang="en-US" sz="2200" dirty="0"/>
          </a:p>
        </p:txBody>
      </p:sp>
      <p:sp>
        <p:nvSpPr>
          <p:cNvPr id="9" name="Shape 6"/>
          <p:cNvSpPr/>
          <p:nvPr/>
        </p:nvSpPr>
        <p:spPr>
          <a:xfrm>
            <a:off x="5775808" y="3200400"/>
            <a:ext cx="640080" cy="640080"/>
          </a:xfrm>
          <a:prstGeom prst="ellipse">
            <a:avLst/>
          </a:prstGeom>
          <a:solidFill>
            <a:srgbClr val="AD5A6E"/>
          </a:solidFill>
          <a:ln w="12700">
            <a:solidFill>
              <a:srgbClr val="AD5A6E"/>
            </a:solidFill>
            <a:prstDash val="solid"/>
          </a:ln>
        </p:spPr>
      </p:sp>
      <p:sp>
        <p:nvSpPr>
          <p:cNvPr id="10" name="Text 7"/>
          <p:cNvSpPr txBox="1"/>
          <p:nvPr/>
        </p:nvSpPr>
        <p:spPr>
          <a:xfrm>
            <a:off x="3352648" y="5669280"/>
            <a:ext cx="5486400" cy="457200"/>
          </a:xfrm>
          <a:prstGeom prst="rect">
            <a:avLst/>
          </a:prstGeom>
          <a:noFill/>
          <a:ln/>
        </p:spPr>
        <p:txBody>
          <a:bodyPr wrap="square" lIns="0" tIns="0" rIns="0" bIns="0" rtlCol="0" anchor="ctr"/>
          <a:lstStyle/>
          <a:p>
            <a:pPr algn="ctr" indent="0" marL="0">
              <a:buNone/>
            </a:pPr>
            <a:r>
              <a:rPr lang="en-US" sz="2400" b="1" dirty="0">
                <a:solidFill>
                  <a:srgbClr val="AD5A6E"/>
                </a:solidFill>
                <a:latin typeface="Jost"/>
                <a:ea typeface="Jost"/>
                <a:cs typeface="Jost"/>
              </a:rPr>
              <a:t>Natural, wispy lashes</a:t>
            </a:r>
            <a:endParaRPr lang="en-US" sz="2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69</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So that's what I'm known for.</a:t>
            </a:r>
            <a:endParaRPr lang="en-US" sz="5500" dirty="0"/>
          </a:p>
        </p:txBody>
      </p:sp>
      <p:pic>
        <p:nvPicPr>
          <p:cNvPr id="5" name="Image 0" descr="/home/claude/webinar/deck-img/rieartistry-instagram-now.jpg">    </p:cNvPr>
          <p:cNvPicPr>
            <a:picLocks noChangeAspect="1"/>
          </p:cNvPicPr>
          <p:nvPr/>
        </p:nvPicPr>
        <p:blipFill>
          <a:blip r:embed="rId1"/>
          <a:stretch>
            <a:fillRect/>
          </a:stretch>
        </p:blipFill>
        <p:spPr>
          <a:xfrm>
            <a:off x="7618355" y="457200"/>
            <a:ext cx="2715706" cy="589788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70</a:t>
            </a:r>
            <a:endParaRPr lang="en-US" sz="1000" dirty="0"/>
          </a:p>
        </p:txBody>
      </p:sp>
      <p:sp>
        <p:nvSpPr>
          <p:cNvPr id="4" name="Text 1"/>
          <p:cNvSpPr txBox="1"/>
          <p:nvPr/>
        </p:nvSpPr>
        <p:spPr>
          <a:xfrm>
            <a:off x="731520" y="731520"/>
            <a:ext cx="5669280" cy="48920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"Niching down and learning how to better utilize the tools and resources I already have has helped me see how much more smoothly and efficiently I can run my business."</a:t>
            </a:r>
            <a:endParaRPr lang="en-US" sz="3600" dirty="0"/>
          </a:p>
        </p:txBody>
      </p:sp>
      <p:sp>
        <p:nvSpPr>
          <p:cNvPr id="5" name="Text 2"/>
          <p:cNvSpPr txBox="1"/>
          <p:nvPr/>
        </p:nvSpPr>
        <p:spPr>
          <a:xfrm>
            <a:off x="731520" y="58064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6" name="Image 0" descr="/home/claude/webinar/deck-img/testimonial-1.jpg">    </p:cNvPr>
          <p:cNvPicPr>
            <a:picLocks noChangeAspect="1"/>
          </p:cNvPicPr>
          <p:nvPr/>
        </p:nvPicPr>
        <p:blipFill>
          <a:blip r:embed="rId1"/>
          <a:stretch>
            <a:fillRect/>
          </a:stretch>
        </p:blipFill>
        <p:spPr>
          <a:xfrm>
            <a:off x="7762732" y="548640"/>
            <a:ext cx="2762535" cy="580644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Here's what most of us write:</a:t>
            </a:r>
            <a:endParaRPr lang="en-US" sz="5100" dirty="0"/>
          </a:p>
          <a:p>
            <a:pPr algn="l" indent="0" marL="0">
              <a:spcAft>
                <a:spcPts val="1500"/>
              </a:spcAft>
              <a:buNone/>
            </a:pPr>
            <a:r>
              <a:rPr lang="en-US" sz="4400" dirty="0">
                <a:solidFill>
                  <a:srgbClr val="2A201B"/>
                </a:solidFill>
                <a:latin typeface="Jost"/>
                <a:ea typeface="Jost"/>
                <a:cs typeface="Jost"/>
              </a:rPr>
              <a:t>"I offer classic, hybrid, and volume lash extensions. Book now."</a:t>
            </a:r>
            <a:endParaRPr lang="en-US" sz="4400" dirty="0"/>
          </a:p>
          <a:p>
            <a:pPr algn="l" indent="0" marL="0">
              <a:spcAft>
                <a:spcPts val="1500"/>
              </a:spcAft>
              <a:buNone/>
            </a:pPr>
            <a:r>
              <a:rPr lang="en-US" sz="4400" dirty="0">
                <a:solidFill>
                  <a:srgbClr val="FBF7F1"/>
                </a:solidFill>
                <a:latin typeface="Jost"/>
                <a:ea typeface="Jost"/>
                <a:cs typeface="Jost"/>
              </a:rPr>
              <a:t>That tells them what you do.</a:t>
            </a:r>
            <a:endParaRPr lang="en-US" sz="4400" dirty="0"/>
          </a:p>
          <a:p>
            <a:pPr algn="l" indent="0" marL="0">
              <a:spcAft>
                <a:spcPts val="1500"/>
              </a:spcAft>
              <a:buNone/>
            </a:pPr>
            <a:r>
              <a:rPr lang="en-US" sz="4400" dirty="0">
                <a:solidFill>
                  <a:srgbClr val="FBF7F1"/>
                </a:solidFill>
                <a:latin typeface="Jost"/>
                <a:ea typeface="Jost"/>
                <a:cs typeface="Jost"/>
              </a:rPr>
              <a:t>It doesn't tell them why to choose you.</a:t>
            </a:r>
            <a:endParaRPr lang="en-US" sz="4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Here's what most of us write:</a:t>
            </a:r>
            <a:endParaRPr lang="en-US" sz="5100" dirty="0"/>
          </a:p>
          <a:p>
            <a:pPr algn="l" indent="0" marL="0">
              <a:spcAft>
                <a:spcPts val="1500"/>
              </a:spcAft>
              <a:buNone/>
            </a:pPr>
            <a:r>
              <a:rPr lang="en-US" sz="4400" dirty="0">
                <a:solidFill>
                  <a:srgbClr val="2A201B"/>
                </a:solidFill>
                <a:latin typeface="Jost"/>
                <a:ea typeface="Jost"/>
                <a:cs typeface="Jost"/>
              </a:rPr>
              <a:t>"I offer classic, hybrid, and volume lash extensions. Book now."</a:t>
            </a:r>
            <a:endParaRPr lang="en-US" sz="4400" dirty="0"/>
          </a:p>
          <a:p>
            <a:pPr algn="l" indent="0" marL="0">
              <a:spcAft>
                <a:spcPts val="1500"/>
              </a:spcAft>
              <a:buNone/>
            </a:pPr>
            <a:r>
              <a:rPr lang="en-US" sz="4400" dirty="0">
                <a:solidFill>
                  <a:srgbClr val="2A201B"/>
                </a:solidFill>
                <a:latin typeface="Jost"/>
                <a:ea typeface="Jost"/>
                <a:cs typeface="Jost"/>
              </a:rPr>
              <a:t>That tells them what you do.</a:t>
            </a:r>
            <a:endParaRPr lang="en-US" sz="4400" dirty="0"/>
          </a:p>
          <a:p>
            <a:pPr algn="l" indent="0" marL="0">
              <a:spcAft>
                <a:spcPts val="1500"/>
              </a:spcAft>
              <a:buNone/>
            </a:pPr>
            <a:r>
              <a:rPr lang="en-US" sz="4400" dirty="0">
                <a:solidFill>
                  <a:srgbClr val="FBF7F1"/>
                </a:solidFill>
                <a:latin typeface="Jost"/>
                <a:ea typeface="Jost"/>
                <a:cs typeface="Jost"/>
              </a:rPr>
              <a:t>It doesn't tell them why to choose you.</a:t>
            </a:r>
            <a:endParaRPr lang="en-US" sz="4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Here's what most of us write:</a:t>
            </a:r>
            <a:endParaRPr lang="en-US" sz="5100" dirty="0"/>
          </a:p>
          <a:p>
            <a:pPr algn="l" indent="0" marL="0">
              <a:spcAft>
                <a:spcPts val="1500"/>
              </a:spcAft>
              <a:buNone/>
            </a:pPr>
            <a:r>
              <a:rPr lang="en-US" sz="4400" dirty="0">
                <a:solidFill>
                  <a:srgbClr val="2A201B"/>
                </a:solidFill>
                <a:latin typeface="Jost"/>
                <a:ea typeface="Jost"/>
                <a:cs typeface="Jost"/>
              </a:rPr>
              <a:t>"I offer classic, hybrid, and volume lash extensions. Book now."</a:t>
            </a:r>
            <a:endParaRPr lang="en-US" sz="4400" dirty="0"/>
          </a:p>
          <a:p>
            <a:pPr algn="l" indent="0" marL="0">
              <a:spcAft>
                <a:spcPts val="1500"/>
              </a:spcAft>
              <a:buNone/>
            </a:pPr>
            <a:r>
              <a:rPr lang="en-US" sz="4400" dirty="0">
                <a:solidFill>
                  <a:srgbClr val="2A201B"/>
                </a:solidFill>
                <a:latin typeface="Jost"/>
                <a:ea typeface="Jost"/>
                <a:cs typeface="Jost"/>
              </a:rPr>
              <a:t>That tells them what you do.</a:t>
            </a:r>
            <a:endParaRPr lang="en-US" sz="4400" dirty="0"/>
          </a:p>
          <a:p>
            <a:pPr algn="l" indent="0" marL="0">
              <a:spcAft>
                <a:spcPts val="1500"/>
              </a:spcAft>
              <a:buNone/>
            </a:pPr>
            <a:r>
              <a:rPr lang="en-US" sz="4400" dirty="0">
                <a:solidFill>
                  <a:srgbClr val="2A201B"/>
                </a:solidFill>
                <a:latin typeface="Jost"/>
                <a:ea typeface="Jost"/>
                <a:cs typeface="Jost"/>
              </a:rPr>
              <a:t>It doesn't tell them why to choose you.</a:t>
            </a:r>
            <a:endParaRPr lang="en-US" sz="4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Screenshot this next slide.</a:t>
            </a:r>
            <a:endParaRPr lang="en-US" sz="6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73</a:t>
            </a:r>
            <a:endParaRPr lang="en-US" sz="1000" dirty="0"/>
          </a:p>
        </p:txBody>
      </p:sp>
      <p:sp>
        <p:nvSpPr>
          <p:cNvPr id="4" name="Text 1"/>
          <p:cNvSpPr txBox="1"/>
          <p:nvPr/>
        </p:nvSpPr>
        <p:spPr>
          <a:xfrm>
            <a:off x="731520" y="548640"/>
            <a:ext cx="10728655" cy="5806440"/>
          </a:xfrm>
          <a:prstGeom prst="rect">
            <a:avLst/>
          </a:prstGeom>
          <a:noFill/>
          <a:ln/>
        </p:spPr>
        <p:txBody>
          <a:bodyPr wrap="square" lIns="0" tIns="0" rIns="0" bIns="0" rtlCol="0" anchor="ctr"/>
          <a:lstStyle/>
          <a:p>
            <a:pPr indent="0" marL="0">
              <a:buNone/>
            </a:pPr>
            <a:r>
              <a:rPr lang="en-US" sz="4400" dirty="0">
                <a:solidFill>
                  <a:srgbClr val="2A201B"/>
                </a:solidFill>
                <a:latin typeface="Jost"/>
                <a:ea typeface="Jost"/>
                <a:cs typeface="Jost"/>
              </a:rPr>
              <a:t>I specialize in </a:t>
            </a:r>
            <a:pPr indent="0" marL="0">
              <a:buNone/>
            </a:pPr>
            <a:r>
              <a:rPr lang="en-US" sz="4400" b="1" dirty="0">
                <a:solidFill>
                  <a:srgbClr val="AD5A6E"/>
                </a:solidFill>
                <a:latin typeface="Jost"/>
                <a:ea typeface="Jost"/>
                <a:cs typeface="Jost"/>
              </a:rPr>
              <a:t>[service or result]</a:t>
            </a:r>
            <a:pPr indent="0" marL="0">
              <a:buNone/>
            </a:pPr>
            <a:r>
              <a:rPr lang="en-US" sz="4400" dirty="0">
                <a:solidFill>
                  <a:srgbClr val="2A201B"/>
                </a:solidFill>
                <a:latin typeface="Jost"/>
                <a:ea typeface="Jost"/>
                <a:cs typeface="Jost"/>
              </a:rPr>
              <a:t> for </a:t>
            </a:r>
            <a:pPr indent="0" marL="0">
              <a:buNone/>
            </a:pPr>
            <a:r>
              <a:rPr lang="en-US" sz="4400" b="1" dirty="0">
                <a:solidFill>
                  <a:srgbClr val="AD5A6E"/>
                </a:solidFill>
                <a:latin typeface="Jost"/>
                <a:ea typeface="Jost"/>
                <a:cs typeface="Jost"/>
              </a:rPr>
              <a:t>[specific client]</a:t>
            </a:r>
            <a:pPr indent="0" marL="0">
              <a:buNone/>
            </a:pPr>
            <a:r>
              <a:rPr lang="en-US" sz="4400" dirty="0">
                <a:solidFill>
                  <a:srgbClr val="2A201B"/>
                </a:solidFill>
                <a:latin typeface="Jost"/>
                <a:ea typeface="Jost"/>
                <a:cs typeface="Jost"/>
              </a:rPr>
              <a:t> who wants </a:t>
            </a:r>
            <a:pPr indent="0" marL="0">
              <a:buNone/>
            </a:pPr>
            <a:r>
              <a:rPr lang="en-US" sz="4400" b="1" dirty="0">
                <a:solidFill>
                  <a:srgbClr val="AD5A6E"/>
                </a:solidFill>
                <a:latin typeface="Jost"/>
                <a:ea typeface="Jost"/>
                <a:cs typeface="Jost"/>
              </a:rPr>
              <a:t>[benefit]</a:t>
            </a:r>
            <a:pPr indent="0" marL="0">
              <a:buNone/>
            </a:pPr>
            <a:r>
              <a:rPr lang="en-US" sz="4400" dirty="0">
                <a:solidFill>
                  <a:srgbClr val="2A201B"/>
                </a:solidFill>
                <a:latin typeface="Jost"/>
                <a:ea typeface="Jost"/>
                <a:cs typeface="Jost"/>
              </a:rPr>
              <a:t>, through </a:t>
            </a:r>
            <a:pPr indent="0" marL="0">
              <a:buNone/>
            </a:pPr>
            <a:r>
              <a:rPr lang="en-US" sz="4400" b="1" dirty="0">
                <a:solidFill>
                  <a:srgbClr val="AD5A6E"/>
                </a:solidFill>
                <a:latin typeface="Jost"/>
                <a:ea typeface="Jost"/>
                <a:cs typeface="Jost"/>
              </a:rPr>
              <a:t>[what makes my service different]</a:t>
            </a:r>
            <a:pPr indent="0" marL="0">
              <a:buNone/>
            </a:pPr>
            <a:r>
              <a:rPr lang="en-US" sz="4400" dirty="0">
                <a:solidFill>
                  <a:srgbClr val="2A201B"/>
                </a:solidFill>
                <a:latin typeface="Jost"/>
                <a:ea typeface="Jost"/>
                <a:cs typeface="Jost"/>
              </a:rPr>
              <a:t>.</a:t>
            </a:r>
            <a:endParaRPr lang="en-US" sz="44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specialize in natural, wispy lashes for women who want to look put together without a heavy or dramatic look."</a:t>
            </a:r>
            <a:endParaRPr lang="en-US" sz="6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What I do: </a:t>
            </a:r>
            <a:pPr algn="l" indent="0" marL="0">
              <a:spcAft>
                <a:spcPts val="1500"/>
              </a:spcAft>
              <a:buNone/>
            </a:pPr>
            <a:r>
              <a:rPr lang="en-US" sz="4400" dirty="0">
                <a:solidFill>
                  <a:srgbClr val="2A201B"/>
                </a:solidFill>
                <a:latin typeface="Jost"/>
                <a:ea typeface="Jost"/>
                <a:cs typeface="Jost"/>
              </a:rPr>
              <a:t>Natural, wispy lashes</a:t>
            </a:r>
            <a:endParaRPr lang="en-US" sz="4400" dirty="0"/>
          </a:p>
          <a:p>
            <a:pPr algn="l" indent="0" marL="0">
              <a:spcAft>
                <a:spcPts val="1500"/>
              </a:spcAft>
              <a:buNone/>
            </a:pPr>
            <a:r>
              <a:rPr lang="en-US" sz="4400" b="1" dirty="0">
                <a:solidFill>
                  <a:srgbClr val="FBF7F1"/>
                </a:solidFill>
                <a:latin typeface="Jost"/>
                <a:ea typeface="Jost"/>
                <a:cs typeface="Jost"/>
              </a:rPr>
              <a:t>Who it's for: </a:t>
            </a:r>
            <a:pPr algn="l" indent="0" marL="0">
              <a:spcAft>
                <a:spcPts val="1500"/>
              </a:spcAft>
              <a:buNone/>
            </a:pPr>
            <a:r>
              <a:rPr lang="en-US" sz="4400" dirty="0">
                <a:solidFill>
                  <a:srgbClr val="FBF7F1"/>
                </a:solidFill>
                <a:latin typeface="Jost"/>
                <a:ea typeface="Jost"/>
                <a:cs typeface="Jost"/>
              </a:rPr>
              <a:t>Women who want to look put together</a:t>
            </a:r>
            <a:endParaRPr lang="en-US" sz="4400" dirty="0"/>
          </a:p>
          <a:p>
            <a:pPr algn="l" indent="0" marL="0">
              <a:spcAft>
                <a:spcPts val="1500"/>
              </a:spcAft>
              <a:buNone/>
            </a:pPr>
            <a:r>
              <a:rPr lang="en-US" sz="4400" b="1" dirty="0">
                <a:solidFill>
                  <a:srgbClr val="FBF7F1"/>
                </a:solidFill>
                <a:latin typeface="Jost"/>
                <a:ea typeface="Jost"/>
                <a:cs typeface="Jost"/>
              </a:rPr>
              <a:t>Why they should care: </a:t>
            </a:r>
            <a:pPr algn="l" indent="0" marL="0">
              <a:spcAft>
                <a:spcPts val="1500"/>
              </a:spcAft>
              <a:buNone/>
            </a:pPr>
            <a:r>
              <a:rPr lang="en-US" sz="4400" dirty="0">
                <a:solidFill>
                  <a:srgbClr val="FBF7F1"/>
                </a:solidFill>
                <a:latin typeface="Jost"/>
                <a:ea typeface="Jost"/>
                <a:cs typeface="Jost"/>
              </a:rPr>
              <a:t>Their lashes won't be too heavy or dramatic</a:t>
            </a:r>
            <a:endParaRPr lang="en-US" sz="44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What I do: </a:t>
            </a:r>
            <a:pPr algn="l" indent="0" marL="0">
              <a:spcAft>
                <a:spcPts val="1500"/>
              </a:spcAft>
              <a:buNone/>
            </a:pPr>
            <a:r>
              <a:rPr lang="en-US" sz="4400" dirty="0">
                <a:solidFill>
                  <a:srgbClr val="2A201B"/>
                </a:solidFill>
                <a:latin typeface="Jost"/>
                <a:ea typeface="Jost"/>
                <a:cs typeface="Jost"/>
              </a:rPr>
              <a:t>Natural, wispy lashes</a:t>
            </a:r>
            <a:endParaRPr lang="en-US" sz="4400" dirty="0"/>
          </a:p>
          <a:p>
            <a:pPr algn="l" indent="0" marL="0">
              <a:spcAft>
                <a:spcPts val="1500"/>
              </a:spcAft>
              <a:buNone/>
            </a:pPr>
            <a:r>
              <a:rPr lang="en-US" sz="4400" b="1" dirty="0">
                <a:solidFill>
                  <a:srgbClr val="AD5A6E"/>
                </a:solidFill>
                <a:latin typeface="Jost"/>
                <a:ea typeface="Jost"/>
                <a:cs typeface="Jost"/>
              </a:rPr>
              <a:t>Who it's for: </a:t>
            </a:r>
            <a:pPr algn="l" indent="0" marL="0">
              <a:spcAft>
                <a:spcPts val="1500"/>
              </a:spcAft>
              <a:buNone/>
            </a:pPr>
            <a:r>
              <a:rPr lang="en-US" sz="4400" dirty="0">
                <a:solidFill>
                  <a:srgbClr val="2A201B"/>
                </a:solidFill>
                <a:latin typeface="Jost"/>
                <a:ea typeface="Jost"/>
                <a:cs typeface="Jost"/>
              </a:rPr>
              <a:t>Women who want to look put together</a:t>
            </a:r>
            <a:endParaRPr lang="en-US" sz="4400" dirty="0"/>
          </a:p>
          <a:p>
            <a:pPr algn="l" indent="0" marL="0">
              <a:spcAft>
                <a:spcPts val="1500"/>
              </a:spcAft>
              <a:buNone/>
            </a:pPr>
            <a:r>
              <a:rPr lang="en-US" sz="4400" b="1" dirty="0">
                <a:solidFill>
                  <a:srgbClr val="FBF7F1"/>
                </a:solidFill>
                <a:latin typeface="Jost"/>
                <a:ea typeface="Jost"/>
                <a:cs typeface="Jost"/>
              </a:rPr>
              <a:t>Why they should care: </a:t>
            </a:r>
            <a:pPr algn="l" indent="0" marL="0">
              <a:spcAft>
                <a:spcPts val="1500"/>
              </a:spcAft>
              <a:buNone/>
            </a:pPr>
            <a:r>
              <a:rPr lang="en-US" sz="4400" dirty="0">
                <a:solidFill>
                  <a:srgbClr val="FBF7F1"/>
                </a:solidFill>
                <a:latin typeface="Jost"/>
                <a:ea typeface="Jost"/>
                <a:cs typeface="Jost"/>
              </a:rPr>
              <a:t>Their lashes won't be too heavy or dramatic</a:t>
            </a:r>
            <a:endParaRPr lang="en-US" sz="4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What I do: </a:t>
            </a:r>
            <a:pPr algn="l" indent="0" marL="0">
              <a:spcAft>
                <a:spcPts val="1500"/>
              </a:spcAft>
              <a:buNone/>
            </a:pPr>
            <a:r>
              <a:rPr lang="en-US" sz="4400" dirty="0">
                <a:solidFill>
                  <a:srgbClr val="2A201B"/>
                </a:solidFill>
                <a:latin typeface="Jost"/>
                <a:ea typeface="Jost"/>
                <a:cs typeface="Jost"/>
              </a:rPr>
              <a:t>Natural, wispy lashes</a:t>
            </a:r>
            <a:endParaRPr lang="en-US" sz="4400" dirty="0"/>
          </a:p>
          <a:p>
            <a:pPr algn="l" indent="0" marL="0">
              <a:spcAft>
                <a:spcPts val="1500"/>
              </a:spcAft>
              <a:buNone/>
            </a:pPr>
            <a:r>
              <a:rPr lang="en-US" sz="4400" b="1" dirty="0">
                <a:solidFill>
                  <a:srgbClr val="AD5A6E"/>
                </a:solidFill>
                <a:latin typeface="Jost"/>
                <a:ea typeface="Jost"/>
                <a:cs typeface="Jost"/>
              </a:rPr>
              <a:t>Who it's for: </a:t>
            </a:r>
            <a:pPr algn="l" indent="0" marL="0">
              <a:spcAft>
                <a:spcPts val="1500"/>
              </a:spcAft>
              <a:buNone/>
            </a:pPr>
            <a:r>
              <a:rPr lang="en-US" sz="4400" dirty="0">
                <a:solidFill>
                  <a:srgbClr val="2A201B"/>
                </a:solidFill>
                <a:latin typeface="Jost"/>
                <a:ea typeface="Jost"/>
                <a:cs typeface="Jost"/>
              </a:rPr>
              <a:t>Women who want to look put together</a:t>
            </a:r>
            <a:endParaRPr lang="en-US" sz="4400" dirty="0"/>
          </a:p>
          <a:p>
            <a:pPr algn="l" indent="0" marL="0">
              <a:spcAft>
                <a:spcPts val="1500"/>
              </a:spcAft>
              <a:buNone/>
            </a:pPr>
            <a:r>
              <a:rPr lang="en-US" sz="4400" b="1" dirty="0">
                <a:solidFill>
                  <a:srgbClr val="AD5A6E"/>
                </a:solidFill>
                <a:latin typeface="Jost"/>
                <a:ea typeface="Jost"/>
                <a:cs typeface="Jost"/>
              </a:rPr>
              <a:t>Why they should care: </a:t>
            </a:r>
            <a:pPr algn="l" indent="0" marL="0">
              <a:spcAft>
                <a:spcPts val="1500"/>
              </a:spcAft>
              <a:buNone/>
            </a:pPr>
            <a:r>
              <a:rPr lang="en-US" sz="4400" dirty="0">
                <a:solidFill>
                  <a:srgbClr val="2A201B"/>
                </a:solidFill>
                <a:latin typeface="Jost"/>
                <a:ea typeface="Jost"/>
                <a:cs typeface="Jost"/>
              </a:rPr>
              <a:t>Their lashes won't be too heavy or dramatic</a:t>
            </a:r>
            <a:endParaRPr lang="en-US" sz="44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two minutes. Write yours.</a:t>
            </a:r>
            <a:endParaRPr lang="en-US" sz="5500" dirty="0"/>
          </a:p>
          <a:p>
            <a:pPr algn="l" indent="0" marL="0">
              <a:spcAft>
                <a:spcPts val="1700"/>
              </a:spcAft>
              <a:buNone/>
            </a:pPr>
            <a:r>
              <a:rPr lang="en-US" sz="4800" dirty="0">
                <a:solidFill>
                  <a:srgbClr val="FBF7F1"/>
                </a:solidFill>
                <a:latin typeface="Jost"/>
                <a:ea typeface="Jost"/>
                <a:cs typeface="Jost"/>
              </a:rPr>
              <a:t>It doesn't have to be perfect. It's your starting point.</a:t>
            </a:r>
            <a:endParaRPr lang="en-US" sz="4800" dirty="0"/>
          </a:p>
          <a:p>
            <a:pPr algn="l" indent="0" marL="0">
              <a:spcAft>
                <a:spcPts val="1700"/>
              </a:spcAft>
              <a:buNone/>
            </a:pPr>
            <a:r>
              <a:rPr lang="en-US" sz="4800" dirty="0">
                <a:solidFill>
                  <a:srgbClr val="FBF7F1"/>
                </a:solidFill>
                <a:latin typeface="Jost"/>
                <a:ea typeface="Jost"/>
                <a:cs typeface="Jost"/>
              </a:rPr>
              <a:t>If you're comfortable, drop yours in the chat.</a:t>
            </a:r>
            <a:endParaRPr lang="en-US" sz="4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two minutes. Write yours.</a:t>
            </a:r>
            <a:endParaRPr lang="en-US" sz="5500" dirty="0"/>
          </a:p>
          <a:p>
            <a:pPr algn="l" indent="0" marL="0">
              <a:spcAft>
                <a:spcPts val="1700"/>
              </a:spcAft>
              <a:buNone/>
            </a:pPr>
            <a:r>
              <a:rPr lang="en-US" sz="4800" dirty="0">
                <a:solidFill>
                  <a:srgbClr val="2A201B"/>
                </a:solidFill>
                <a:latin typeface="Jost"/>
                <a:ea typeface="Jost"/>
                <a:cs typeface="Jost"/>
              </a:rPr>
              <a:t>It doesn't have to be perfect. It's your starting point.</a:t>
            </a:r>
            <a:endParaRPr lang="en-US" sz="4800" dirty="0"/>
          </a:p>
          <a:p>
            <a:pPr algn="l" indent="0" marL="0">
              <a:spcAft>
                <a:spcPts val="1700"/>
              </a:spcAft>
              <a:buNone/>
            </a:pPr>
            <a:r>
              <a:rPr lang="en-US" sz="4800" dirty="0">
                <a:solidFill>
                  <a:srgbClr val="FBF7F1"/>
                </a:solidFill>
                <a:latin typeface="Jost"/>
                <a:ea typeface="Jost"/>
                <a:cs typeface="Jost"/>
              </a:rPr>
              <a:t>If you're comfortable, drop yours in the chat.</a:t>
            </a:r>
            <a:endParaRPr lang="en-US" sz="48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two minutes. Write yours.</a:t>
            </a:r>
            <a:endParaRPr lang="en-US" sz="5500" dirty="0"/>
          </a:p>
          <a:p>
            <a:pPr algn="l" indent="0" marL="0">
              <a:spcAft>
                <a:spcPts val="1700"/>
              </a:spcAft>
              <a:buNone/>
            </a:pPr>
            <a:r>
              <a:rPr lang="en-US" sz="4800" dirty="0">
                <a:solidFill>
                  <a:srgbClr val="2A201B"/>
                </a:solidFill>
                <a:latin typeface="Jost"/>
                <a:ea typeface="Jost"/>
                <a:cs typeface="Jost"/>
              </a:rPr>
              <a:t>It doesn't have to be perfect. It's your starting point.</a:t>
            </a:r>
            <a:endParaRPr lang="en-US" sz="4800" dirty="0"/>
          </a:p>
          <a:p>
            <a:pPr algn="l" indent="0" marL="0">
              <a:spcAft>
                <a:spcPts val="1700"/>
              </a:spcAft>
              <a:buNone/>
            </a:pPr>
            <a:r>
              <a:rPr lang="en-US" sz="4800" dirty="0">
                <a:solidFill>
                  <a:srgbClr val="2A201B"/>
                </a:solidFill>
                <a:latin typeface="Jost"/>
                <a:ea typeface="Jost"/>
                <a:cs typeface="Jost"/>
              </a:rPr>
              <a:t>If you're comfortable, drop yours in the chat.</a:t>
            </a:r>
            <a:endParaRPr lang="en-US" sz="4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Let's fix one together, live.</a:t>
            </a:r>
            <a:endParaRPr lang="en-US" sz="6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78</a:t>
            </a:r>
            <a:endParaRPr lang="en-US" sz="1000" dirty="0"/>
          </a:p>
        </p:txBody>
      </p:sp>
      <p:sp>
        <p:nvSpPr>
          <p:cNvPr id="4" name="Text 1"/>
          <p:cNvSpPr txBox="1"/>
          <p:nvPr/>
        </p:nvSpPr>
        <p:spPr>
          <a:xfrm>
            <a:off x="731520" y="548640"/>
            <a:ext cx="10728655" cy="5806440"/>
          </a:xfrm>
          <a:prstGeom prst="rect">
            <a:avLst/>
          </a:prstGeom>
          <a:noFill/>
          <a:ln/>
        </p:spPr>
        <p:txBody>
          <a:bodyPr wrap="square" lIns="0" tIns="0" rIns="0" bIns="0" rtlCol="0" anchor="ctr"/>
          <a:lstStyle/>
          <a:p>
            <a:pPr indent="0" marL="0">
              <a:buNone/>
            </a:pPr>
            <a:r>
              <a:rPr lang="en-US" sz="4400" dirty="0">
                <a:solidFill>
                  <a:srgbClr val="2A201B"/>
                </a:solidFill>
                <a:latin typeface="Jost"/>
                <a:ea typeface="Jost"/>
                <a:cs typeface="Jost"/>
              </a:rPr>
              <a:t>I specialize in </a:t>
            </a:r>
            <a:pPr indent="0" marL="0">
              <a:buNone/>
            </a:pPr>
            <a:r>
              <a:rPr lang="en-US" sz="4400" b="1" dirty="0">
                <a:solidFill>
                  <a:srgbClr val="AD5A6E"/>
                </a:solidFill>
                <a:latin typeface="Jost"/>
                <a:ea typeface="Jost"/>
                <a:cs typeface="Jost"/>
              </a:rPr>
              <a:t>______</a:t>
            </a:r>
            <a:pPr indent="0" marL="0">
              <a:buNone/>
            </a:pPr>
            <a:r>
              <a:rPr lang="en-US" sz="4400" dirty="0">
                <a:solidFill>
                  <a:srgbClr val="2A201B"/>
                </a:solidFill>
                <a:latin typeface="Jost"/>
                <a:ea typeface="Jost"/>
                <a:cs typeface="Jost"/>
              </a:rPr>
              <a:t> for </a:t>
            </a:r>
            <a:pPr indent="0" marL="0">
              <a:buNone/>
            </a:pPr>
            <a:r>
              <a:rPr lang="en-US" sz="4400" b="1" dirty="0">
                <a:solidFill>
                  <a:srgbClr val="AD5A6E"/>
                </a:solidFill>
                <a:latin typeface="Jost"/>
                <a:ea typeface="Jost"/>
                <a:cs typeface="Jost"/>
              </a:rPr>
              <a:t>______</a:t>
            </a:r>
            <a:pPr indent="0" marL="0">
              <a:buNone/>
            </a:pPr>
            <a:r>
              <a:rPr lang="en-US" sz="4400" dirty="0">
                <a:solidFill>
                  <a:srgbClr val="2A201B"/>
                </a:solidFill>
                <a:latin typeface="Jost"/>
                <a:ea typeface="Jost"/>
                <a:cs typeface="Jost"/>
              </a:rPr>
              <a:t> who wants </a:t>
            </a:r>
            <a:pPr indent="0" marL="0">
              <a:buNone/>
            </a:pPr>
            <a:r>
              <a:rPr lang="en-US" sz="4400" b="1" dirty="0">
                <a:solidFill>
                  <a:srgbClr val="AD5A6E"/>
                </a:solidFill>
                <a:latin typeface="Jost"/>
                <a:ea typeface="Jost"/>
                <a:cs typeface="Jost"/>
              </a:rPr>
              <a:t>______</a:t>
            </a:r>
            <a:pPr indent="0" marL="0">
              <a:buNone/>
            </a:pPr>
            <a:r>
              <a:rPr lang="en-US" sz="4400" dirty="0">
                <a:solidFill>
                  <a:srgbClr val="2A201B"/>
                </a:solidFill>
                <a:latin typeface="Jost"/>
                <a:ea typeface="Jost"/>
                <a:cs typeface="Jost"/>
              </a:rPr>
              <a:t>, through </a:t>
            </a:r>
            <a:pPr indent="0" marL="0">
              <a:buNone/>
            </a:pPr>
            <a:r>
              <a:rPr lang="en-US" sz="4400" b="1" dirty="0">
                <a:solidFill>
                  <a:srgbClr val="AD5A6E"/>
                </a:solidFill>
                <a:latin typeface="Jost"/>
                <a:ea typeface="Jost"/>
                <a:cs typeface="Jost"/>
              </a:rPr>
              <a:t>______</a:t>
            </a:r>
            <a:pPr indent="0" marL="0">
              <a:buNone/>
            </a:pPr>
            <a:r>
              <a:rPr lang="en-US" sz="4400" dirty="0">
                <a:solidFill>
                  <a:srgbClr val="2A201B"/>
                </a:solidFill>
                <a:latin typeface="Jost"/>
                <a:ea typeface="Jost"/>
                <a:cs typeface="Jost"/>
              </a:rPr>
              <a:t>.</a:t>
            </a:r>
            <a:endParaRPr lang="en-US" sz="4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79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Imagine someone landing on your page and thinking, "Oh. She's the one for me."</a:t>
            </a:r>
            <a:endParaRPr lang="en-US" sz="6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Will you put your statement in your bio this week?</a:t>
            </a:r>
            <a:endParaRPr lang="en-US" sz="5500" dirty="0"/>
          </a:p>
          <a:p>
            <a:pPr algn="l" indent="0" marL="0">
              <a:spcAft>
                <a:spcPts val="1700"/>
              </a:spcAft>
              <a:buNone/>
            </a:pPr>
            <a:r>
              <a:rPr lang="en-US" sz="4800" dirty="0">
                <a:solidFill>
                  <a:srgbClr val="FBF7F1"/>
                </a:solidFill>
                <a:latin typeface="Jost"/>
                <a:ea typeface="Jost"/>
                <a:cs typeface="Jost"/>
              </a:rPr>
              <a:t>Type YES.</a:t>
            </a:r>
            <a:endParaRPr lang="en-US" sz="4800" dirty="0"/>
          </a:p>
          <a:p>
            <a:pPr algn="l" indent="0" marL="0">
              <a:spcAft>
                <a:spcPts val="1700"/>
              </a:spcAft>
              <a:buNone/>
            </a:pPr>
            <a:r>
              <a:rPr lang="en-US" sz="4800" dirty="0">
                <a:solidFill>
                  <a:srgbClr val="FBF7F1"/>
                </a:solidFill>
                <a:latin typeface="Jost"/>
                <a:ea typeface="Jost"/>
                <a:cs typeface="Jost"/>
              </a:rPr>
              <a:t>Type this:</a:t>
            </a:r>
            <a:endParaRPr lang="en-US" sz="4800" dirty="0"/>
          </a:p>
          <a:p>
            <a:pPr algn="l" indent="0" marL="0">
              <a:spcAft>
                <a:spcPts val="1700"/>
              </a:spcAft>
              <a:buNone/>
            </a:pPr>
            <a:r>
              <a:rPr lang="en-US" sz="4800" dirty="0">
                <a:solidFill>
                  <a:srgbClr val="FBF7F1"/>
                </a:solidFill>
                <a:latin typeface="Jost"/>
                <a:ea typeface="Jost"/>
                <a:cs typeface="Jost"/>
              </a:rPr>
              <a:t>"I know why they should choose me."</a:t>
            </a:r>
            <a:endParaRPr lang="en-US" sz="4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Will you put your statement in your bio this week?</a:t>
            </a:r>
            <a:endParaRPr lang="en-US" sz="5500" dirty="0"/>
          </a:p>
          <a:p>
            <a:pPr algn="l" indent="0" marL="0">
              <a:spcAft>
                <a:spcPts val="1700"/>
              </a:spcAft>
              <a:buNone/>
            </a:pPr>
            <a:r>
              <a:rPr lang="en-US" sz="4800" dirty="0">
                <a:solidFill>
                  <a:srgbClr val="2A201B"/>
                </a:solidFill>
                <a:latin typeface="Jost"/>
                <a:ea typeface="Jost"/>
                <a:cs typeface="Jost"/>
              </a:rPr>
              <a:t>Type YES.</a:t>
            </a:r>
            <a:endParaRPr lang="en-US" sz="4800" dirty="0"/>
          </a:p>
          <a:p>
            <a:pPr algn="l" indent="0" marL="0">
              <a:spcAft>
                <a:spcPts val="1700"/>
              </a:spcAft>
              <a:buNone/>
            </a:pPr>
            <a:r>
              <a:rPr lang="en-US" sz="4800" dirty="0">
                <a:solidFill>
                  <a:srgbClr val="FBF7F1"/>
                </a:solidFill>
                <a:latin typeface="Jost"/>
                <a:ea typeface="Jost"/>
                <a:cs typeface="Jost"/>
              </a:rPr>
              <a:t>Type this:</a:t>
            </a:r>
            <a:endParaRPr lang="en-US" sz="4800" dirty="0"/>
          </a:p>
          <a:p>
            <a:pPr algn="l" indent="0" marL="0">
              <a:spcAft>
                <a:spcPts val="1700"/>
              </a:spcAft>
              <a:buNone/>
            </a:pPr>
            <a:r>
              <a:rPr lang="en-US" sz="4800" dirty="0">
                <a:solidFill>
                  <a:srgbClr val="FBF7F1"/>
                </a:solidFill>
                <a:latin typeface="Jost"/>
                <a:ea typeface="Jost"/>
                <a:cs typeface="Jost"/>
              </a:rPr>
              <a:t>"I know why they should choose me."</a:t>
            </a:r>
            <a:endParaRPr lang="en-US" sz="48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Will you put your statement in your bio this week?</a:t>
            </a:r>
            <a:endParaRPr lang="en-US" sz="5500" dirty="0"/>
          </a:p>
          <a:p>
            <a:pPr algn="l" indent="0" marL="0">
              <a:spcAft>
                <a:spcPts val="1700"/>
              </a:spcAft>
              <a:buNone/>
            </a:pPr>
            <a:r>
              <a:rPr lang="en-US" sz="4800" dirty="0">
                <a:solidFill>
                  <a:srgbClr val="2A201B"/>
                </a:solidFill>
                <a:latin typeface="Jost"/>
                <a:ea typeface="Jost"/>
                <a:cs typeface="Jost"/>
              </a:rPr>
              <a:t>Type YES.</a:t>
            </a:r>
            <a:endParaRPr lang="en-US" sz="4800" dirty="0"/>
          </a:p>
          <a:p>
            <a:pPr algn="l" indent="0" marL="0">
              <a:spcAft>
                <a:spcPts val="1700"/>
              </a:spcAft>
              <a:buNone/>
            </a:pPr>
            <a:r>
              <a:rPr lang="en-US" sz="4800" dirty="0">
                <a:solidFill>
                  <a:srgbClr val="2A201B"/>
                </a:solidFill>
                <a:latin typeface="Jost"/>
                <a:ea typeface="Jost"/>
                <a:cs typeface="Jost"/>
              </a:rPr>
              <a:t>Type this:</a:t>
            </a:r>
            <a:endParaRPr lang="en-US" sz="4800" dirty="0"/>
          </a:p>
          <a:p>
            <a:pPr algn="l" indent="0" marL="0">
              <a:spcAft>
                <a:spcPts val="1700"/>
              </a:spcAft>
              <a:buNone/>
            </a:pPr>
            <a:r>
              <a:rPr lang="en-US" sz="4800" dirty="0">
                <a:solidFill>
                  <a:srgbClr val="FBF7F1"/>
                </a:solidFill>
                <a:latin typeface="Jost"/>
                <a:ea typeface="Jost"/>
                <a:cs typeface="Jost"/>
              </a:rPr>
              <a:t>"I know why they should choose me."</a:t>
            </a:r>
            <a:endParaRPr lang="en-US" sz="4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Will you put your statement in your bio this week?</a:t>
            </a:r>
            <a:endParaRPr lang="en-US" sz="5500" dirty="0"/>
          </a:p>
          <a:p>
            <a:pPr algn="l" indent="0" marL="0">
              <a:spcAft>
                <a:spcPts val="1700"/>
              </a:spcAft>
              <a:buNone/>
            </a:pPr>
            <a:r>
              <a:rPr lang="en-US" sz="4800" dirty="0">
                <a:solidFill>
                  <a:srgbClr val="2A201B"/>
                </a:solidFill>
                <a:latin typeface="Jost"/>
                <a:ea typeface="Jost"/>
                <a:cs typeface="Jost"/>
              </a:rPr>
              <a:t>Type YES.</a:t>
            </a:r>
            <a:endParaRPr lang="en-US" sz="4800" dirty="0"/>
          </a:p>
          <a:p>
            <a:pPr algn="l" indent="0" marL="0">
              <a:spcAft>
                <a:spcPts val="1700"/>
              </a:spcAft>
              <a:buNone/>
            </a:pPr>
            <a:r>
              <a:rPr lang="en-US" sz="4800" dirty="0">
                <a:solidFill>
                  <a:srgbClr val="2A201B"/>
                </a:solidFill>
                <a:latin typeface="Jost"/>
                <a:ea typeface="Jost"/>
                <a:cs typeface="Jost"/>
              </a:rPr>
              <a:t>Type this:</a:t>
            </a:r>
            <a:endParaRPr lang="en-US" sz="4800" dirty="0"/>
          </a:p>
          <a:p>
            <a:pPr algn="l" indent="0" marL="0">
              <a:spcAft>
                <a:spcPts val="1700"/>
              </a:spcAft>
              <a:buNone/>
            </a:pPr>
            <a:r>
              <a:rPr lang="en-US" sz="4800" dirty="0">
                <a:solidFill>
                  <a:srgbClr val="2A201B"/>
                </a:solidFill>
                <a:latin typeface="Jost"/>
                <a:ea typeface="Jost"/>
                <a:cs typeface="Jost"/>
              </a:rPr>
              <a:t>"I know why they should choose me."</a:t>
            </a:r>
            <a:endParaRPr lang="en-US" sz="4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Now that clients know why to choose you, let's make sure they actually see it.</a:t>
            </a:r>
            <a:endParaRPr lang="en-US" sz="6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82</a:t>
            </a:r>
            <a:endParaRPr lang="en-US" sz="1000" dirty="0"/>
          </a:p>
        </p:txBody>
      </p:sp>
      <p:sp>
        <p:nvSpPr>
          <p:cNvPr id="4" name="Shape 1"/>
          <p:cNvSpPr/>
          <p:nvPr/>
        </p:nvSpPr>
        <p:spPr>
          <a:xfrm>
            <a:off x="731520" y="822960"/>
            <a:ext cx="640080" cy="640080"/>
          </a:xfrm>
          <a:prstGeom prst="ellipse">
            <a:avLst/>
          </a:prstGeom>
          <a:solidFill>
            <a:srgbClr val="AD5A6E"/>
          </a:solidFill>
          <a:ln w="12700">
            <a:solidFill>
              <a:srgbClr val="AD5A6E"/>
            </a:solidFill>
            <a:prstDash val="solid"/>
          </a:ln>
        </p:spPr>
      </p:sp>
      <p:sp>
        <p:nvSpPr>
          <p:cNvPr id="5" name="Text 2"/>
          <p:cNvSpPr txBox="1"/>
          <p:nvPr/>
        </p:nvSpPr>
        <p:spPr>
          <a:xfrm>
            <a:off x="731520" y="82296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6" name="Text 3"/>
          <p:cNvSpPr txBox="1"/>
          <p:nvPr/>
        </p:nvSpPr>
        <p:spPr>
          <a:xfrm>
            <a:off x="1828800" y="73152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1: Position yourself so clients know why to choose you</a:t>
            </a:r>
            <a:endParaRPr lang="en-US" sz="2800" dirty="0"/>
          </a:p>
        </p:txBody>
      </p:sp>
      <p:sp>
        <p:nvSpPr>
          <p:cNvPr id="7" name="Shape 4"/>
          <p:cNvSpPr/>
          <p:nvPr/>
        </p:nvSpPr>
        <p:spPr>
          <a:xfrm>
            <a:off x="731520" y="2514600"/>
            <a:ext cx="822960" cy="822960"/>
          </a:xfrm>
          <a:prstGeom prst="ellipse">
            <a:avLst/>
          </a:prstGeom>
          <a:solidFill>
            <a:srgbClr val="AD5A6E"/>
          </a:solidFill>
          <a:ln w="12700">
            <a:solidFill>
              <a:srgbClr val="AD5A6E"/>
            </a:solidFill>
            <a:prstDash val="solid"/>
          </a:ln>
        </p:spPr>
      </p:sp>
      <p:sp>
        <p:nvSpPr>
          <p:cNvPr id="8" name="Text 5"/>
          <p:cNvSpPr txBox="1"/>
          <p:nvPr/>
        </p:nvSpPr>
        <p:spPr>
          <a:xfrm>
            <a:off x="731520" y="2514600"/>
            <a:ext cx="822960" cy="822960"/>
          </a:xfrm>
          <a:prstGeom prst="rect">
            <a:avLst/>
          </a:prstGeom>
          <a:noFill/>
          <a:ln/>
        </p:spPr>
        <p:txBody>
          <a:bodyPr wrap="square" lIns="0" tIns="0" rIns="0" bIns="0" rtlCol="0" anchor="ctr"/>
          <a:lstStyle/>
          <a:p>
            <a:pPr algn="ctr" indent="0" marL="0">
              <a:buNone/>
            </a:pPr>
            <a:r>
              <a:rPr lang="en-US" sz="3000" b="1" dirty="0">
                <a:solidFill>
                  <a:srgbClr val="FBF7F1"/>
                </a:solidFill>
                <a:latin typeface="Jost"/>
                <a:ea typeface="Jost"/>
                <a:cs typeface="Jost"/>
              </a:rPr>
              <a:t>2</a:t>
            </a:r>
            <a:endParaRPr lang="en-US" sz="3000" dirty="0"/>
          </a:p>
        </p:txBody>
      </p:sp>
      <p:sp>
        <p:nvSpPr>
          <p:cNvPr id="9" name="Text 6"/>
          <p:cNvSpPr txBox="1"/>
          <p:nvPr/>
        </p:nvSpPr>
        <p:spPr>
          <a:xfrm>
            <a:off x="1828800" y="2194560"/>
            <a:ext cx="9631375" cy="1463040"/>
          </a:xfrm>
          <a:prstGeom prst="rect">
            <a:avLst/>
          </a:prstGeom>
          <a:noFill/>
          <a:ln/>
        </p:spPr>
        <p:txBody>
          <a:bodyPr wrap="square" lIns="0" tIns="0" rIns="0" bIns="0" rtlCol="0" anchor="ctr"/>
          <a:lstStyle/>
          <a:p>
            <a:pPr indent="0" marL="0">
              <a:buNone/>
            </a:pPr>
            <a:r>
              <a:rPr lang="en-US" sz="4000" b="1" dirty="0">
                <a:solidFill>
                  <a:srgbClr val="AD5A6E"/>
                </a:solidFill>
                <a:latin typeface="Jost"/>
                <a:ea typeface="Jost"/>
                <a:cs typeface="Jost"/>
              </a:rPr>
              <a:t>Step 2: Post the 3 kinds of content</a:t>
            </a:r>
            <a:endParaRPr lang="en-US" sz="4000" dirty="0"/>
          </a:p>
        </p:txBody>
      </p:sp>
      <p:sp>
        <p:nvSpPr>
          <p:cNvPr id="10" name="Shape 7"/>
          <p:cNvSpPr/>
          <p:nvPr/>
        </p:nvSpPr>
        <p:spPr>
          <a:xfrm>
            <a:off x="731520" y="4389120"/>
            <a:ext cx="640080" cy="640080"/>
          </a:xfrm>
          <a:prstGeom prst="ellipse">
            <a:avLst/>
          </a:prstGeom>
          <a:solidFill>
            <a:srgbClr val="F4EBE1"/>
          </a:solidFill>
          <a:ln w="12700">
            <a:solidFill>
              <a:srgbClr val="E4D6C7"/>
            </a:solidFill>
            <a:prstDash val="solid"/>
          </a:ln>
        </p:spPr>
      </p:sp>
      <p:sp>
        <p:nvSpPr>
          <p:cNvPr id="11" name="Text 8"/>
          <p:cNvSpPr txBox="1"/>
          <p:nvPr/>
        </p:nvSpPr>
        <p:spPr>
          <a:xfrm>
            <a:off x="731520" y="4389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3</a:t>
            </a:r>
            <a:endParaRPr lang="en-US" sz="2200" dirty="0"/>
          </a:p>
        </p:txBody>
      </p:sp>
      <p:sp>
        <p:nvSpPr>
          <p:cNvPr id="12" name="Text 9"/>
          <p:cNvSpPr txBox="1"/>
          <p:nvPr/>
        </p:nvSpPr>
        <p:spPr>
          <a:xfrm>
            <a:off x="1828800" y="4297680"/>
            <a:ext cx="9631375" cy="822960"/>
          </a:xfrm>
          <a:prstGeom prst="rect">
            <a:avLst/>
          </a:prstGeom>
          <a:noFill/>
          <a:ln/>
        </p:spPr>
        <p:txBody>
          <a:bodyPr wrap="square" lIns="0" tIns="0" rIns="0" bIns="0" rtlCol="0" anchor="ctr"/>
          <a:lstStyle/>
          <a:p>
            <a:pPr indent="0" marL="0">
              <a:buNone/>
            </a:pPr>
            <a:r>
              <a:rPr lang="en-US" sz="3000" dirty="0">
                <a:solidFill>
                  <a:srgbClr val="8F7B6E"/>
                </a:solidFill>
                <a:latin typeface="Jost"/>
                <a:ea typeface="Jost"/>
                <a:cs typeface="Jost"/>
              </a:rPr>
              <a:t>Step 3: Find your next revenue opportunity</a:t>
            </a:r>
            <a:endParaRPr lang="en-US" sz="30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Quick question.</a:t>
            </a:r>
            <a:endParaRPr lang="en-US" sz="6900" dirty="0"/>
          </a:p>
          <a:p>
            <a:pPr algn="l" indent="0" marL="0">
              <a:spcAft>
                <a:spcPts val="2100"/>
              </a:spcAft>
              <a:buNone/>
            </a:pPr>
            <a:r>
              <a:rPr lang="en-US" sz="6000" dirty="0">
                <a:solidFill>
                  <a:srgbClr val="2A201B"/>
                </a:solidFill>
                <a:latin typeface="Jost"/>
                <a:ea typeface="Jost"/>
                <a:cs typeface="Jost"/>
              </a:rPr>
              <a:t>How many times did you post last week? Drop the number in the chat.</a:t>
            </a:r>
            <a:endParaRPr lang="en-US" sz="60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Now be honest.</a:t>
            </a:r>
            <a:endParaRPr lang="en-US" sz="6900" dirty="0"/>
          </a:p>
          <a:p>
            <a:pPr algn="l" indent="0" marL="0">
              <a:spcAft>
                <a:spcPts val="2100"/>
              </a:spcAft>
              <a:buNone/>
            </a:pPr>
            <a:r>
              <a:rPr lang="en-US" sz="6000" dirty="0">
                <a:solidFill>
                  <a:srgbClr val="2A201B"/>
                </a:solidFill>
                <a:latin typeface="Jost"/>
                <a:ea typeface="Jost"/>
                <a:cs typeface="Jost"/>
              </a:rPr>
              <a:t>How many of those posts turned into an actual booking?</a:t>
            </a:r>
            <a:endParaRPr lang="en-US" sz="60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That gap is what we're fixing in this section.</a:t>
            </a:r>
            <a:endParaRPr lang="en-US" sz="6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It's usually not that you're not posting enough.</a:t>
            </a:r>
            <a:endParaRPr lang="en-US" sz="5100" dirty="0"/>
          </a:p>
          <a:p>
            <a:pPr algn="l" indent="0" marL="0">
              <a:spcAft>
                <a:spcPts val="1500"/>
              </a:spcAft>
              <a:buNone/>
            </a:pPr>
            <a:r>
              <a:rPr lang="en-US" sz="4400" dirty="0">
                <a:solidFill>
                  <a:srgbClr val="FBF7F1"/>
                </a:solidFill>
                <a:latin typeface="Jost"/>
                <a:ea typeface="Jost"/>
                <a:cs typeface="Jost"/>
              </a:rPr>
              <a:t>It's that you're posting the same kind of post over and over.</a:t>
            </a:r>
            <a:endParaRPr lang="en-US" sz="4400" dirty="0"/>
          </a:p>
          <a:p>
            <a:pPr algn="l" indent="0" marL="0">
              <a:spcAft>
                <a:spcPts val="1500"/>
              </a:spcAft>
              <a:buNone/>
            </a:pPr>
            <a:r>
              <a:rPr lang="en-US" sz="4400" dirty="0">
                <a:solidFill>
                  <a:srgbClr val="FBF7F1"/>
                </a:solidFill>
                <a:latin typeface="Jost"/>
                <a:ea typeface="Jost"/>
                <a:cs typeface="Jost"/>
              </a:rPr>
              <a:t>For a lot of us, that's our work, or before-and-afters.</a:t>
            </a:r>
            <a:endParaRPr lang="en-US" sz="4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It's usually not that you're not posting enough.</a:t>
            </a:r>
            <a:endParaRPr lang="en-US" sz="5100" dirty="0"/>
          </a:p>
          <a:p>
            <a:pPr algn="l" indent="0" marL="0">
              <a:spcAft>
                <a:spcPts val="1500"/>
              </a:spcAft>
              <a:buNone/>
            </a:pPr>
            <a:r>
              <a:rPr lang="en-US" sz="4400" dirty="0">
                <a:solidFill>
                  <a:srgbClr val="2A201B"/>
                </a:solidFill>
                <a:latin typeface="Jost"/>
                <a:ea typeface="Jost"/>
                <a:cs typeface="Jost"/>
              </a:rPr>
              <a:t>It's that you're posting the same kind of post over and over.</a:t>
            </a:r>
            <a:endParaRPr lang="en-US" sz="4400" dirty="0"/>
          </a:p>
          <a:p>
            <a:pPr algn="l" indent="0" marL="0">
              <a:spcAft>
                <a:spcPts val="1500"/>
              </a:spcAft>
              <a:buNone/>
            </a:pPr>
            <a:r>
              <a:rPr lang="en-US" sz="4400" dirty="0">
                <a:solidFill>
                  <a:srgbClr val="FBF7F1"/>
                </a:solidFill>
                <a:latin typeface="Jost"/>
                <a:ea typeface="Jost"/>
                <a:cs typeface="Jost"/>
              </a:rPr>
              <a:t>For a lot of us, that's our work, or before-and-afters.</a:t>
            </a:r>
            <a:endParaRPr lang="en-US" sz="4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It's usually not that you're not posting enough.</a:t>
            </a:r>
            <a:endParaRPr lang="en-US" sz="5100" dirty="0"/>
          </a:p>
          <a:p>
            <a:pPr algn="l" indent="0" marL="0">
              <a:spcAft>
                <a:spcPts val="1500"/>
              </a:spcAft>
              <a:buNone/>
            </a:pPr>
            <a:r>
              <a:rPr lang="en-US" sz="4400" dirty="0">
                <a:solidFill>
                  <a:srgbClr val="2A201B"/>
                </a:solidFill>
                <a:latin typeface="Jost"/>
                <a:ea typeface="Jost"/>
                <a:cs typeface="Jost"/>
              </a:rPr>
              <a:t>It's that you're posting the same kind of post over and over.</a:t>
            </a:r>
            <a:endParaRPr lang="en-US" sz="4400" dirty="0"/>
          </a:p>
          <a:p>
            <a:pPr algn="l" indent="0" marL="0">
              <a:spcAft>
                <a:spcPts val="1500"/>
              </a:spcAft>
              <a:buNone/>
            </a:pPr>
            <a:r>
              <a:rPr lang="en-US" sz="4400" dirty="0">
                <a:solidFill>
                  <a:srgbClr val="2A201B"/>
                </a:solidFill>
                <a:latin typeface="Jost"/>
                <a:ea typeface="Jost"/>
                <a:cs typeface="Jost"/>
              </a:rPr>
              <a:t>For a lot of us, that's our work, or before-and-afters.</a:t>
            </a:r>
            <a:endParaRPr lang="en-US" sz="44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Think about it like dating.</a:t>
            </a:r>
            <a:endParaRPr lang="en-US" sz="5500" dirty="0"/>
          </a:p>
          <a:p>
            <a:pPr algn="l" indent="0" marL="0">
              <a:spcAft>
                <a:spcPts val="1700"/>
              </a:spcAft>
              <a:buNone/>
            </a:pPr>
            <a:r>
              <a:rPr lang="en-US" sz="4800" dirty="0">
                <a:solidFill>
                  <a:srgbClr val="FBF7F1"/>
                </a:solidFill>
                <a:latin typeface="Jost"/>
                <a:ea typeface="Jost"/>
                <a:cs typeface="Jost"/>
              </a:rPr>
              <a:t>You don't ask someone to marry you the first time you meet.</a:t>
            </a:r>
            <a:endParaRPr lang="en-US" sz="4800" dirty="0"/>
          </a:p>
          <a:p>
            <a:pPr algn="l" indent="0" marL="0">
              <a:spcAft>
                <a:spcPts val="1700"/>
              </a:spcAft>
              <a:buNone/>
            </a:pPr>
            <a:r>
              <a:rPr lang="en-US" sz="4800" dirty="0">
                <a:solidFill>
                  <a:srgbClr val="FBF7F1"/>
                </a:solidFill>
                <a:latin typeface="Jost"/>
                <a:ea typeface="Jost"/>
                <a:cs typeface="Jost"/>
              </a:rPr>
              <a:t>Someone who's never heard of you isn't booking off one photo.</a:t>
            </a:r>
            <a:endParaRPr lang="en-US" sz="48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Think about it like dating.</a:t>
            </a:r>
            <a:endParaRPr lang="en-US" sz="5500" dirty="0"/>
          </a:p>
          <a:p>
            <a:pPr algn="l" indent="0" marL="0">
              <a:spcAft>
                <a:spcPts val="1700"/>
              </a:spcAft>
              <a:buNone/>
            </a:pPr>
            <a:r>
              <a:rPr lang="en-US" sz="4800" dirty="0">
                <a:solidFill>
                  <a:srgbClr val="2A201B"/>
                </a:solidFill>
                <a:latin typeface="Jost"/>
                <a:ea typeface="Jost"/>
                <a:cs typeface="Jost"/>
              </a:rPr>
              <a:t>You don't ask someone to marry you the first time you meet.</a:t>
            </a:r>
            <a:endParaRPr lang="en-US" sz="4800" dirty="0"/>
          </a:p>
          <a:p>
            <a:pPr algn="l" indent="0" marL="0">
              <a:spcAft>
                <a:spcPts val="1700"/>
              </a:spcAft>
              <a:buNone/>
            </a:pPr>
            <a:r>
              <a:rPr lang="en-US" sz="4800" dirty="0">
                <a:solidFill>
                  <a:srgbClr val="FBF7F1"/>
                </a:solidFill>
                <a:latin typeface="Jost"/>
                <a:ea typeface="Jost"/>
                <a:cs typeface="Jost"/>
              </a:rPr>
              <a:t>Someone who's never heard of you isn't booking off one photo.</a:t>
            </a:r>
            <a:endParaRPr lang="en-US" sz="48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Think about it like dating.</a:t>
            </a:r>
            <a:endParaRPr lang="en-US" sz="5500" dirty="0"/>
          </a:p>
          <a:p>
            <a:pPr algn="l" indent="0" marL="0">
              <a:spcAft>
                <a:spcPts val="1700"/>
              </a:spcAft>
              <a:buNone/>
            </a:pPr>
            <a:r>
              <a:rPr lang="en-US" sz="4800" dirty="0">
                <a:solidFill>
                  <a:srgbClr val="2A201B"/>
                </a:solidFill>
                <a:latin typeface="Jost"/>
                <a:ea typeface="Jost"/>
                <a:cs typeface="Jost"/>
              </a:rPr>
              <a:t>You don't ask someone to marry you the first time you meet.</a:t>
            </a:r>
            <a:endParaRPr lang="en-US" sz="4800" dirty="0"/>
          </a:p>
          <a:p>
            <a:pPr algn="l" indent="0" marL="0">
              <a:spcAft>
                <a:spcPts val="1700"/>
              </a:spcAft>
              <a:buNone/>
            </a:pPr>
            <a:r>
              <a:rPr lang="en-US" sz="4800" dirty="0">
                <a:solidFill>
                  <a:srgbClr val="2A201B"/>
                </a:solidFill>
                <a:latin typeface="Jost"/>
                <a:ea typeface="Jost"/>
                <a:cs typeface="Jost"/>
              </a:rPr>
              <a:t>Someone who's never heard of you isn't booking off one photo.</a:t>
            </a:r>
            <a:endParaRPr lang="en-US" sz="4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88</a:t>
            </a:r>
            <a:endParaRPr lang="en-US" sz="1000" dirty="0"/>
          </a:p>
        </p:txBody>
      </p:sp>
      <p:sp>
        <p:nvSpPr>
          <p:cNvPr id="4" name="Text 1"/>
          <p:cNvSpPr txBox="1"/>
          <p:nvPr/>
        </p:nvSpPr>
        <p:spPr>
          <a:xfrm>
            <a:off x="731520" y="640080"/>
            <a:ext cx="10728655" cy="914400"/>
          </a:xfrm>
          <a:prstGeom prst="rect">
            <a:avLst/>
          </a:prstGeom>
          <a:noFill/>
          <a:ln/>
        </p:spPr>
        <p:txBody>
          <a:bodyPr wrap="square" lIns="0" tIns="0" rIns="0" bIns="0" rtlCol="0" anchor="ctr"/>
          <a:lstStyle/>
          <a:p>
            <a:pPr indent="0" marL="0">
              <a:buNone/>
            </a:pPr>
            <a:r>
              <a:rPr lang="en-US" sz="5100" b="1" dirty="0">
                <a:solidFill>
                  <a:srgbClr val="2A201B"/>
                </a:solidFill>
                <a:latin typeface="Cormorant Garamond"/>
                <a:ea typeface="Cormorant Garamond"/>
                <a:cs typeface="Cormorant Garamond"/>
              </a:rPr>
              <a:t>They need to:</a:t>
            </a:r>
            <a:endParaRPr lang="en-US" sz="5100" dirty="0"/>
          </a:p>
        </p:txBody>
      </p:sp>
      <p:sp>
        <p:nvSpPr>
          <p:cNvPr id="5" name="Shape 2"/>
          <p:cNvSpPr/>
          <p:nvPr/>
        </p:nvSpPr>
        <p:spPr>
          <a:xfrm>
            <a:off x="975208" y="2743200"/>
            <a:ext cx="2926080" cy="1463040"/>
          </a:xfrm>
          <a:prstGeom prst="roundRect">
            <a:avLst>
              <a:gd name="adj" fmla="val 7500"/>
            </a:avLst>
          </a:prstGeom>
          <a:solidFill>
            <a:srgbClr val="FBE6EB"/>
          </a:solidFill>
          <a:ln w="12700">
            <a:solidFill>
              <a:srgbClr val="D9C4B4"/>
            </a:solidFill>
            <a:prstDash val="solid"/>
          </a:ln>
        </p:spPr>
      </p:sp>
      <p:sp>
        <p:nvSpPr>
          <p:cNvPr id="6" name="Text 3"/>
          <p:cNvSpPr txBox="1"/>
          <p:nvPr/>
        </p:nvSpPr>
        <p:spPr>
          <a:xfrm>
            <a:off x="975208" y="2743200"/>
            <a:ext cx="2926080" cy="1463040"/>
          </a:xfrm>
          <a:prstGeom prst="rect">
            <a:avLst/>
          </a:prstGeom>
          <a:noFill/>
          <a:ln/>
        </p:spPr>
        <p:txBody>
          <a:bodyPr wrap="square" lIns="0" tIns="0" rIns="0" bIns="0" rtlCol="0" anchor="ctr"/>
          <a:lstStyle/>
          <a:p>
            <a:pPr algn="ctr" indent="0" marL="0">
              <a:buNone/>
            </a:pPr>
            <a:r>
              <a:rPr lang="en-US" sz="3700" b="1" dirty="0">
                <a:solidFill>
                  <a:srgbClr val="2A201B"/>
                </a:solidFill>
                <a:latin typeface="Cormorant Garamond"/>
                <a:ea typeface="Cormorant Garamond"/>
                <a:cs typeface="Cormorant Garamond"/>
              </a:rPr>
              <a:t>Find you</a:t>
            </a:r>
            <a:endParaRPr lang="en-US" sz="3700" dirty="0"/>
          </a:p>
        </p:txBody>
      </p:sp>
      <p:sp>
        <p:nvSpPr>
          <p:cNvPr id="7" name="Text 4"/>
          <p:cNvSpPr txBox="1"/>
          <p:nvPr/>
        </p:nvSpPr>
        <p:spPr>
          <a:xfrm>
            <a:off x="3901288" y="2743200"/>
            <a:ext cx="731520" cy="1463040"/>
          </a:xfrm>
          <a:prstGeom prst="rect">
            <a:avLst/>
          </a:prstGeom>
          <a:noFill/>
          <a:ln/>
        </p:spPr>
        <p:txBody>
          <a:bodyPr wrap="square" lIns="0" tIns="0" rIns="0" bIns="0" rtlCol="0" anchor="ctr"/>
          <a:lstStyle/>
          <a:p>
            <a:pPr algn="ctr" indent="0" marL="0">
              <a:buNone/>
            </a:pPr>
            <a:r>
              <a:rPr lang="en-US" sz="4000" dirty="0">
                <a:solidFill>
                  <a:srgbClr val="FBF7F1"/>
                </a:solidFill>
                <a:latin typeface="Jost"/>
                <a:ea typeface="Jost"/>
                <a:cs typeface="Jost"/>
              </a:rPr>
              <a:t>→</a:t>
            </a:r>
            <a:endParaRPr lang="en-US" sz="4000" dirty="0"/>
          </a:p>
        </p:txBody>
      </p:sp>
      <p:sp>
        <p:nvSpPr>
          <p:cNvPr id="8" name="Shape 5"/>
          <p:cNvSpPr/>
          <p:nvPr/>
        </p:nvSpPr>
        <p:spPr>
          <a:xfrm>
            <a:off x="4632808" y="2743200"/>
            <a:ext cx="2926080" cy="1463040"/>
          </a:xfrm>
          <a:prstGeom prst="roundRect">
            <a:avLst>
              <a:gd name="adj" fmla="val 7500"/>
            </a:avLst>
          </a:prstGeom>
          <a:solidFill>
            <a:srgbClr val="FBF7F1"/>
          </a:solidFill>
          <a:ln w="12700">
            <a:solidFill>
              <a:srgbClr val="FBF7F1"/>
            </a:solidFill>
            <a:prstDash val="solid"/>
          </a:ln>
        </p:spPr>
      </p:sp>
      <p:sp>
        <p:nvSpPr>
          <p:cNvPr id="9" name="Text 6"/>
          <p:cNvSpPr txBox="1"/>
          <p:nvPr/>
        </p:nvSpPr>
        <p:spPr>
          <a:xfrm>
            <a:off x="4632808" y="2743200"/>
            <a:ext cx="2926080" cy="1463040"/>
          </a:xfrm>
          <a:prstGeom prst="rect">
            <a:avLst/>
          </a:prstGeom>
          <a:noFill/>
          <a:ln/>
        </p:spPr>
        <p:txBody>
          <a:bodyPr wrap="square" lIns="0" tIns="0" rIns="0" bIns="0" rtlCol="0" anchor="ctr"/>
          <a:lstStyle/>
          <a:p>
            <a:pPr algn="ctr" indent="0" marL="0">
              <a:buNone/>
            </a:pPr>
            <a:r>
              <a:rPr lang="en-US" sz="3700" b="1" dirty="0">
                <a:solidFill>
                  <a:srgbClr val="FBF7F1"/>
                </a:solidFill>
                <a:latin typeface="Cormorant Garamond"/>
                <a:ea typeface="Cormorant Garamond"/>
                <a:cs typeface="Cormorant Garamond"/>
              </a:rPr>
              <a:t>Trust you</a:t>
            </a:r>
            <a:endParaRPr lang="en-US" sz="3700" dirty="0"/>
          </a:p>
        </p:txBody>
      </p:sp>
      <p:sp>
        <p:nvSpPr>
          <p:cNvPr id="10" name="Text 7"/>
          <p:cNvSpPr txBox="1"/>
          <p:nvPr/>
        </p:nvSpPr>
        <p:spPr>
          <a:xfrm>
            <a:off x="7558888" y="2743200"/>
            <a:ext cx="731520" cy="1463040"/>
          </a:xfrm>
          <a:prstGeom prst="rect">
            <a:avLst/>
          </a:prstGeom>
          <a:noFill/>
          <a:ln/>
        </p:spPr>
        <p:txBody>
          <a:bodyPr wrap="square" lIns="0" tIns="0" rIns="0" bIns="0" rtlCol="0" anchor="ctr"/>
          <a:lstStyle/>
          <a:p>
            <a:pPr algn="ctr" indent="0" marL="0">
              <a:buNone/>
            </a:pPr>
            <a:r>
              <a:rPr lang="en-US" sz="4000" dirty="0">
                <a:solidFill>
                  <a:srgbClr val="FBF7F1"/>
                </a:solidFill>
                <a:latin typeface="Jost"/>
                <a:ea typeface="Jost"/>
                <a:cs typeface="Jost"/>
              </a:rPr>
              <a:t>→</a:t>
            </a:r>
            <a:endParaRPr lang="en-US" sz="4000" dirty="0"/>
          </a:p>
        </p:txBody>
      </p:sp>
      <p:sp>
        <p:nvSpPr>
          <p:cNvPr id="11" name="Shape 8"/>
          <p:cNvSpPr/>
          <p:nvPr/>
        </p:nvSpPr>
        <p:spPr>
          <a:xfrm>
            <a:off x="8290408" y="2743200"/>
            <a:ext cx="2926080" cy="1463040"/>
          </a:xfrm>
          <a:prstGeom prst="roundRect">
            <a:avLst>
              <a:gd name="adj" fmla="val 7500"/>
            </a:avLst>
          </a:prstGeom>
          <a:solidFill>
            <a:srgbClr val="FBF7F1"/>
          </a:solidFill>
          <a:ln w="12700">
            <a:solidFill>
              <a:srgbClr val="FBF7F1"/>
            </a:solidFill>
            <a:prstDash val="solid"/>
          </a:ln>
        </p:spPr>
      </p:sp>
      <p:sp>
        <p:nvSpPr>
          <p:cNvPr id="12" name="Text 9"/>
          <p:cNvSpPr txBox="1"/>
          <p:nvPr/>
        </p:nvSpPr>
        <p:spPr>
          <a:xfrm>
            <a:off x="8290408" y="2743200"/>
            <a:ext cx="2926080" cy="1463040"/>
          </a:xfrm>
          <a:prstGeom prst="rect">
            <a:avLst/>
          </a:prstGeom>
          <a:noFill/>
          <a:ln/>
        </p:spPr>
        <p:txBody>
          <a:bodyPr wrap="square" lIns="0" tIns="0" rIns="0" bIns="0" rtlCol="0" anchor="ctr"/>
          <a:lstStyle/>
          <a:p>
            <a:pPr algn="ctr" indent="0" marL="0">
              <a:buNone/>
            </a:pPr>
            <a:r>
              <a:rPr lang="en-US" sz="3700" b="1" dirty="0">
                <a:solidFill>
                  <a:srgbClr val="FBF7F1"/>
                </a:solidFill>
                <a:latin typeface="Cormorant Garamond"/>
                <a:ea typeface="Cormorant Garamond"/>
                <a:cs typeface="Cormorant Garamond"/>
              </a:rPr>
              <a:t>Then book</a:t>
            </a:r>
            <a:endParaRPr lang="en-US" sz="37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88</a:t>
            </a:r>
            <a:endParaRPr lang="en-US" sz="1000" dirty="0"/>
          </a:p>
        </p:txBody>
      </p:sp>
      <p:sp>
        <p:nvSpPr>
          <p:cNvPr id="4" name="Text 1"/>
          <p:cNvSpPr txBox="1"/>
          <p:nvPr/>
        </p:nvSpPr>
        <p:spPr>
          <a:xfrm>
            <a:off x="731520" y="640080"/>
            <a:ext cx="10728655" cy="914400"/>
          </a:xfrm>
          <a:prstGeom prst="rect">
            <a:avLst/>
          </a:prstGeom>
          <a:noFill/>
          <a:ln/>
        </p:spPr>
        <p:txBody>
          <a:bodyPr wrap="square" lIns="0" tIns="0" rIns="0" bIns="0" rtlCol="0" anchor="ctr"/>
          <a:lstStyle/>
          <a:p>
            <a:pPr indent="0" marL="0">
              <a:buNone/>
            </a:pPr>
            <a:r>
              <a:rPr lang="en-US" sz="5100" b="1" dirty="0">
                <a:solidFill>
                  <a:srgbClr val="2A201B"/>
                </a:solidFill>
                <a:latin typeface="Cormorant Garamond"/>
                <a:ea typeface="Cormorant Garamond"/>
                <a:cs typeface="Cormorant Garamond"/>
              </a:rPr>
              <a:t>They need to:</a:t>
            </a:r>
            <a:endParaRPr lang="en-US" sz="5100" dirty="0"/>
          </a:p>
        </p:txBody>
      </p:sp>
      <p:sp>
        <p:nvSpPr>
          <p:cNvPr id="5" name="Shape 2"/>
          <p:cNvSpPr/>
          <p:nvPr/>
        </p:nvSpPr>
        <p:spPr>
          <a:xfrm>
            <a:off x="975208" y="2743200"/>
            <a:ext cx="2926080" cy="1463040"/>
          </a:xfrm>
          <a:prstGeom prst="roundRect">
            <a:avLst>
              <a:gd name="adj" fmla="val 7500"/>
            </a:avLst>
          </a:prstGeom>
          <a:solidFill>
            <a:srgbClr val="FBE6EB"/>
          </a:solidFill>
          <a:ln w="12700">
            <a:solidFill>
              <a:srgbClr val="D9C4B4"/>
            </a:solidFill>
            <a:prstDash val="solid"/>
          </a:ln>
        </p:spPr>
      </p:sp>
      <p:sp>
        <p:nvSpPr>
          <p:cNvPr id="6" name="Text 3"/>
          <p:cNvSpPr txBox="1"/>
          <p:nvPr/>
        </p:nvSpPr>
        <p:spPr>
          <a:xfrm>
            <a:off x="975208" y="2743200"/>
            <a:ext cx="2926080" cy="1463040"/>
          </a:xfrm>
          <a:prstGeom prst="rect">
            <a:avLst/>
          </a:prstGeom>
          <a:noFill/>
          <a:ln/>
        </p:spPr>
        <p:txBody>
          <a:bodyPr wrap="square" lIns="0" tIns="0" rIns="0" bIns="0" rtlCol="0" anchor="ctr"/>
          <a:lstStyle/>
          <a:p>
            <a:pPr algn="ctr" indent="0" marL="0">
              <a:buNone/>
            </a:pPr>
            <a:r>
              <a:rPr lang="en-US" sz="3700" b="1" dirty="0">
                <a:solidFill>
                  <a:srgbClr val="2A201B"/>
                </a:solidFill>
                <a:latin typeface="Cormorant Garamond"/>
                <a:ea typeface="Cormorant Garamond"/>
                <a:cs typeface="Cormorant Garamond"/>
              </a:rPr>
              <a:t>Find you</a:t>
            </a:r>
            <a:endParaRPr lang="en-US" sz="3700" dirty="0"/>
          </a:p>
        </p:txBody>
      </p:sp>
      <p:sp>
        <p:nvSpPr>
          <p:cNvPr id="7" name="Text 4"/>
          <p:cNvSpPr txBox="1"/>
          <p:nvPr/>
        </p:nvSpPr>
        <p:spPr>
          <a:xfrm>
            <a:off x="3901288" y="2743200"/>
            <a:ext cx="731520" cy="1463040"/>
          </a:xfrm>
          <a:prstGeom prst="rect">
            <a:avLst/>
          </a:prstGeom>
          <a:noFill/>
          <a:ln/>
        </p:spPr>
        <p:txBody>
          <a:bodyPr wrap="square" lIns="0" tIns="0" rIns="0" bIns="0" rtlCol="0" anchor="ctr"/>
          <a:lstStyle/>
          <a:p>
            <a:pPr algn="ctr" indent="0" marL="0">
              <a:buNone/>
            </a:pPr>
            <a:r>
              <a:rPr lang="en-US" sz="4000" dirty="0">
                <a:solidFill>
                  <a:srgbClr val="5A4A42"/>
                </a:solidFill>
                <a:latin typeface="Jost"/>
                <a:ea typeface="Jost"/>
                <a:cs typeface="Jost"/>
              </a:rPr>
              <a:t>→</a:t>
            </a:r>
            <a:endParaRPr lang="en-US" sz="4000" dirty="0"/>
          </a:p>
        </p:txBody>
      </p:sp>
      <p:sp>
        <p:nvSpPr>
          <p:cNvPr id="8" name="Shape 5"/>
          <p:cNvSpPr/>
          <p:nvPr/>
        </p:nvSpPr>
        <p:spPr>
          <a:xfrm>
            <a:off x="4632808" y="2743200"/>
            <a:ext cx="2926080" cy="1463040"/>
          </a:xfrm>
          <a:prstGeom prst="roundRect">
            <a:avLst>
              <a:gd name="adj" fmla="val 7500"/>
            </a:avLst>
          </a:prstGeom>
          <a:solidFill>
            <a:srgbClr val="FBE6EB"/>
          </a:solidFill>
          <a:ln w="12700">
            <a:solidFill>
              <a:srgbClr val="D9C4B4"/>
            </a:solidFill>
            <a:prstDash val="solid"/>
          </a:ln>
        </p:spPr>
      </p:sp>
      <p:sp>
        <p:nvSpPr>
          <p:cNvPr id="9" name="Text 6"/>
          <p:cNvSpPr txBox="1"/>
          <p:nvPr/>
        </p:nvSpPr>
        <p:spPr>
          <a:xfrm>
            <a:off x="4632808" y="2743200"/>
            <a:ext cx="2926080" cy="1463040"/>
          </a:xfrm>
          <a:prstGeom prst="rect">
            <a:avLst/>
          </a:prstGeom>
          <a:noFill/>
          <a:ln/>
        </p:spPr>
        <p:txBody>
          <a:bodyPr wrap="square" lIns="0" tIns="0" rIns="0" bIns="0" rtlCol="0" anchor="ctr"/>
          <a:lstStyle/>
          <a:p>
            <a:pPr algn="ctr" indent="0" marL="0">
              <a:buNone/>
            </a:pPr>
            <a:r>
              <a:rPr lang="en-US" sz="3700" b="1" dirty="0">
                <a:solidFill>
                  <a:srgbClr val="2A201B"/>
                </a:solidFill>
                <a:latin typeface="Cormorant Garamond"/>
                <a:ea typeface="Cormorant Garamond"/>
                <a:cs typeface="Cormorant Garamond"/>
              </a:rPr>
              <a:t>Trust you</a:t>
            </a:r>
            <a:endParaRPr lang="en-US" sz="3700" dirty="0"/>
          </a:p>
        </p:txBody>
      </p:sp>
      <p:sp>
        <p:nvSpPr>
          <p:cNvPr id="10" name="Text 7"/>
          <p:cNvSpPr txBox="1"/>
          <p:nvPr/>
        </p:nvSpPr>
        <p:spPr>
          <a:xfrm>
            <a:off x="7558888" y="2743200"/>
            <a:ext cx="731520" cy="1463040"/>
          </a:xfrm>
          <a:prstGeom prst="rect">
            <a:avLst/>
          </a:prstGeom>
          <a:noFill/>
          <a:ln/>
        </p:spPr>
        <p:txBody>
          <a:bodyPr wrap="square" lIns="0" tIns="0" rIns="0" bIns="0" rtlCol="0" anchor="ctr"/>
          <a:lstStyle/>
          <a:p>
            <a:pPr algn="ctr" indent="0" marL="0">
              <a:buNone/>
            </a:pPr>
            <a:r>
              <a:rPr lang="en-US" sz="4000" dirty="0">
                <a:solidFill>
                  <a:srgbClr val="FBF7F1"/>
                </a:solidFill>
                <a:latin typeface="Jost"/>
                <a:ea typeface="Jost"/>
                <a:cs typeface="Jost"/>
              </a:rPr>
              <a:t>→</a:t>
            </a:r>
            <a:endParaRPr lang="en-US" sz="4000" dirty="0"/>
          </a:p>
        </p:txBody>
      </p:sp>
      <p:sp>
        <p:nvSpPr>
          <p:cNvPr id="11" name="Shape 8"/>
          <p:cNvSpPr/>
          <p:nvPr/>
        </p:nvSpPr>
        <p:spPr>
          <a:xfrm>
            <a:off x="8290408" y="2743200"/>
            <a:ext cx="2926080" cy="1463040"/>
          </a:xfrm>
          <a:prstGeom prst="roundRect">
            <a:avLst>
              <a:gd name="adj" fmla="val 7500"/>
            </a:avLst>
          </a:prstGeom>
          <a:solidFill>
            <a:srgbClr val="FBF7F1"/>
          </a:solidFill>
          <a:ln w="12700">
            <a:solidFill>
              <a:srgbClr val="FBF7F1"/>
            </a:solidFill>
            <a:prstDash val="solid"/>
          </a:ln>
        </p:spPr>
      </p:sp>
      <p:sp>
        <p:nvSpPr>
          <p:cNvPr id="12" name="Text 9"/>
          <p:cNvSpPr txBox="1"/>
          <p:nvPr/>
        </p:nvSpPr>
        <p:spPr>
          <a:xfrm>
            <a:off x="8290408" y="2743200"/>
            <a:ext cx="2926080" cy="1463040"/>
          </a:xfrm>
          <a:prstGeom prst="rect">
            <a:avLst/>
          </a:prstGeom>
          <a:noFill/>
          <a:ln/>
        </p:spPr>
        <p:txBody>
          <a:bodyPr wrap="square" lIns="0" tIns="0" rIns="0" bIns="0" rtlCol="0" anchor="ctr"/>
          <a:lstStyle/>
          <a:p>
            <a:pPr algn="ctr" indent="0" marL="0">
              <a:buNone/>
            </a:pPr>
            <a:r>
              <a:rPr lang="en-US" sz="3700" b="1" dirty="0">
                <a:solidFill>
                  <a:srgbClr val="FBF7F1"/>
                </a:solidFill>
                <a:latin typeface="Cormorant Garamond"/>
                <a:ea typeface="Cormorant Garamond"/>
                <a:cs typeface="Cormorant Garamond"/>
              </a:rPr>
              <a:t>Then book</a:t>
            </a:r>
            <a:endParaRPr lang="en-US" sz="37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88</a:t>
            </a:r>
            <a:endParaRPr lang="en-US" sz="1000" dirty="0"/>
          </a:p>
        </p:txBody>
      </p:sp>
      <p:sp>
        <p:nvSpPr>
          <p:cNvPr id="4" name="Text 1"/>
          <p:cNvSpPr txBox="1"/>
          <p:nvPr/>
        </p:nvSpPr>
        <p:spPr>
          <a:xfrm>
            <a:off x="731520" y="640080"/>
            <a:ext cx="10728655" cy="914400"/>
          </a:xfrm>
          <a:prstGeom prst="rect">
            <a:avLst/>
          </a:prstGeom>
          <a:noFill/>
          <a:ln/>
        </p:spPr>
        <p:txBody>
          <a:bodyPr wrap="square" lIns="0" tIns="0" rIns="0" bIns="0" rtlCol="0" anchor="ctr"/>
          <a:lstStyle/>
          <a:p>
            <a:pPr indent="0" marL="0">
              <a:buNone/>
            </a:pPr>
            <a:r>
              <a:rPr lang="en-US" sz="5100" b="1" dirty="0">
                <a:solidFill>
                  <a:srgbClr val="2A201B"/>
                </a:solidFill>
                <a:latin typeface="Cormorant Garamond"/>
                <a:ea typeface="Cormorant Garamond"/>
                <a:cs typeface="Cormorant Garamond"/>
              </a:rPr>
              <a:t>They need to:</a:t>
            </a:r>
            <a:endParaRPr lang="en-US" sz="5100" dirty="0"/>
          </a:p>
        </p:txBody>
      </p:sp>
      <p:sp>
        <p:nvSpPr>
          <p:cNvPr id="5" name="Shape 2"/>
          <p:cNvSpPr/>
          <p:nvPr/>
        </p:nvSpPr>
        <p:spPr>
          <a:xfrm>
            <a:off x="975208" y="2743200"/>
            <a:ext cx="2926080" cy="1463040"/>
          </a:xfrm>
          <a:prstGeom prst="roundRect">
            <a:avLst>
              <a:gd name="adj" fmla="val 7500"/>
            </a:avLst>
          </a:prstGeom>
          <a:solidFill>
            <a:srgbClr val="FBE6EB"/>
          </a:solidFill>
          <a:ln w="12700">
            <a:solidFill>
              <a:srgbClr val="D9C4B4"/>
            </a:solidFill>
            <a:prstDash val="solid"/>
          </a:ln>
        </p:spPr>
      </p:sp>
      <p:sp>
        <p:nvSpPr>
          <p:cNvPr id="6" name="Text 3"/>
          <p:cNvSpPr txBox="1"/>
          <p:nvPr/>
        </p:nvSpPr>
        <p:spPr>
          <a:xfrm>
            <a:off x="975208" y="2743200"/>
            <a:ext cx="2926080" cy="1463040"/>
          </a:xfrm>
          <a:prstGeom prst="rect">
            <a:avLst/>
          </a:prstGeom>
          <a:noFill/>
          <a:ln/>
        </p:spPr>
        <p:txBody>
          <a:bodyPr wrap="square" lIns="0" tIns="0" rIns="0" bIns="0" rtlCol="0" anchor="ctr"/>
          <a:lstStyle/>
          <a:p>
            <a:pPr algn="ctr" indent="0" marL="0">
              <a:buNone/>
            </a:pPr>
            <a:r>
              <a:rPr lang="en-US" sz="3700" b="1" dirty="0">
                <a:solidFill>
                  <a:srgbClr val="2A201B"/>
                </a:solidFill>
                <a:latin typeface="Cormorant Garamond"/>
                <a:ea typeface="Cormorant Garamond"/>
                <a:cs typeface="Cormorant Garamond"/>
              </a:rPr>
              <a:t>Find you</a:t>
            </a:r>
            <a:endParaRPr lang="en-US" sz="3700" dirty="0"/>
          </a:p>
        </p:txBody>
      </p:sp>
      <p:sp>
        <p:nvSpPr>
          <p:cNvPr id="7" name="Text 4"/>
          <p:cNvSpPr txBox="1"/>
          <p:nvPr/>
        </p:nvSpPr>
        <p:spPr>
          <a:xfrm>
            <a:off x="3901288" y="2743200"/>
            <a:ext cx="731520" cy="1463040"/>
          </a:xfrm>
          <a:prstGeom prst="rect">
            <a:avLst/>
          </a:prstGeom>
          <a:noFill/>
          <a:ln/>
        </p:spPr>
        <p:txBody>
          <a:bodyPr wrap="square" lIns="0" tIns="0" rIns="0" bIns="0" rtlCol="0" anchor="ctr"/>
          <a:lstStyle/>
          <a:p>
            <a:pPr algn="ctr" indent="0" marL="0">
              <a:buNone/>
            </a:pPr>
            <a:r>
              <a:rPr lang="en-US" sz="4000" dirty="0">
                <a:solidFill>
                  <a:srgbClr val="5A4A42"/>
                </a:solidFill>
                <a:latin typeface="Jost"/>
                <a:ea typeface="Jost"/>
                <a:cs typeface="Jost"/>
              </a:rPr>
              <a:t>→</a:t>
            </a:r>
            <a:endParaRPr lang="en-US" sz="4000" dirty="0"/>
          </a:p>
        </p:txBody>
      </p:sp>
      <p:sp>
        <p:nvSpPr>
          <p:cNvPr id="8" name="Shape 5"/>
          <p:cNvSpPr/>
          <p:nvPr/>
        </p:nvSpPr>
        <p:spPr>
          <a:xfrm>
            <a:off x="4632808" y="2743200"/>
            <a:ext cx="2926080" cy="1463040"/>
          </a:xfrm>
          <a:prstGeom prst="roundRect">
            <a:avLst>
              <a:gd name="adj" fmla="val 7500"/>
            </a:avLst>
          </a:prstGeom>
          <a:solidFill>
            <a:srgbClr val="FBE6EB"/>
          </a:solidFill>
          <a:ln w="12700">
            <a:solidFill>
              <a:srgbClr val="D9C4B4"/>
            </a:solidFill>
            <a:prstDash val="solid"/>
          </a:ln>
        </p:spPr>
      </p:sp>
      <p:sp>
        <p:nvSpPr>
          <p:cNvPr id="9" name="Text 6"/>
          <p:cNvSpPr txBox="1"/>
          <p:nvPr/>
        </p:nvSpPr>
        <p:spPr>
          <a:xfrm>
            <a:off x="4632808" y="2743200"/>
            <a:ext cx="2926080" cy="1463040"/>
          </a:xfrm>
          <a:prstGeom prst="rect">
            <a:avLst/>
          </a:prstGeom>
          <a:noFill/>
          <a:ln/>
        </p:spPr>
        <p:txBody>
          <a:bodyPr wrap="square" lIns="0" tIns="0" rIns="0" bIns="0" rtlCol="0" anchor="ctr"/>
          <a:lstStyle/>
          <a:p>
            <a:pPr algn="ctr" indent="0" marL="0">
              <a:buNone/>
            </a:pPr>
            <a:r>
              <a:rPr lang="en-US" sz="3700" b="1" dirty="0">
                <a:solidFill>
                  <a:srgbClr val="2A201B"/>
                </a:solidFill>
                <a:latin typeface="Cormorant Garamond"/>
                <a:ea typeface="Cormorant Garamond"/>
                <a:cs typeface="Cormorant Garamond"/>
              </a:rPr>
              <a:t>Trust you</a:t>
            </a:r>
            <a:endParaRPr lang="en-US" sz="3700" dirty="0"/>
          </a:p>
        </p:txBody>
      </p:sp>
      <p:sp>
        <p:nvSpPr>
          <p:cNvPr id="10" name="Text 7"/>
          <p:cNvSpPr txBox="1"/>
          <p:nvPr/>
        </p:nvSpPr>
        <p:spPr>
          <a:xfrm>
            <a:off x="7558888" y="2743200"/>
            <a:ext cx="731520" cy="1463040"/>
          </a:xfrm>
          <a:prstGeom prst="rect">
            <a:avLst/>
          </a:prstGeom>
          <a:noFill/>
          <a:ln/>
        </p:spPr>
        <p:txBody>
          <a:bodyPr wrap="square" lIns="0" tIns="0" rIns="0" bIns="0" rtlCol="0" anchor="ctr"/>
          <a:lstStyle/>
          <a:p>
            <a:pPr algn="ctr" indent="0" marL="0">
              <a:buNone/>
            </a:pPr>
            <a:r>
              <a:rPr lang="en-US" sz="4000" dirty="0">
                <a:solidFill>
                  <a:srgbClr val="5A4A42"/>
                </a:solidFill>
                <a:latin typeface="Jost"/>
                <a:ea typeface="Jost"/>
                <a:cs typeface="Jost"/>
              </a:rPr>
              <a:t>→</a:t>
            </a:r>
            <a:endParaRPr lang="en-US" sz="4000" dirty="0"/>
          </a:p>
        </p:txBody>
      </p:sp>
      <p:sp>
        <p:nvSpPr>
          <p:cNvPr id="11" name="Shape 8"/>
          <p:cNvSpPr/>
          <p:nvPr/>
        </p:nvSpPr>
        <p:spPr>
          <a:xfrm>
            <a:off x="8290408" y="2743200"/>
            <a:ext cx="2926080" cy="1463040"/>
          </a:xfrm>
          <a:prstGeom prst="roundRect">
            <a:avLst>
              <a:gd name="adj" fmla="val 7500"/>
            </a:avLst>
          </a:prstGeom>
          <a:solidFill>
            <a:srgbClr val="AD5A6E"/>
          </a:solidFill>
          <a:ln w="12700">
            <a:solidFill>
              <a:srgbClr val="AD5A6E"/>
            </a:solidFill>
            <a:prstDash val="solid"/>
          </a:ln>
        </p:spPr>
      </p:sp>
      <p:sp>
        <p:nvSpPr>
          <p:cNvPr id="12" name="Text 9"/>
          <p:cNvSpPr txBox="1"/>
          <p:nvPr/>
        </p:nvSpPr>
        <p:spPr>
          <a:xfrm>
            <a:off x="8290408" y="2743200"/>
            <a:ext cx="2926080" cy="1463040"/>
          </a:xfrm>
          <a:prstGeom prst="rect">
            <a:avLst/>
          </a:prstGeom>
          <a:noFill/>
          <a:ln/>
        </p:spPr>
        <p:txBody>
          <a:bodyPr wrap="square" lIns="0" tIns="0" rIns="0" bIns="0" rtlCol="0" anchor="ctr"/>
          <a:lstStyle/>
          <a:p>
            <a:pPr algn="ctr" indent="0" marL="0">
              <a:buNone/>
            </a:pPr>
            <a:r>
              <a:rPr lang="en-US" sz="3700" b="1" dirty="0">
                <a:solidFill>
                  <a:srgbClr val="FBF7F1"/>
                </a:solidFill>
                <a:latin typeface="Cormorant Garamond"/>
                <a:ea typeface="Cormorant Garamond"/>
                <a:cs typeface="Cormorant Garamond"/>
              </a:rPr>
              <a:t>Then book</a:t>
            </a:r>
            <a:endParaRPr lang="en-US" sz="37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dirty="0">
                <a:solidFill>
                  <a:srgbClr val="2A201B"/>
                </a:solidFill>
                <a:latin typeface="Jost"/>
                <a:ea typeface="Jost"/>
                <a:cs typeface="Jost"/>
              </a:rPr>
              <a:t>So you don't need more content.</a:t>
            </a:r>
            <a:endParaRPr lang="en-US" sz="4400" dirty="0"/>
          </a:p>
          <a:p>
            <a:pPr algn="l" indent="0" marL="0">
              <a:spcAft>
                <a:spcPts val="1500"/>
              </a:spcAft>
              <a:buNone/>
            </a:pPr>
            <a:r>
              <a:rPr lang="en-US" sz="4400" dirty="0">
                <a:solidFill>
                  <a:srgbClr val="FBF7F1"/>
                </a:solidFill>
                <a:latin typeface="Jost"/>
                <a:ea typeface="Jost"/>
                <a:cs typeface="Jost"/>
              </a:rPr>
              <a:t>You need 3 kinds:</a:t>
            </a:r>
            <a:endParaRPr lang="en-US" sz="4400" dirty="0"/>
          </a:p>
          <a:p>
            <a:pPr algn="l" indent="0" marL="0">
              <a:spcAft>
                <a:spcPts val="1500"/>
              </a:spcAft>
              <a:buNone/>
            </a:pPr>
            <a:r>
              <a:rPr lang="en-US" sz="4400" dirty="0">
                <a:solidFill>
                  <a:srgbClr val="FBF7F1"/>
                </a:solidFill>
                <a:latin typeface="Jost"/>
                <a:ea typeface="Jost"/>
                <a:cs typeface="Jost"/>
              </a:rPr>
              <a:t>One that gets you found</a:t>
            </a:r>
            <a:endParaRPr lang="en-US" sz="4400" dirty="0"/>
          </a:p>
          <a:p>
            <a:pPr algn="l" indent="0" marL="0">
              <a:spcAft>
                <a:spcPts val="1500"/>
              </a:spcAft>
              <a:buNone/>
            </a:pPr>
            <a:r>
              <a:rPr lang="en-US" sz="4400" dirty="0">
                <a:solidFill>
                  <a:srgbClr val="FBF7F1"/>
                </a:solidFill>
                <a:latin typeface="Jost"/>
                <a:ea typeface="Jost"/>
                <a:cs typeface="Jost"/>
              </a:rPr>
              <a:t>One that gets you trusted</a:t>
            </a:r>
            <a:endParaRPr lang="en-US" sz="4400" dirty="0"/>
          </a:p>
          <a:p>
            <a:pPr algn="l" indent="0" marL="0">
              <a:spcAft>
                <a:spcPts val="1500"/>
              </a:spcAft>
              <a:buNone/>
            </a:pPr>
            <a:r>
              <a:rPr lang="en-US" sz="4400" dirty="0">
                <a:solidFill>
                  <a:srgbClr val="FBF7F1"/>
                </a:solidFill>
                <a:latin typeface="Jost"/>
                <a:ea typeface="Jost"/>
                <a:cs typeface="Jost"/>
              </a:rPr>
              <a:t>One that gets you booked</a:t>
            </a:r>
            <a:endParaRPr lang="en-US" sz="4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dirty="0">
                <a:solidFill>
                  <a:srgbClr val="2A201B"/>
                </a:solidFill>
                <a:latin typeface="Jost"/>
                <a:ea typeface="Jost"/>
                <a:cs typeface="Jost"/>
              </a:rPr>
              <a:t>So you don't need more content.</a:t>
            </a:r>
            <a:endParaRPr lang="en-US" sz="4400" dirty="0"/>
          </a:p>
          <a:p>
            <a:pPr algn="l" indent="0" marL="0">
              <a:spcAft>
                <a:spcPts val="1500"/>
              </a:spcAft>
              <a:buNone/>
            </a:pPr>
            <a:r>
              <a:rPr lang="en-US" sz="4400" dirty="0">
                <a:solidFill>
                  <a:srgbClr val="2A201B"/>
                </a:solidFill>
                <a:latin typeface="Jost"/>
                <a:ea typeface="Jost"/>
                <a:cs typeface="Jost"/>
              </a:rPr>
              <a:t>You need 3 kinds:</a:t>
            </a:r>
            <a:endParaRPr lang="en-US" sz="4400" dirty="0"/>
          </a:p>
          <a:p>
            <a:pPr algn="l" indent="0" marL="0">
              <a:spcAft>
                <a:spcPts val="1500"/>
              </a:spcAft>
              <a:buNone/>
            </a:pPr>
            <a:r>
              <a:rPr lang="en-US" sz="4400" dirty="0">
                <a:solidFill>
                  <a:srgbClr val="FBF7F1"/>
                </a:solidFill>
                <a:latin typeface="Jost"/>
                <a:ea typeface="Jost"/>
                <a:cs typeface="Jost"/>
              </a:rPr>
              <a:t>One that gets you found</a:t>
            </a:r>
            <a:endParaRPr lang="en-US" sz="4400" dirty="0"/>
          </a:p>
          <a:p>
            <a:pPr algn="l" indent="0" marL="0">
              <a:spcAft>
                <a:spcPts val="1500"/>
              </a:spcAft>
              <a:buNone/>
            </a:pPr>
            <a:r>
              <a:rPr lang="en-US" sz="4400" dirty="0">
                <a:solidFill>
                  <a:srgbClr val="FBF7F1"/>
                </a:solidFill>
                <a:latin typeface="Jost"/>
                <a:ea typeface="Jost"/>
                <a:cs typeface="Jost"/>
              </a:rPr>
              <a:t>One that gets you trusted</a:t>
            </a:r>
            <a:endParaRPr lang="en-US" sz="4400" dirty="0"/>
          </a:p>
          <a:p>
            <a:pPr algn="l" indent="0" marL="0">
              <a:spcAft>
                <a:spcPts val="1500"/>
              </a:spcAft>
              <a:buNone/>
            </a:pPr>
            <a:r>
              <a:rPr lang="en-US" sz="4400" dirty="0">
                <a:solidFill>
                  <a:srgbClr val="FBF7F1"/>
                </a:solidFill>
                <a:latin typeface="Jost"/>
                <a:ea typeface="Jost"/>
                <a:cs typeface="Jost"/>
              </a:rPr>
              <a:t>One that gets you booked</a:t>
            </a:r>
            <a:endParaRPr lang="en-US" sz="44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dirty="0">
                <a:solidFill>
                  <a:srgbClr val="2A201B"/>
                </a:solidFill>
                <a:latin typeface="Jost"/>
                <a:ea typeface="Jost"/>
                <a:cs typeface="Jost"/>
              </a:rPr>
              <a:t>So you don't need more content.</a:t>
            </a:r>
            <a:endParaRPr lang="en-US" sz="4400" dirty="0"/>
          </a:p>
          <a:p>
            <a:pPr algn="l" indent="0" marL="0">
              <a:spcAft>
                <a:spcPts val="1500"/>
              </a:spcAft>
              <a:buNone/>
            </a:pPr>
            <a:r>
              <a:rPr lang="en-US" sz="4400" dirty="0">
                <a:solidFill>
                  <a:srgbClr val="2A201B"/>
                </a:solidFill>
                <a:latin typeface="Jost"/>
                <a:ea typeface="Jost"/>
                <a:cs typeface="Jost"/>
              </a:rPr>
              <a:t>You need 3 kinds:</a:t>
            </a:r>
            <a:endParaRPr lang="en-US" sz="4400" dirty="0"/>
          </a:p>
          <a:p>
            <a:pPr algn="l" indent="0" marL="0">
              <a:spcAft>
                <a:spcPts val="1500"/>
              </a:spcAft>
              <a:buNone/>
            </a:pPr>
            <a:r>
              <a:rPr lang="en-US" sz="4400" dirty="0">
                <a:solidFill>
                  <a:srgbClr val="2A201B"/>
                </a:solidFill>
                <a:latin typeface="Jost"/>
                <a:ea typeface="Jost"/>
                <a:cs typeface="Jost"/>
              </a:rPr>
              <a:t>One that gets you found</a:t>
            </a:r>
            <a:endParaRPr lang="en-US" sz="4400" dirty="0"/>
          </a:p>
          <a:p>
            <a:pPr algn="l" indent="0" marL="0">
              <a:spcAft>
                <a:spcPts val="1500"/>
              </a:spcAft>
              <a:buNone/>
            </a:pPr>
            <a:r>
              <a:rPr lang="en-US" sz="4400" dirty="0">
                <a:solidFill>
                  <a:srgbClr val="FBF7F1"/>
                </a:solidFill>
                <a:latin typeface="Jost"/>
                <a:ea typeface="Jost"/>
                <a:cs typeface="Jost"/>
              </a:rPr>
              <a:t>One that gets you trusted</a:t>
            </a:r>
            <a:endParaRPr lang="en-US" sz="4400" dirty="0"/>
          </a:p>
          <a:p>
            <a:pPr algn="l" indent="0" marL="0">
              <a:spcAft>
                <a:spcPts val="1500"/>
              </a:spcAft>
              <a:buNone/>
            </a:pPr>
            <a:r>
              <a:rPr lang="en-US" sz="4400" dirty="0">
                <a:solidFill>
                  <a:srgbClr val="FBF7F1"/>
                </a:solidFill>
                <a:latin typeface="Jost"/>
                <a:ea typeface="Jost"/>
                <a:cs typeface="Jost"/>
              </a:rPr>
              <a:t>One that gets you booked</a:t>
            </a:r>
            <a:endParaRPr lang="en-US" sz="44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dirty="0">
                <a:solidFill>
                  <a:srgbClr val="2A201B"/>
                </a:solidFill>
                <a:latin typeface="Jost"/>
                <a:ea typeface="Jost"/>
                <a:cs typeface="Jost"/>
              </a:rPr>
              <a:t>So you don't need more content.</a:t>
            </a:r>
            <a:endParaRPr lang="en-US" sz="4400" dirty="0"/>
          </a:p>
          <a:p>
            <a:pPr algn="l" indent="0" marL="0">
              <a:spcAft>
                <a:spcPts val="1500"/>
              </a:spcAft>
              <a:buNone/>
            </a:pPr>
            <a:r>
              <a:rPr lang="en-US" sz="4400" dirty="0">
                <a:solidFill>
                  <a:srgbClr val="2A201B"/>
                </a:solidFill>
                <a:latin typeface="Jost"/>
                <a:ea typeface="Jost"/>
                <a:cs typeface="Jost"/>
              </a:rPr>
              <a:t>You need 3 kinds:</a:t>
            </a:r>
            <a:endParaRPr lang="en-US" sz="4400" dirty="0"/>
          </a:p>
          <a:p>
            <a:pPr algn="l" indent="0" marL="0">
              <a:spcAft>
                <a:spcPts val="1500"/>
              </a:spcAft>
              <a:buNone/>
            </a:pPr>
            <a:r>
              <a:rPr lang="en-US" sz="4400" dirty="0">
                <a:solidFill>
                  <a:srgbClr val="2A201B"/>
                </a:solidFill>
                <a:latin typeface="Jost"/>
                <a:ea typeface="Jost"/>
                <a:cs typeface="Jost"/>
              </a:rPr>
              <a:t>One that gets you found</a:t>
            </a:r>
            <a:endParaRPr lang="en-US" sz="4400" dirty="0"/>
          </a:p>
          <a:p>
            <a:pPr algn="l" indent="0" marL="0">
              <a:spcAft>
                <a:spcPts val="1500"/>
              </a:spcAft>
              <a:buNone/>
            </a:pPr>
            <a:r>
              <a:rPr lang="en-US" sz="4400" dirty="0">
                <a:solidFill>
                  <a:srgbClr val="2A201B"/>
                </a:solidFill>
                <a:latin typeface="Jost"/>
                <a:ea typeface="Jost"/>
                <a:cs typeface="Jost"/>
              </a:rPr>
              <a:t>One that gets you trusted</a:t>
            </a:r>
            <a:endParaRPr lang="en-US" sz="4400" dirty="0"/>
          </a:p>
          <a:p>
            <a:pPr algn="l" indent="0" marL="0">
              <a:spcAft>
                <a:spcPts val="1500"/>
              </a:spcAft>
              <a:buNone/>
            </a:pPr>
            <a:r>
              <a:rPr lang="en-US" sz="4400" dirty="0">
                <a:solidFill>
                  <a:srgbClr val="FBF7F1"/>
                </a:solidFill>
                <a:latin typeface="Jost"/>
                <a:ea typeface="Jost"/>
                <a:cs typeface="Jost"/>
              </a:rPr>
              <a:t>One that gets you booked</a:t>
            </a:r>
            <a:endParaRPr lang="en-US" sz="44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89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dirty="0">
                <a:solidFill>
                  <a:srgbClr val="2A201B"/>
                </a:solidFill>
                <a:latin typeface="Jost"/>
                <a:ea typeface="Jost"/>
                <a:cs typeface="Jost"/>
              </a:rPr>
              <a:t>So you don't need more content.</a:t>
            </a:r>
            <a:endParaRPr lang="en-US" sz="4400" dirty="0"/>
          </a:p>
          <a:p>
            <a:pPr algn="l" indent="0" marL="0">
              <a:spcAft>
                <a:spcPts val="1500"/>
              </a:spcAft>
              <a:buNone/>
            </a:pPr>
            <a:r>
              <a:rPr lang="en-US" sz="4400" dirty="0">
                <a:solidFill>
                  <a:srgbClr val="2A201B"/>
                </a:solidFill>
                <a:latin typeface="Jost"/>
                <a:ea typeface="Jost"/>
                <a:cs typeface="Jost"/>
              </a:rPr>
              <a:t>You need 3 kinds:</a:t>
            </a:r>
            <a:endParaRPr lang="en-US" sz="4400" dirty="0"/>
          </a:p>
          <a:p>
            <a:pPr algn="l" indent="0" marL="0">
              <a:spcAft>
                <a:spcPts val="1500"/>
              </a:spcAft>
              <a:buNone/>
            </a:pPr>
            <a:r>
              <a:rPr lang="en-US" sz="4400" dirty="0">
                <a:solidFill>
                  <a:srgbClr val="2A201B"/>
                </a:solidFill>
                <a:latin typeface="Jost"/>
                <a:ea typeface="Jost"/>
                <a:cs typeface="Jost"/>
              </a:rPr>
              <a:t>One that gets you found</a:t>
            </a:r>
            <a:endParaRPr lang="en-US" sz="4400" dirty="0"/>
          </a:p>
          <a:p>
            <a:pPr algn="l" indent="0" marL="0">
              <a:spcAft>
                <a:spcPts val="1500"/>
              </a:spcAft>
              <a:buNone/>
            </a:pPr>
            <a:r>
              <a:rPr lang="en-US" sz="4400" dirty="0">
                <a:solidFill>
                  <a:srgbClr val="2A201B"/>
                </a:solidFill>
                <a:latin typeface="Jost"/>
                <a:ea typeface="Jost"/>
                <a:cs typeface="Jost"/>
              </a:rPr>
              <a:t>One that gets you trusted</a:t>
            </a:r>
            <a:endParaRPr lang="en-US" sz="4400" dirty="0"/>
          </a:p>
          <a:p>
            <a:pPr algn="l" indent="0" marL="0">
              <a:spcAft>
                <a:spcPts val="1500"/>
              </a:spcAft>
              <a:buNone/>
            </a:pPr>
            <a:r>
              <a:rPr lang="en-US" sz="4400" dirty="0">
                <a:solidFill>
                  <a:srgbClr val="2A201B"/>
                </a:solidFill>
                <a:latin typeface="Jost"/>
                <a:ea typeface="Jost"/>
                <a:cs typeface="Jost"/>
              </a:rPr>
              <a:t>One that gets you booked</a:t>
            </a:r>
            <a:endParaRPr lang="en-US" sz="44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Post #1: </a:t>
            </a:r>
            <a:pPr algn="l" indent="0" marL="0">
              <a:spcAft>
                <a:spcPts val="1500"/>
              </a:spcAft>
              <a:buNone/>
            </a:pPr>
            <a:r>
              <a:rPr lang="en-US" sz="4400" dirty="0">
                <a:solidFill>
                  <a:srgbClr val="2A201B"/>
                </a:solidFill>
                <a:latin typeface="Jost"/>
                <a:ea typeface="Jost"/>
                <a:cs typeface="Jost"/>
              </a:rPr>
              <a:t>Get Found</a:t>
            </a:r>
            <a:endParaRPr lang="en-US" sz="4400" dirty="0"/>
          </a:p>
          <a:p>
            <a:pPr algn="l" indent="0" marL="0">
              <a:spcAft>
                <a:spcPts val="1500"/>
              </a:spcAft>
              <a:buNone/>
            </a:pPr>
            <a:r>
              <a:rPr lang="en-US" sz="4400" dirty="0">
                <a:solidFill>
                  <a:srgbClr val="FBF7F1"/>
                </a:solidFill>
                <a:latin typeface="Jost"/>
                <a:ea typeface="Jost"/>
                <a:cs typeface="Jost"/>
              </a:rPr>
              <a:t>For people who have no idea who you are yet. Strangers.</a:t>
            </a:r>
            <a:endParaRPr lang="en-US" sz="4400" dirty="0"/>
          </a:p>
          <a:p>
            <a:pPr algn="l" indent="0" marL="0">
              <a:spcAft>
                <a:spcPts val="1500"/>
              </a:spcAft>
              <a:buNone/>
            </a:pPr>
            <a:r>
              <a:rPr lang="en-US" sz="4400" dirty="0">
                <a:solidFill>
                  <a:srgbClr val="FBF7F1"/>
                </a:solidFill>
                <a:latin typeface="Jost"/>
                <a:ea typeface="Jost"/>
                <a:cs typeface="Jost"/>
              </a:rPr>
              <a:t>This post isn't about you.</a:t>
            </a:r>
            <a:endParaRPr lang="en-US" sz="4400" dirty="0"/>
          </a:p>
          <a:p>
            <a:pPr algn="l" indent="0" marL="0">
              <a:spcAft>
                <a:spcPts val="1500"/>
              </a:spcAft>
              <a:buNone/>
            </a:pPr>
            <a:r>
              <a:rPr lang="en-US" sz="4400" dirty="0">
                <a:solidFill>
                  <a:srgbClr val="FBF7F1"/>
                </a:solidFill>
                <a:latin typeface="Jost"/>
                <a:ea typeface="Jost"/>
                <a:cs typeface="Jost"/>
              </a:rPr>
              <a:t>It's about what they care about: a trend, a myth, or a question they're already asking.</a:t>
            </a:r>
            <a:endParaRPr lang="en-US" sz="44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Post #1: </a:t>
            </a:r>
            <a:pPr algn="l" indent="0" marL="0">
              <a:spcAft>
                <a:spcPts val="1500"/>
              </a:spcAft>
              <a:buNone/>
            </a:pPr>
            <a:r>
              <a:rPr lang="en-US" sz="4400" dirty="0">
                <a:solidFill>
                  <a:srgbClr val="2A201B"/>
                </a:solidFill>
                <a:latin typeface="Jost"/>
                <a:ea typeface="Jost"/>
                <a:cs typeface="Jost"/>
              </a:rPr>
              <a:t>Get Found</a:t>
            </a:r>
            <a:endParaRPr lang="en-US" sz="4400" dirty="0"/>
          </a:p>
          <a:p>
            <a:pPr algn="l" indent="0" marL="0">
              <a:spcAft>
                <a:spcPts val="1500"/>
              </a:spcAft>
              <a:buNone/>
            </a:pPr>
            <a:r>
              <a:rPr lang="en-US" sz="4400" dirty="0">
                <a:solidFill>
                  <a:srgbClr val="2A201B"/>
                </a:solidFill>
                <a:latin typeface="Jost"/>
                <a:ea typeface="Jost"/>
                <a:cs typeface="Jost"/>
              </a:rPr>
              <a:t>For people who have no idea who you are yet. Strangers.</a:t>
            </a:r>
            <a:endParaRPr lang="en-US" sz="4400" dirty="0"/>
          </a:p>
          <a:p>
            <a:pPr algn="l" indent="0" marL="0">
              <a:spcAft>
                <a:spcPts val="1500"/>
              </a:spcAft>
              <a:buNone/>
            </a:pPr>
            <a:r>
              <a:rPr lang="en-US" sz="4400" dirty="0">
                <a:solidFill>
                  <a:srgbClr val="FBF7F1"/>
                </a:solidFill>
                <a:latin typeface="Jost"/>
                <a:ea typeface="Jost"/>
                <a:cs typeface="Jost"/>
              </a:rPr>
              <a:t>This post isn't about you.</a:t>
            </a:r>
            <a:endParaRPr lang="en-US" sz="4400" dirty="0"/>
          </a:p>
          <a:p>
            <a:pPr algn="l" indent="0" marL="0">
              <a:spcAft>
                <a:spcPts val="1500"/>
              </a:spcAft>
              <a:buNone/>
            </a:pPr>
            <a:r>
              <a:rPr lang="en-US" sz="4400" dirty="0">
                <a:solidFill>
                  <a:srgbClr val="FBF7F1"/>
                </a:solidFill>
                <a:latin typeface="Jost"/>
                <a:ea typeface="Jost"/>
                <a:cs typeface="Jost"/>
              </a:rPr>
              <a:t>It's about what they care about: a trend, a myth, or a question they're already asking.</a:t>
            </a:r>
            <a:endParaRPr lang="en-US" sz="4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Post #1: </a:t>
            </a:r>
            <a:pPr algn="l" indent="0" marL="0">
              <a:spcAft>
                <a:spcPts val="1500"/>
              </a:spcAft>
              <a:buNone/>
            </a:pPr>
            <a:r>
              <a:rPr lang="en-US" sz="4400" dirty="0">
                <a:solidFill>
                  <a:srgbClr val="2A201B"/>
                </a:solidFill>
                <a:latin typeface="Jost"/>
                <a:ea typeface="Jost"/>
                <a:cs typeface="Jost"/>
              </a:rPr>
              <a:t>Get Found</a:t>
            </a:r>
            <a:endParaRPr lang="en-US" sz="4400" dirty="0"/>
          </a:p>
          <a:p>
            <a:pPr algn="l" indent="0" marL="0">
              <a:spcAft>
                <a:spcPts val="1500"/>
              </a:spcAft>
              <a:buNone/>
            </a:pPr>
            <a:r>
              <a:rPr lang="en-US" sz="4400" dirty="0">
                <a:solidFill>
                  <a:srgbClr val="2A201B"/>
                </a:solidFill>
                <a:latin typeface="Jost"/>
                <a:ea typeface="Jost"/>
                <a:cs typeface="Jost"/>
              </a:rPr>
              <a:t>For people who have no idea who you are yet. Strangers.</a:t>
            </a:r>
            <a:endParaRPr lang="en-US" sz="4400" dirty="0"/>
          </a:p>
          <a:p>
            <a:pPr algn="l" indent="0" marL="0">
              <a:spcAft>
                <a:spcPts val="1500"/>
              </a:spcAft>
              <a:buNone/>
            </a:pPr>
            <a:r>
              <a:rPr lang="en-US" sz="4400" dirty="0">
                <a:solidFill>
                  <a:srgbClr val="2A201B"/>
                </a:solidFill>
                <a:latin typeface="Jost"/>
                <a:ea typeface="Jost"/>
                <a:cs typeface="Jost"/>
              </a:rPr>
              <a:t>This post isn't about you.</a:t>
            </a:r>
            <a:endParaRPr lang="en-US" sz="4400" dirty="0"/>
          </a:p>
          <a:p>
            <a:pPr algn="l" indent="0" marL="0">
              <a:spcAft>
                <a:spcPts val="1500"/>
              </a:spcAft>
              <a:buNone/>
            </a:pPr>
            <a:r>
              <a:rPr lang="en-US" sz="4400" dirty="0">
                <a:solidFill>
                  <a:srgbClr val="FBF7F1"/>
                </a:solidFill>
                <a:latin typeface="Jost"/>
                <a:ea typeface="Jost"/>
                <a:cs typeface="Jost"/>
              </a:rPr>
              <a:t>It's about what they care about: a trend, a myth, or a question they're already asking.</a:t>
            </a:r>
            <a:endParaRPr lang="en-US" sz="4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4400" b="1" dirty="0">
                <a:solidFill>
                  <a:srgbClr val="AD5A6E"/>
                </a:solidFill>
                <a:latin typeface="Jost"/>
                <a:ea typeface="Jost"/>
                <a:cs typeface="Jost"/>
              </a:rPr>
              <a:t>Post #1: </a:t>
            </a:r>
            <a:pPr algn="l" indent="0" marL="0">
              <a:spcAft>
                <a:spcPts val="1500"/>
              </a:spcAft>
              <a:buNone/>
            </a:pPr>
            <a:r>
              <a:rPr lang="en-US" sz="4400" dirty="0">
                <a:solidFill>
                  <a:srgbClr val="2A201B"/>
                </a:solidFill>
                <a:latin typeface="Jost"/>
                <a:ea typeface="Jost"/>
                <a:cs typeface="Jost"/>
              </a:rPr>
              <a:t>Get Found</a:t>
            </a:r>
            <a:endParaRPr lang="en-US" sz="4400" dirty="0"/>
          </a:p>
          <a:p>
            <a:pPr algn="l" indent="0" marL="0">
              <a:spcAft>
                <a:spcPts val="1500"/>
              </a:spcAft>
              <a:buNone/>
            </a:pPr>
            <a:r>
              <a:rPr lang="en-US" sz="4400" dirty="0">
                <a:solidFill>
                  <a:srgbClr val="2A201B"/>
                </a:solidFill>
                <a:latin typeface="Jost"/>
                <a:ea typeface="Jost"/>
                <a:cs typeface="Jost"/>
              </a:rPr>
              <a:t>For people who have no idea who you are yet. Strangers.</a:t>
            </a:r>
            <a:endParaRPr lang="en-US" sz="4400" dirty="0"/>
          </a:p>
          <a:p>
            <a:pPr algn="l" indent="0" marL="0">
              <a:spcAft>
                <a:spcPts val="1500"/>
              </a:spcAft>
              <a:buNone/>
            </a:pPr>
            <a:r>
              <a:rPr lang="en-US" sz="4400" dirty="0">
                <a:solidFill>
                  <a:srgbClr val="2A201B"/>
                </a:solidFill>
                <a:latin typeface="Jost"/>
                <a:ea typeface="Jost"/>
                <a:cs typeface="Jost"/>
              </a:rPr>
              <a:t>This post isn't about you.</a:t>
            </a:r>
            <a:endParaRPr lang="en-US" sz="4400" dirty="0"/>
          </a:p>
          <a:p>
            <a:pPr algn="l" indent="0" marL="0">
              <a:spcAft>
                <a:spcPts val="1500"/>
              </a:spcAft>
              <a:buNone/>
            </a:pPr>
            <a:r>
              <a:rPr lang="en-US" sz="4400" dirty="0">
                <a:solidFill>
                  <a:srgbClr val="2A201B"/>
                </a:solidFill>
                <a:latin typeface="Jost"/>
                <a:ea typeface="Jost"/>
                <a:cs typeface="Jost"/>
              </a:rPr>
              <a:t>It's about what they care about: a trend, a myth, or a question they're already asking.</a:t>
            </a:r>
            <a:endParaRPr lang="en-US" sz="4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Hair: </a:t>
            </a:r>
            <a:pPr algn="l" indent="0" marL="0">
              <a:spcAft>
                <a:spcPts val="1300"/>
              </a:spcAft>
              <a:buNone/>
            </a:pPr>
            <a:r>
              <a:rPr lang="en-US" sz="3600" dirty="0">
                <a:solidFill>
                  <a:srgbClr val="2A201B"/>
                </a:solidFill>
                <a:latin typeface="Jost"/>
                <a:ea typeface="Jost"/>
                <a:cs typeface="Jost"/>
              </a:rPr>
              <a:t>Is washing your hair every day actually bad for it?</a:t>
            </a:r>
            <a:endParaRPr lang="en-US" sz="3600" dirty="0"/>
          </a:p>
          <a:p>
            <a:pPr algn="l" indent="0" marL="0">
              <a:spcAft>
                <a:spcPts val="1300"/>
              </a:spcAft>
              <a:buNone/>
            </a:pPr>
            <a:r>
              <a:rPr lang="en-US" sz="3600" b="1" dirty="0">
                <a:solidFill>
                  <a:srgbClr val="FBF7F1"/>
                </a:solidFill>
                <a:latin typeface="Jost"/>
                <a:ea typeface="Jost"/>
                <a:cs typeface="Jost"/>
              </a:rPr>
              <a:t>Skin: </a:t>
            </a:r>
            <a:pPr algn="l" indent="0" marL="0">
              <a:spcAft>
                <a:spcPts val="1300"/>
              </a:spcAft>
              <a:buNone/>
            </a:pPr>
            <a:r>
              <a:rPr lang="en-US" sz="3600" dirty="0">
                <a:solidFill>
                  <a:srgbClr val="FBF7F1"/>
                </a:solidFill>
                <a:latin typeface="Jost"/>
                <a:ea typeface="Jost"/>
                <a:cs typeface="Jost"/>
              </a:rPr>
              <a:t>The skincare trend that's actually ruining your skin barrier</a:t>
            </a:r>
            <a:endParaRPr lang="en-US" sz="3600" dirty="0"/>
          </a:p>
          <a:p>
            <a:pPr algn="l" indent="0" marL="0">
              <a:spcAft>
                <a:spcPts val="1300"/>
              </a:spcAft>
              <a:buNone/>
            </a:pPr>
            <a:r>
              <a:rPr lang="en-US" sz="3600" b="1" dirty="0">
                <a:solidFill>
                  <a:srgbClr val="FBF7F1"/>
                </a:solidFill>
                <a:latin typeface="Jost"/>
                <a:ea typeface="Jost"/>
                <a:cs typeface="Jost"/>
              </a:rPr>
              <a:t>Lashes: </a:t>
            </a:r>
            <a:pPr algn="l" indent="0" marL="0">
              <a:spcAft>
                <a:spcPts val="1300"/>
              </a:spcAft>
              <a:buNone/>
            </a:pPr>
            <a:r>
              <a:rPr lang="en-US" sz="3600" dirty="0">
                <a:solidFill>
                  <a:srgbClr val="FBF7F1"/>
                </a:solidFill>
                <a:latin typeface="Jost"/>
                <a:ea typeface="Jost"/>
                <a:cs typeface="Jost"/>
              </a:rPr>
              <a:t>Lash extensions don't ruin your natural lashes. Here's what does.</a:t>
            </a:r>
            <a:endParaRPr lang="en-US" sz="3600" dirty="0"/>
          </a:p>
          <a:p>
            <a:pPr algn="l" indent="0" marL="0">
              <a:spcAft>
                <a:spcPts val="1300"/>
              </a:spcAft>
              <a:buNone/>
            </a:pPr>
            <a:r>
              <a:rPr lang="en-US" sz="3600" b="1" dirty="0">
                <a:solidFill>
                  <a:srgbClr val="FBF7F1"/>
                </a:solidFill>
                <a:latin typeface="Jost"/>
                <a:ea typeface="Jost"/>
                <a:cs typeface="Jost"/>
              </a:rPr>
              <a:t>Nails: </a:t>
            </a:r>
            <a:pPr algn="l" indent="0" marL="0">
              <a:spcAft>
                <a:spcPts val="1300"/>
              </a:spcAft>
              <a:buNone/>
            </a:pPr>
            <a:r>
              <a:rPr lang="en-US" sz="3600" dirty="0">
                <a:solidFill>
                  <a:srgbClr val="FBF7F1"/>
                </a:solidFill>
                <a:latin typeface="Jost"/>
                <a:ea typeface="Jost"/>
                <a:cs typeface="Jost"/>
              </a:rPr>
              <a:t>Why your gel manicure starts lifting after a week</a:t>
            </a:r>
            <a:endParaRPr lang="en-US" sz="36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Hair: </a:t>
            </a:r>
            <a:pPr algn="l" indent="0" marL="0">
              <a:spcAft>
                <a:spcPts val="1300"/>
              </a:spcAft>
              <a:buNone/>
            </a:pPr>
            <a:r>
              <a:rPr lang="en-US" sz="3600" dirty="0">
                <a:solidFill>
                  <a:srgbClr val="2A201B"/>
                </a:solidFill>
                <a:latin typeface="Jost"/>
                <a:ea typeface="Jost"/>
                <a:cs typeface="Jost"/>
              </a:rPr>
              <a:t>Is washing your hair every day actually bad for it?</a:t>
            </a:r>
            <a:endParaRPr lang="en-US" sz="3600" dirty="0"/>
          </a:p>
          <a:p>
            <a:pPr algn="l" indent="0" marL="0">
              <a:spcAft>
                <a:spcPts val="1300"/>
              </a:spcAft>
              <a:buNone/>
            </a:pPr>
            <a:r>
              <a:rPr lang="en-US" sz="3600" b="1" dirty="0">
                <a:solidFill>
                  <a:srgbClr val="AD5A6E"/>
                </a:solidFill>
                <a:latin typeface="Jost"/>
                <a:ea typeface="Jost"/>
                <a:cs typeface="Jost"/>
              </a:rPr>
              <a:t>Skin: </a:t>
            </a:r>
            <a:pPr algn="l" indent="0" marL="0">
              <a:spcAft>
                <a:spcPts val="1300"/>
              </a:spcAft>
              <a:buNone/>
            </a:pPr>
            <a:r>
              <a:rPr lang="en-US" sz="3600" dirty="0">
                <a:solidFill>
                  <a:srgbClr val="2A201B"/>
                </a:solidFill>
                <a:latin typeface="Jost"/>
                <a:ea typeface="Jost"/>
                <a:cs typeface="Jost"/>
              </a:rPr>
              <a:t>The skincare trend that's actually ruining your skin barrier</a:t>
            </a:r>
            <a:endParaRPr lang="en-US" sz="3600" dirty="0"/>
          </a:p>
          <a:p>
            <a:pPr algn="l" indent="0" marL="0">
              <a:spcAft>
                <a:spcPts val="1300"/>
              </a:spcAft>
              <a:buNone/>
            </a:pPr>
            <a:r>
              <a:rPr lang="en-US" sz="3600" b="1" dirty="0">
                <a:solidFill>
                  <a:srgbClr val="FBF7F1"/>
                </a:solidFill>
                <a:latin typeface="Jost"/>
                <a:ea typeface="Jost"/>
                <a:cs typeface="Jost"/>
              </a:rPr>
              <a:t>Lashes: </a:t>
            </a:r>
            <a:pPr algn="l" indent="0" marL="0">
              <a:spcAft>
                <a:spcPts val="1300"/>
              </a:spcAft>
              <a:buNone/>
            </a:pPr>
            <a:r>
              <a:rPr lang="en-US" sz="3600" dirty="0">
                <a:solidFill>
                  <a:srgbClr val="FBF7F1"/>
                </a:solidFill>
                <a:latin typeface="Jost"/>
                <a:ea typeface="Jost"/>
                <a:cs typeface="Jost"/>
              </a:rPr>
              <a:t>Lash extensions don't ruin your natural lashes. Here's what does.</a:t>
            </a:r>
            <a:endParaRPr lang="en-US" sz="3600" dirty="0"/>
          </a:p>
          <a:p>
            <a:pPr algn="l" indent="0" marL="0">
              <a:spcAft>
                <a:spcPts val="1300"/>
              </a:spcAft>
              <a:buNone/>
            </a:pPr>
            <a:r>
              <a:rPr lang="en-US" sz="3600" b="1" dirty="0">
                <a:solidFill>
                  <a:srgbClr val="FBF7F1"/>
                </a:solidFill>
                <a:latin typeface="Jost"/>
                <a:ea typeface="Jost"/>
                <a:cs typeface="Jost"/>
              </a:rPr>
              <a:t>Nails: </a:t>
            </a:r>
            <a:pPr algn="l" indent="0" marL="0">
              <a:spcAft>
                <a:spcPts val="1300"/>
              </a:spcAft>
              <a:buNone/>
            </a:pPr>
            <a:r>
              <a:rPr lang="en-US" sz="3600" dirty="0">
                <a:solidFill>
                  <a:srgbClr val="FBF7F1"/>
                </a:solidFill>
                <a:latin typeface="Jost"/>
                <a:ea typeface="Jost"/>
                <a:cs typeface="Jost"/>
              </a:rPr>
              <a:t>Why your gel manicure starts lifting after a week</a:t>
            </a:r>
            <a:endParaRPr lang="en-US" sz="36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Hair: </a:t>
            </a:r>
            <a:pPr algn="l" indent="0" marL="0">
              <a:spcAft>
                <a:spcPts val="1300"/>
              </a:spcAft>
              <a:buNone/>
            </a:pPr>
            <a:r>
              <a:rPr lang="en-US" sz="3600" dirty="0">
                <a:solidFill>
                  <a:srgbClr val="2A201B"/>
                </a:solidFill>
                <a:latin typeface="Jost"/>
                <a:ea typeface="Jost"/>
                <a:cs typeface="Jost"/>
              </a:rPr>
              <a:t>Is washing your hair every day actually bad for it?</a:t>
            </a:r>
            <a:endParaRPr lang="en-US" sz="3600" dirty="0"/>
          </a:p>
          <a:p>
            <a:pPr algn="l" indent="0" marL="0">
              <a:spcAft>
                <a:spcPts val="1300"/>
              </a:spcAft>
              <a:buNone/>
            </a:pPr>
            <a:r>
              <a:rPr lang="en-US" sz="3600" b="1" dirty="0">
                <a:solidFill>
                  <a:srgbClr val="AD5A6E"/>
                </a:solidFill>
                <a:latin typeface="Jost"/>
                <a:ea typeface="Jost"/>
                <a:cs typeface="Jost"/>
              </a:rPr>
              <a:t>Skin: </a:t>
            </a:r>
            <a:pPr algn="l" indent="0" marL="0">
              <a:spcAft>
                <a:spcPts val="1300"/>
              </a:spcAft>
              <a:buNone/>
            </a:pPr>
            <a:r>
              <a:rPr lang="en-US" sz="3600" dirty="0">
                <a:solidFill>
                  <a:srgbClr val="2A201B"/>
                </a:solidFill>
                <a:latin typeface="Jost"/>
                <a:ea typeface="Jost"/>
                <a:cs typeface="Jost"/>
              </a:rPr>
              <a:t>The skincare trend that's actually ruining your skin barrier</a:t>
            </a:r>
            <a:endParaRPr lang="en-US" sz="3600" dirty="0"/>
          </a:p>
          <a:p>
            <a:pPr algn="l" indent="0" marL="0">
              <a:spcAft>
                <a:spcPts val="1300"/>
              </a:spcAft>
              <a:buNone/>
            </a:pPr>
            <a:r>
              <a:rPr lang="en-US" sz="3600" b="1" dirty="0">
                <a:solidFill>
                  <a:srgbClr val="AD5A6E"/>
                </a:solidFill>
                <a:latin typeface="Jost"/>
                <a:ea typeface="Jost"/>
                <a:cs typeface="Jost"/>
              </a:rPr>
              <a:t>Lashes: </a:t>
            </a:r>
            <a:pPr algn="l" indent="0" marL="0">
              <a:spcAft>
                <a:spcPts val="1300"/>
              </a:spcAft>
              <a:buNone/>
            </a:pPr>
            <a:r>
              <a:rPr lang="en-US" sz="3600" dirty="0">
                <a:solidFill>
                  <a:srgbClr val="2A201B"/>
                </a:solidFill>
                <a:latin typeface="Jost"/>
                <a:ea typeface="Jost"/>
                <a:cs typeface="Jost"/>
              </a:rPr>
              <a:t>Lash extensions don't ruin your natural lashes. Here's what does.</a:t>
            </a:r>
            <a:endParaRPr lang="en-US" sz="3600" dirty="0"/>
          </a:p>
          <a:p>
            <a:pPr algn="l" indent="0" marL="0">
              <a:spcAft>
                <a:spcPts val="1300"/>
              </a:spcAft>
              <a:buNone/>
            </a:pPr>
            <a:r>
              <a:rPr lang="en-US" sz="3600" b="1" dirty="0">
                <a:solidFill>
                  <a:srgbClr val="FBF7F1"/>
                </a:solidFill>
                <a:latin typeface="Jost"/>
                <a:ea typeface="Jost"/>
                <a:cs typeface="Jost"/>
              </a:rPr>
              <a:t>Nails: </a:t>
            </a:r>
            <a:pPr algn="l" indent="0" marL="0">
              <a:spcAft>
                <a:spcPts val="1300"/>
              </a:spcAft>
              <a:buNone/>
            </a:pPr>
            <a:r>
              <a:rPr lang="en-US" sz="3600" dirty="0">
                <a:solidFill>
                  <a:srgbClr val="FBF7F1"/>
                </a:solidFill>
                <a:latin typeface="Jost"/>
                <a:ea typeface="Jost"/>
                <a:cs typeface="Jost"/>
              </a:rPr>
              <a:t>Why your gel manicure starts lifting after a week</a:t>
            </a:r>
            <a:endParaRPr lang="en-US" sz="36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Hair: </a:t>
            </a:r>
            <a:pPr algn="l" indent="0" marL="0">
              <a:spcAft>
                <a:spcPts val="1300"/>
              </a:spcAft>
              <a:buNone/>
            </a:pPr>
            <a:r>
              <a:rPr lang="en-US" sz="3600" dirty="0">
                <a:solidFill>
                  <a:srgbClr val="2A201B"/>
                </a:solidFill>
                <a:latin typeface="Jost"/>
                <a:ea typeface="Jost"/>
                <a:cs typeface="Jost"/>
              </a:rPr>
              <a:t>Is washing your hair every day actually bad for it?</a:t>
            </a:r>
            <a:endParaRPr lang="en-US" sz="3600" dirty="0"/>
          </a:p>
          <a:p>
            <a:pPr algn="l" indent="0" marL="0">
              <a:spcAft>
                <a:spcPts val="1300"/>
              </a:spcAft>
              <a:buNone/>
            </a:pPr>
            <a:r>
              <a:rPr lang="en-US" sz="3600" b="1" dirty="0">
                <a:solidFill>
                  <a:srgbClr val="AD5A6E"/>
                </a:solidFill>
                <a:latin typeface="Jost"/>
                <a:ea typeface="Jost"/>
                <a:cs typeface="Jost"/>
              </a:rPr>
              <a:t>Skin: </a:t>
            </a:r>
            <a:pPr algn="l" indent="0" marL="0">
              <a:spcAft>
                <a:spcPts val="1300"/>
              </a:spcAft>
              <a:buNone/>
            </a:pPr>
            <a:r>
              <a:rPr lang="en-US" sz="3600" dirty="0">
                <a:solidFill>
                  <a:srgbClr val="2A201B"/>
                </a:solidFill>
                <a:latin typeface="Jost"/>
                <a:ea typeface="Jost"/>
                <a:cs typeface="Jost"/>
              </a:rPr>
              <a:t>The skincare trend that's actually ruining your skin barrier</a:t>
            </a:r>
            <a:endParaRPr lang="en-US" sz="3600" dirty="0"/>
          </a:p>
          <a:p>
            <a:pPr algn="l" indent="0" marL="0">
              <a:spcAft>
                <a:spcPts val="1300"/>
              </a:spcAft>
              <a:buNone/>
            </a:pPr>
            <a:r>
              <a:rPr lang="en-US" sz="3600" b="1" dirty="0">
                <a:solidFill>
                  <a:srgbClr val="AD5A6E"/>
                </a:solidFill>
                <a:latin typeface="Jost"/>
                <a:ea typeface="Jost"/>
                <a:cs typeface="Jost"/>
              </a:rPr>
              <a:t>Lashes: </a:t>
            </a:r>
            <a:pPr algn="l" indent="0" marL="0">
              <a:spcAft>
                <a:spcPts val="1300"/>
              </a:spcAft>
              <a:buNone/>
            </a:pPr>
            <a:r>
              <a:rPr lang="en-US" sz="3600" dirty="0">
                <a:solidFill>
                  <a:srgbClr val="2A201B"/>
                </a:solidFill>
                <a:latin typeface="Jost"/>
                <a:ea typeface="Jost"/>
                <a:cs typeface="Jost"/>
              </a:rPr>
              <a:t>Lash extensions don't ruin your natural lashes. Here's what does.</a:t>
            </a:r>
            <a:endParaRPr lang="en-US" sz="3600" dirty="0"/>
          </a:p>
          <a:p>
            <a:pPr algn="l" indent="0" marL="0">
              <a:spcAft>
                <a:spcPts val="1300"/>
              </a:spcAft>
              <a:buNone/>
            </a:pPr>
            <a:r>
              <a:rPr lang="en-US" sz="3600" b="1" dirty="0">
                <a:solidFill>
                  <a:srgbClr val="AD5A6E"/>
                </a:solidFill>
                <a:latin typeface="Jost"/>
                <a:ea typeface="Jost"/>
                <a:cs typeface="Jost"/>
              </a:rPr>
              <a:t>Nails: </a:t>
            </a:r>
            <a:pPr algn="l" indent="0" marL="0">
              <a:spcAft>
                <a:spcPts val="1300"/>
              </a:spcAft>
              <a:buNone/>
            </a:pPr>
            <a:r>
              <a:rPr lang="en-US" sz="3600" dirty="0">
                <a:solidFill>
                  <a:srgbClr val="2A201B"/>
                </a:solidFill>
                <a:latin typeface="Jost"/>
                <a:ea typeface="Jost"/>
                <a:cs typeface="Jost"/>
              </a:rPr>
              <a:t>Why your gel manicure starts lifting after a week</a:t>
            </a:r>
            <a:endParaRPr lang="en-US" sz="36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Notice what's not in those.</a:t>
            </a:r>
            <a:endParaRPr lang="en-US" sz="5500" dirty="0"/>
          </a:p>
          <a:p>
            <a:pPr algn="l" indent="0" marL="0">
              <a:spcAft>
                <a:spcPts val="1700"/>
              </a:spcAft>
              <a:buNone/>
            </a:pPr>
            <a:r>
              <a:rPr lang="en-US" sz="4800" dirty="0">
                <a:solidFill>
                  <a:srgbClr val="FBF7F1"/>
                </a:solidFill>
                <a:latin typeface="Jost"/>
                <a:ea typeface="Jost"/>
                <a:cs typeface="Jost"/>
              </a:rPr>
              <a:t>No "book with me." No pitch.</a:t>
            </a:r>
            <a:endParaRPr lang="en-US" sz="4800" dirty="0"/>
          </a:p>
          <a:p>
            <a:pPr algn="l" indent="0" marL="0">
              <a:spcAft>
                <a:spcPts val="1700"/>
              </a:spcAft>
              <a:buNone/>
            </a:pPr>
            <a:r>
              <a:rPr lang="en-US" sz="4800" dirty="0">
                <a:solidFill>
                  <a:srgbClr val="FBF7F1"/>
                </a:solidFill>
                <a:latin typeface="Jost"/>
                <a:ea typeface="Jost"/>
                <a:cs typeface="Jost"/>
              </a:rPr>
              <a:t>Pitching someone who just met you is like asking a stranger to marry you.</a:t>
            </a:r>
            <a:endParaRPr lang="en-US" sz="48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Notice what's not in those.</a:t>
            </a:r>
            <a:endParaRPr lang="en-US" sz="5500" dirty="0"/>
          </a:p>
          <a:p>
            <a:pPr algn="l" indent="0" marL="0">
              <a:spcAft>
                <a:spcPts val="1700"/>
              </a:spcAft>
              <a:buNone/>
            </a:pPr>
            <a:r>
              <a:rPr lang="en-US" sz="4800" dirty="0">
                <a:solidFill>
                  <a:srgbClr val="2A201B"/>
                </a:solidFill>
                <a:latin typeface="Jost"/>
                <a:ea typeface="Jost"/>
                <a:cs typeface="Jost"/>
              </a:rPr>
              <a:t>No "book with me." No pitch.</a:t>
            </a:r>
            <a:endParaRPr lang="en-US" sz="4800" dirty="0"/>
          </a:p>
          <a:p>
            <a:pPr algn="l" indent="0" marL="0">
              <a:spcAft>
                <a:spcPts val="1700"/>
              </a:spcAft>
              <a:buNone/>
            </a:pPr>
            <a:r>
              <a:rPr lang="en-US" sz="4800" dirty="0">
                <a:solidFill>
                  <a:srgbClr val="FBF7F1"/>
                </a:solidFill>
                <a:latin typeface="Jost"/>
                <a:ea typeface="Jost"/>
                <a:cs typeface="Jost"/>
              </a:rPr>
              <a:t>Pitching someone who just met you is like asking a stranger to marry you.</a:t>
            </a:r>
            <a:endParaRPr lang="en-US" sz="4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Notice what's not in those.</a:t>
            </a:r>
            <a:endParaRPr lang="en-US" sz="5500" dirty="0"/>
          </a:p>
          <a:p>
            <a:pPr algn="l" indent="0" marL="0">
              <a:spcAft>
                <a:spcPts val="1700"/>
              </a:spcAft>
              <a:buNone/>
            </a:pPr>
            <a:r>
              <a:rPr lang="en-US" sz="4800" dirty="0">
                <a:solidFill>
                  <a:srgbClr val="2A201B"/>
                </a:solidFill>
                <a:latin typeface="Jost"/>
                <a:ea typeface="Jost"/>
                <a:cs typeface="Jost"/>
              </a:rPr>
              <a:t>No "book with me." No pitch.</a:t>
            </a:r>
            <a:endParaRPr lang="en-US" sz="4800" dirty="0"/>
          </a:p>
          <a:p>
            <a:pPr algn="l" indent="0" marL="0">
              <a:spcAft>
                <a:spcPts val="1700"/>
              </a:spcAft>
              <a:buNone/>
            </a:pPr>
            <a:r>
              <a:rPr lang="en-US" sz="4800" dirty="0">
                <a:solidFill>
                  <a:srgbClr val="2A201B"/>
                </a:solidFill>
                <a:latin typeface="Jost"/>
                <a:ea typeface="Jost"/>
                <a:cs typeface="Jost"/>
              </a:rPr>
              <a:t>Pitching someone who just met you is like asking a stranger to marry you.</a:t>
            </a:r>
            <a:endParaRPr lang="en-US" sz="48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This post has one job:</a:t>
            </a:r>
            <a:endParaRPr lang="en-US" sz="6200" dirty="0"/>
          </a:p>
          <a:p>
            <a:pPr algn="l" indent="0" marL="0">
              <a:spcAft>
                <a:spcPts val="1900"/>
              </a:spcAft>
              <a:buNone/>
            </a:pPr>
            <a:r>
              <a:rPr lang="en-US" sz="5400" dirty="0">
                <a:solidFill>
                  <a:srgbClr val="2A201B"/>
                </a:solidFill>
                <a:latin typeface="Jost"/>
                <a:ea typeface="Jost"/>
                <a:cs typeface="Jost"/>
              </a:rPr>
              <a:t>Get the right person to stop scrolling and think, "Oh, she knows what she's talking about."</a:t>
            </a:r>
            <a:endParaRPr lang="en-US" sz="54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Stuck on ideas?</a:t>
            </a:r>
            <a:endParaRPr lang="en-US" sz="6900" dirty="0"/>
          </a:p>
          <a:p>
            <a:pPr algn="l" indent="0" marL="0">
              <a:spcAft>
                <a:spcPts val="2100"/>
              </a:spcAft>
              <a:buNone/>
            </a:pPr>
            <a:r>
              <a:rPr lang="en-US" sz="6000" b="1" dirty="0">
                <a:solidFill>
                  <a:srgbClr val="AD5A6E"/>
                </a:solidFill>
                <a:latin typeface="Jost"/>
                <a:ea typeface="Jost"/>
                <a:cs typeface="Jost"/>
              </a:rPr>
              <a:t>Ask yourself: </a:t>
            </a:r>
            <a:pPr algn="l" indent="0" marL="0">
              <a:spcAft>
                <a:spcPts val="2100"/>
              </a:spcAft>
              <a:buNone/>
            </a:pPr>
            <a:r>
              <a:rPr lang="en-US" sz="6000" dirty="0">
                <a:solidFill>
                  <a:srgbClr val="2A201B"/>
                </a:solidFill>
                <a:latin typeface="Jost"/>
                <a:ea typeface="Jost"/>
                <a:cs typeface="Jost"/>
              </a:rPr>
              <a:t>what question do my clients always ask me?</a:t>
            </a:r>
            <a:endParaRPr lang="en-US" sz="60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Post #2: </a:t>
            </a:r>
            <a:pPr algn="l" indent="0" marL="0">
              <a:spcAft>
                <a:spcPts val="1300"/>
              </a:spcAft>
              <a:buNone/>
            </a:pPr>
            <a:r>
              <a:rPr lang="en-US" sz="3600" dirty="0">
                <a:solidFill>
                  <a:srgbClr val="2A201B"/>
                </a:solidFill>
                <a:latin typeface="Jost"/>
                <a:ea typeface="Jost"/>
                <a:cs typeface="Jost"/>
              </a:rPr>
              <a:t>Get Trusted</a:t>
            </a:r>
            <a:endParaRPr lang="en-US" sz="3600" dirty="0"/>
          </a:p>
          <a:p>
            <a:pPr algn="l" indent="0" marL="0">
              <a:spcAft>
                <a:spcPts val="1300"/>
              </a:spcAft>
              <a:buNone/>
            </a:pPr>
            <a:r>
              <a:rPr lang="en-US" sz="3600" dirty="0">
                <a:solidFill>
                  <a:srgbClr val="FBF7F1"/>
                </a:solidFill>
                <a:latin typeface="Jost"/>
                <a:ea typeface="Jost"/>
                <a:cs typeface="Jost"/>
              </a:rPr>
              <a:t>They found you. Maybe they followed. They're curious, but they're not ready to book yet.</a:t>
            </a:r>
            <a:endParaRPr lang="en-US" sz="3600" dirty="0"/>
          </a:p>
          <a:p>
            <a:pPr algn="l" indent="0" marL="0">
              <a:spcAft>
                <a:spcPts val="1300"/>
              </a:spcAft>
              <a:buNone/>
            </a:pPr>
            <a:r>
              <a:rPr lang="en-US" sz="3600" dirty="0">
                <a:solidFill>
                  <a:srgbClr val="FBF7F1"/>
                </a:solidFill>
                <a:latin typeface="Jost"/>
                <a:ea typeface="Jost"/>
                <a:cs typeface="Jost"/>
              </a:rPr>
              <a:t>This post gives them one quick win.</a:t>
            </a:r>
            <a:endParaRPr lang="en-US" sz="3600" dirty="0"/>
          </a:p>
          <a:p>
            <a:pPr algn="l" indent="0" marL="0">
              <a:spcAft>
                <a:spcPts val="1300"/>
              </a:spcAft>
              <a:buNone/>
            </a:pPr>
            <a:r>
              <a:rPr lang="en-US" sz="3600" dirty="0">
                <a:solidFill>
                  <a:srgbClr val="FBF7F1"/>
                </a:solidFill>
                <a:latin typeface="Jost"/>
                <a:ea typeface="Jost"/>
                <a:cs typeface="Jost"/>
              </a:rPr>
              <a:t>One tip they can use in the next 24 hours that solves a small problem.</a:t>
            </a:r>
            <a:endParaRPr lang="en-US" sz="36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Post #2: </a:t>
            </a:r>
            <a:pPr algn="l" indent="0" marL="0">
              <a:spcAft>
                <a:spcPts val="1300"/>
              </a:spcAft>
              <a:buNone/>
            </a:pPr>
            <a:r>
              <a:rPr lang="en-US" sz="3600" dirty="0">
                <a:solidFill>
                  <a:srgbClr val="2A201B"/>
                </a:solidFill>
                <a:latin typeface="Jost"/>
                <a:ea typeface="Jost"/>
                <a:cs typeface="Jost"/>
              </a:rPr>
              <a:t>Get Trusted</a:t>
            </a:r>
            <a:endParaRPr lang="en-US" sz="3600" dirty="0"/>
          </a:p>
          <a:p>
            <a:pPr algn="l" indent="0" marL="0">
              <a:spcAft>
                <a:spcPts val="1300"/>
              </a:spcAft>
              <a:buNone/>
            </a:pPr>
            <a:r>
              <a:rPr lang="en-US" sz="3600" dirty="0">
                <a:solidFill>
                  <a:srgbClr val="2A201B"/>
                </a:solidFill>
                <a:latin typeface="Jost"/>
                <a:ea typeface="Jost"/>
                <a:cs typeface="Jost"/>
              </a:rPr>
              <a:t>They found you. Maybe they followed. They're curious, but they're not ready to book yet.</a:t>
            </a:r>
            <a:endParaRPr lang="en-US" sz="3600" dirty="0"/>
          </a:p>
          <a:p>
            <a:pPr algn="l" indent="0" marL="0">
              <a:spcAft>
                <a:spcPts val="1300"/>
              </a:spcAft>
              <a:buNone/>
            </a:pPr>
            <a:r>
              <a:rPr lang="en-US" sz="3600" dirty="0">
                <a:solidFill>
                  <a:srgbClr val="FBF7F1"/>
                </a:solidFill>
                <a:latin typeface="Jost"/>
                <a:ea typeface="Jost"/>
                <a:cs typeface="Jost"/>
              </a:rPr>
              <a:t>This post gives them one quick win.</a:t>
            </a:r>
            <a:endParaRPr lang="en-US" sz="3600" dirty="0"/>
          </a:p>
          <a:p>
            <a:pPr algn="l" indent="0" marL="0">
              <a:spcAft>
                <a:spcPts val="1300"/>
              </a:spcAft>
              <a:buNone/>
            </a:pPr>
            <a:r>
              <a:rPr lang="en-US" sz="3600" dirty="0">
                <a:solidFill>
                  <a:srgbClr val="FBF7F1"/>
                </a:solidFill>
                <a:latin typeface="Jost"/>
                <a:ea typeface="Jost"/>
                <a:cs typeface="Jost"/>
              </a:rPr>
              <a:t>One tip they can use in the next 24 hours that solves a small problem.</a:t>
            </a:r>
            <a:endParaRPr lang="en-US" sz="36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Post #2: </a:t>
            </a:r>
            <a:pPr algn="l" indent="0" marL="0">
              <a:spcAft>
                <a:spcPts val="1300"/>
              </a:spcAft>
              <a:buNone/>
            </a:pPr>
            <a:r>
              <a:rPr lang="en-US" sz="3600" dirty="0">
                <a:solidFill>
                  <a:srgbClr val="2A201B"/>
                </a:solidFill>
                <a:latin typeface="Jost"/>
                <a:ea typeface="Jost"/>
                <a:cs typeface="Jost"/>
              </a:rPr>
              <a:t>Get Trusted</a:t>
            </a:r>
            <a:endParaRPr lang="en-US" sz="3600" dirty="0"/>
          </a:p>
          <a:p>
            <a:pPr algn="l" indent="0" marL="0">
              <a:spcAft>
                <a:spcPts val="1300"/>
              </a:spcAft>
              <a:buNone/>
            </a:pPr>
            <a:r>
              <a:rPr lang="en-US" sz="3600" dirty="0">
                <a:solidFill>
                  <a:srgbClr val="2A201B"/>
                </a:solidFill>
                <a:latin typeface="Jost"/>
                <a:ea typeface="Jost"/>
                <a:cs typeface="Jost"/>
              </a:rPr>
              <a:t>They found you. Maybe they followed. They're curious, but they're not ready to book yet.</a:t>
            </a:r>
            <a:endParaRPr lang="en-US" sz="3600" dirty="0"/>
          </a:p>
          <a:p>
            <a:pPr algn="l" indent="0" marL="0">
              <a:spcAft>
                <a:spcPts val="1300"/>
              </a:spcAft>
              <a:buNone/>
            </a:pPr>
            <a:r>
              <a:rPr lang="en-US" sz="3600" dirty="0">
                <a:solidFill>
                  <a:srgbClr val="2A201B"/>
                </a:solidFill>
                <a:latin typeface="Jost"/>
                <a:ea typeface="Jost"/>
                <a:cs typeface="Jost"/>
              </a:rPr>
              <a:t>This post gives them one quick win.</a:t>
            </a:r>
            <a:endParaRPr lang="en-US" sz="3600" dirty="0"/>
          </a:p>
          <a:p>
            <a:pPr algn="l" indent="0" marL="0">
              <a:spcAft>
                <a:spcPts val="1300"/>
              </a:spcAft>
              <a:buNone/>
            </a:pPr>
            <a:r>
              <a:rPr lang="en-US" sz="3600" dirty="0">
                <a:solidFill>
                  <a:srgbClr val="FBF7F1"/>
                </a:solidFill>
                <a:latin typeface="Jost"/>
                <a:ea typeface="Jost"/>
                <a:cs typeface="Jost"/>
              </a:rPr>
              <a:t>One tip they can use in the next 24 hours that solves a small problem.</a:t>
            </a:r>
            <a:endParaRPr lang="en-US" sz="36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Post #2: </a:t>
            </a:r>
            <a:pPr algn="l" indent="0" marL="0">
              <a:spcAft>
                <a:spcPts val="1300"/>
              </a:spcAft>
              <a:buNone/>
            </a:pPr>
            <a:r>
              <a:rPr lang="en-US" sz="3600" dirty="0">
                <a:solidFill>
                  <a:srgbClr val="2A201B"/>
                </a:solidFill>
                <a:latin typeface="Jost"/>
                <a:ea typeface="Jost"/>
                <a:cs typeface="Jost"/>
              </a:rPr>
              <a:t>Get Trusted</a:t>
            </a:r>
            <a:endParaRPr lang="en-US" sz="3600" dirty="0"/>
          </a:p>
          <a:p>
            <a:pPr algn="l" indent="0" marL="0">
              <a:spcAft>
                <a:spcPts val="1300"/>
              </a:spcAft>
              <a:buNone/>
            </a:pPr>
            <a:r>
              <a:rPr lang="en-US" sz="3600" dirty="0">
                <a:solidFill>
                  <a:srgbClr val="2A201B"/>
                </a:solidFill>
                <a:latin typeface="Jost"/>
                <a:ea typeface="Jost"/>
                <a:cs typeface="Jost"/>
              </a:rPr>
              <a:t>They found you. Maybe they followed. They're curious, but they're not ready to book yet.</a:t>
            </a:r>
            <a:endParaRPr lang="en-US" sz="3600" dirty="0"/>
          </a:p>
          <a:p>
            <a:pPr algn="l" indent="0" marL="0">
              <a:spcAft>
                <a:spcPts val="1300"/>
              </a:spcAft>
              <a:buNone/>
            </a:pPr>
            <a:r>
              <a:rPr lang="en-US" sz="3600" dirty="0">
                <a:solidFill>
                  <a:srgbClr val="2A201B"/>
                </a:solidFill>
                <a:latin typeface="Jost"/>
                <a:ea typeface="Jost"/>
                <a:cs typeface="Jost"/>
              </a:rPr>
              <a:t>This post gives them one quick win.</a:t>
            </a:r>
            <a:endParaRPr lang="en-US" sz="3600" dirty="0"/>
          </a:p>
          <a:p>
            <a:pPr algn="l" indent="0" marL="0">
              <a:spcAft>
                <a:spcPts val="1300"/>
              </a:spcAft>
              <a:buNone/>
            </a:pPr>
            <a:r>
              <a:rPr lang="en-US" sz="3600" dirty="0">
                <a:solidFill>
                  <a:srgbClr val="2A201B"/>
                </a:solidFill>
                <a:latin typeface="Jost"/>
                <a:ea typeface="Jost"/>
                <a:cs typeface="Jost"/>
              </a:rPr>
              <a:t>One tip they can use in the next 24 hours that solves a small problem.</a:t>
            </a:r>
            <a:endParaRPr lang="en-US" sz="36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How to make your silk press survive humidity</a:t>
            </a:r>
            <a:endParaRPr lang="en-US" sz="3600" dirty="0"/>
          </a:p>
          <a:p>
            <a:pPr algn="l" indent="0" marL="0">
              <a:spcAft>
                <a:spcPts val="1300"/>
              </a:spcAft>
              <a:buNone/>
            </a:pPr>
            <a:r>
              <a:rPr lang="en-US" sz="3600" dirty="0">
                <a:solidFill>
                  <a:srgbClr val="FBF7F1"/>
                </a:solidFill>
                <a:latin typeface="Jost"/>
                <a:ea typeface="Jost"/>
                <a:cs typeface="Jost"/>
              </a:rPr>
              <a:t>What to do after a facial so you don't break out</a:t>
            </a:r>
            <a:endParaRPr lang="en-US" sz="3600" dirty="0"/>
          </a:p>
          <a:p>
            <a:pPr algn="l" indent="0" marL="0">
              <a:spcAft>
                <a:spcPts val="1300"/>
              </a:spcAft>
              <a:buNone/>
            </a:pPr>
            <a:r>
              <a:rPr lang="en-US" sz="3600" dirty="0">
                <a:solidFill>
                  <a:srgbClr val="FBF7F1"/>
                </a:solidFill>
                <a:latin typeface="Jost"/>
                <a:ea typeface="Jost"/>
                <a:cs typeface="Jost"/>
              </a:rPr>
              <a:t>The one thing not to do in the first 24 hours after your lash appointment</a:t>
            </a:r>
            <a:endParaRPr lang="en-US" sz="3600" dirty="0"/>
          </a:p>
          <a:p>
            <a:pPr algn="l" indent="0" marL="0">
              <a:spcAft>
                <a:spcPts val="1300"/>
              </a:spcAft>
              <a:buNone/>
            </a:pPr>
            <a:r>
              <a:rPr lang="en-US" sz="3600" dirty="0">
                <a:solidFill>
                  <a:srgbClr val="FBF7F1"/>
                </a:solidFill>
                <a:latin typeface="Jost"/>
                <a:ea typeface="Jost"/>
                <a:cs typeface="Jost"/>
              </a:rPr>
              <a:t>How to keep your polish from chipping at the tips</a:t>
            </a:r>
            <a:endParaRPr lang="en-US" sz="36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How to make your silk press survive humidity</a:t>
            </a:r>
            <a:endParaRPr lang="en-US" sz="3600" dirty="0"/>
          </a:p>
          <a:p>
            <a:pPr algn="l" indent="0" marL="0">
              <a:spcAft>
                <a:spcPts val="1300"/>
              </a:spcAft>
              <a:buNone/>
            </a:pPr>
            <a:r>
              <a:rPr lang="en-US" sz="3600" dirty="0">
                <a:solidFill>
                  <a:srgbClr val="2A201B"/>
                </a:solidFill>
                <a:latin typeface="Jost"/>
                <a:ea typeface="Jost"/>
                <a:cs typeface="Jost"/>
              </a:rPr>
              <a:t>What to do after a facial so you don't break out</a:t>
            </a:r>
            <a:endParaRPr lang="en-US" sz="3600" dirty="0"/>
          </a:p>
          <a:p>
            <a:pPr algn="l" indent="0" marL="0">
              <a:spcAft>
                <a:spcPts val="1300"/>
              </a:spcAft>
              <a:buNone/>
            </a:pPr>
            <a:r>
              <a:rPr lang="en-US" sz="3600" dirty="0">
                <a:solidFill>
                  <a:srgbClr val="FBF7F1"/>
                </a:solidFill>
                <a:latin typeface="Jost"/>
                <a:ea typeface="Jost"/>
                <a:cs typeface="Jost"/>
              </a:rPr>
              <a:t>The one thing not to do in the first 24 hours after your lash appointment</a:t>
            </a:r>
            <a:endParaRPr lang="en-US" sz="3600" dirty="0"/>
          </a:p>
          <a:p>
            <a:pPr algn="l" indent="0" marL="0">
              <a:spcAft>
                <a:spcPts val="1300"/>
              </a:spcAft>
              <a:buNone/>
            </a:pPr>
            <a:r>
              <a:rPr lang="en-US" sz="3600" dirty="0">
                <a:solidFill>
                  <a:srgbClr val="FBF7F1"/>
                </a:solidFill>
                <a:latin typeface="Jost"/>
                <a:ea typeface="Jost"/>
                <a:cs typeface="Jost"/>
              </a:rPr>
              <a:t>How to keep your polish from chipping at the tips</a:t>
            </a:r>
            <a:endParaRPr lang="en-US" sz="36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How to make your silk press survive humidity</a:t>
            </a:r>
            <a:endParaRPr lang="en-US" sz="3600" dirty="0"/>
          </a:p>
          <a:p>
            <a:pPr algn="l" indent="0" marL="0">
              <a:spcAft>
                <a:spcPts val="1300"/>
              </a:spcAft>
              <a:buNone/>
            </a:pPr>
            <a:r>
              <a:rPr lang="en-US" sz="3600" dirty="0">
                <a:solidFill>
                  <a:srgbClr val="2A201B"/>
                </a:solidFill>
                <a:latin typeface="Jost"/>
                <a:ea typeface="Jost"/>
                <a:cs typeface="Jost"/>
              </a:rPr>
              <a:t>What to do after a facial so you don't break out</a:t>
            </a:r>
            <a:endParaRPr lang="en-US" sz="3600" dirty="0"/>
          </a:p>
          <a:p>
            <a:pPr algn="l" indent="0" marL="0">
              <a:spcAft>
                <a:spcPts val="1300"/>
              </a:spcAft>
              <a:buNone/>
            </a:pPr>
            <a:r>
              <a:rPr lang="en-US" sz="3600" dirty="0">
                <a:solidFill>
                  <a:srgbClr val="2A201B"/>
                </a:solidFill>
                <a:latin typeface="Jost"/>
                <a:ea typeface="Jost"/>
                <a:cs typeface="Jost"/>
              </a:rPr>
              <a:t>The one thing not to do in the first 24 hours after your lash appointment</a:t>
            </a:r>
            <a:endParaRPr lang="en-US" sz="3600" dirty="0"/>
          </a:p>
          <a:p>
            <a:pPr algn="l" indent="0" marL="0">
              <a:spcAft>
                <a:spcPts val="1300"/>
              </a:spcAft>
              <a:buNone/>
            </a:pPr>
            <a:r>
              <a:rPr lang="en-US" sz="3600" dirty="0">
                <a:solidFill>
                  <a:srgbClr val="FBF7F1"/>
                </a:solidFill>
                <a:latin typeface="Jost"/>
                <a:ea typeface="Jost"/>
                <a:cs typeface="Jost"/>
              </a:rPr>
              <a:t>How to keep your polish from chipping at the tips</a:t>
            </a:r>
            <a:endParaRPr lang="en-US" sz="36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How to make your silk press survive humidity</a:t>
            </a:r>
            <a:endParaRPr lang="en-US" sz="3600" dirty="0"/>
          </a:p>
          <a:p>
            <a:pPr algn="l" indent="0" marL="0">
              <a:spcAft>
                <a:spcPts val="1300"/>
              </a:spcAft>
              <a:buNone/>
            </a:pPr>
            <a:r>
              <a:rPr lang="en-US" sz="3600" dirty="0">
                <a:solidFill>
                  <a:srgbClr val="2A201B"/>
                </a:solidFill>
                <a:latin typeface="Jost"/>
                <a:ea typeface="Jost"/>
                <a:cs typeface="Jost"/>
              </a:rPr>
              <a:t>What to do after a facial so you don't break out</a:t>
            </a:r>
            <a:endParaRPr lang="en-US" sz="3600" dirty="0"/>
          </a:p>
          <a:p>
            <a:pPr algn="l" indent="0" marL="0">
              <a:spcAft>
                <a:spcPts val="1300"/>
              </a:spcAft>
              <a:buNone/>
            </a:pPr>
            <a:r>
              <a:rPr lang="en-US" sz="3600" dirty="0">
                <a:solidFill>
                  <a:srgbClr val="2A201B"/>
                </a:solidFill>
                <a:latin typeface="Jost"/>
                <a:ea typeface="Jost"/>
                <a:cs typeface="Jost"/>
              </a:rPr>
              <a:t>The one thing not to do in the first 24 hours after your lash appointment</a:t>
            </a:r>
            <a:endParaRPr lang="en-US" sz="3600" dirty="0"/>
          </a:p>
          <a:p>
            <a:pPr algn="l" indent="0" marL="0">
              <a:spcAft>
                <a:spcPts val="1300"/>
              </a:spcAft>
              <a:buNone/>
            </a:pPr>
            <a:r>
              <a:rPr lang="en-US" sz="3600" dirty="0">
                <a:solidFill>
                  <a:srgbClr val="2A201B"/>
                </a:solidFill>
                <a:latin typeface="Jost"/>
                <a:ea typeface="Jost"/>
                <a:cs typeface="Jost"/>
              </a:rPr>
              <a:t>How to keep your polish from chipping at the tips</a:t>
            </a:r>
            <a:endParaRPr lang="en-US" sz="36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When they try it and it actually helps, you become the go-to person.</a:t>
            </a:r>
            <a:endParaRPr lang="en-US" sz="6200" dirty="0"/>
          </a:p>
          <a:p>
            <a:pPr algn="l" indent="0" marL="0">
              <a:spcAft>
                <a:spcPts val="1900"/>
              </a:spcAft>
              <a:buNone/>
            </a:pPr>
            <a:r>
              <a:rPr lang="en-US" sz="5400" dirty="0">
                <a:solidFill>
                  <a:srgbClr val="2A201B"/>
                </a:solidFill>
                <a:latin typeface="Jost"/>
                <a:ea typeface="Jost"/>
                <a:cs typeface="Jost"/>
              </a:rPr>
              <a:t>And you've built trust before they ever sit in your chair.</a:t>
            </a:r>
            <a:endParaRPr lang="en-US" sz="5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Post #3: </a:t>
            </a:r>
            <a:pPr algn="l" indent="0" marL="0">
              <a:spcAft>
                <a:spcPts val="2100"/>
              </a:spcAft>
              <a:buNone/>
            </a:pPr>
            <a:r>
              <a:rPr lang="en-US" sz="6000" dirty="0">
                <a:solidFill>
                  <a:srgbClr val="2A201B"/>
                </a:solidFill>
                <a:latin typeface="Jost"/>
                <a:ea typeface="Jost"/>
                <a:cs typeface="Jost"/>
              </a:rPr>
              <a:t>Get Booked</a:t>
            </a:r>
            <a:endParaRPr lang="en-US" sz="6000" dirty="0"/>
          </a:p>
          <a:p>
            <a:pPr algn="l" indent="0" marL="0">
              <a:spcAft>
                <a:spcPts val="2100"/>
              </a:spcAft>
              <a:buNone/>
            </a:pPr>
            <a:r>
              <a:rPr lang="en-US" sz="6000" dirty="0">
                <a:solidFill>
                  <a:srgbClr val="2A201B"/>
                </a:solidFill>
                <a:latin typeface="Jost"/>
                <a:ea typeface="Jost"/>
                <a:cs typeface="Jost"/>
              </a:rPr>
              <a:t>Now give them a reason to book. This is your proof post.</a:t>
            </a:r>
            <a:endParaRPr lang="en-US" sz="60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99</a:t>
            </a:r>
            <a:endParaRPr lang="en-US" sz="1000" dirty="0"/>
          </a:p>
        </p:txBody>
      </p:sp>
      <p:sp>
        <p:nvSpPr>
          <p:cNvPr id="4" name="Text 1"/>
          <p:cNvSpPr txBox="1"/>
          <p:nvPr/>
        </p:nvSpPr>
        <p:spPr>
          <a:xfrm>
            <a:off x="731520" y="548640"/>
            <a:ext cx="10728655" cy="914400"/>
          </a:xfrm>
          <a:prstGeom prst="rect">
            <a:avLst/>
          </a:prstGeom>
          <a:noFill/>
          <a:ln/>
        </p:spPr>
        <p:txBody>
          <a:bodyPr wrap="square" lIns="0" tIns="0" rIns="0" bIns="0" rtlCol="0" anchor="ctr"/>
          <a:lstStyle/>
          <a:p>
            <a:pPr indent="0" marL="0">
              <a:buNone/>
            </a:pPr>
            <a:r>
              <a:rPr lang="en-US" sz="4600" b="1" dirty="0">
                <a:solidFill>
                  <a:srgbClr val="2A201B"/>
                </a:solidFill>
                <a:latin typeface="Cormorant Garamond"/>
                <a:ea typeface="Cormorant Garamond"/>
                <a:cs typeface="Cormorant Garamond"/>
              </a:rPr>
              <a:t>But proof has levels. Think of it as a ladder:</a:t>
            </a:r>
            <a:endParaRPr lang="en-US" sz="4600" dirty="0"/>
          </a:p>
        </p:txBody>
      </p:sp>
      <p:sp>
        <p:nvSpPr>
          <p:cNvPr id="5" name="Shape 2"/>
          <p:cNvSpPr/>
          <p:nvPr/>
        </p:nvSpPr>
        <p:spPr>
          <a:xfrm>
            <a:off x="2743200" y="5394960"/>
            <a:ext cx="6858000" cy="777240"/>
          </a:xfrm>
          <a:prstGeom prst="roundRect">
            <a:avLst>
              <a:gd name="adj" fmla="val 9412"/>
            </a:avLst>
          </a:prstGeom>
          <a:solidFill>
            <a:srgbClr val="FBE6EB"/>
          </a:solidFill>
          <a:ln w="12700">
            <a:solidFill>
              <a:srgbClr val="D9C4B4"/>
            </a:solidFill>
            <a:prstDash val="solid"/>
          </a:ln>
        </p:spPr>
      </p:sp>
      <p:sp>
        <p:nvSpPr>
          <p:cNvPr id="6" name="Text 3"/>
          <p:cNvSpPr txBox="1"/>
          <p:nvPr/>
        </p:nvSpPr>
        <p:spPr>
          <a:xfrm>
            <a:off x="2971800" y="5394960"/>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7" name="Shape 4"/>
          <p:cNvSpPr/>
          <p:nvPr/>
        </p:nvSpPr>
        <p:spPr>
          <a:xfrm>
            <a:off x="2743200" y="4471416"/>
            <a:ext cx="6858000" cy="777240"/>
          </a:xfrm>
          <a:prstGeom prst="roundRect">
            <a:avLst>
              <a:gd name="adj" fmla="val 9412"/>
            </a:avLst>
          </a:prstGeom>
          <a:solidFill>
            <a:srgbClr val="FBF7F1"/>
          </a:solidFill>
          <a:ln w="12700">
            <a:solidFill>
              <a:srgbClr val="FBF7F1"/>
            </a:solidFill>
            <a:prstDash val="solid"/>
          </a:ln>
        </p:spPr>
      </p:sp>
      <p:sp>
        <p:nvSpPr>
          <p:cNvPr id="8" name="Text 5"/>
          <p:cNvSpPr txBox="1"/>
          <p:nvPr/>
        </p:nvSpPr>
        <p:spPr>
          <a:xfrm>
            <a:off x="2971800" y="4471416"/>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2   Healed or lasting results</a:t>
            </a:r>
            <a:endParaRPr lang="en-US" sz="2100" dirty="0"/>
          </a:p>
        </p:txBody>
      </p:sp>
      <p:sp>
        <p:nvSpPr>
          <p:cNvPr id="9" name="Shape 6"/>
          <p:cNvSpPr/>
          <p:nvPr/>
        </p:nvSpPr>
        <p:spPr>
          <a:xfrm>
            <a:off x="2743200" y="3547872"/>
            <a:ext cx="6858000" cy="777240"/>
          </a:xfrm>
          <a:prstGeom prst="roundRect">
            <a:avLst>
              <a:gd name="adj" fmla="val 9412"/>
            </a:avLst>
          </a:prstGeom>
          <a:solidFill>
            <a:srgbClr val="FBF7F1"/>
          </a:solidFill>
          <a:ln w="12700">
            <a:solidFill>
              <a:srgbClr val="FBF7F1"/>
            </a:solidFill>
            <a:prstDash val="solid"/>
          </a:ln>
        </p:spPr>
      </p:sp>
      <p:sp>
        <p:nvSpPr>
          <p:cNvPr id="10" name="Text 7"/>
          <p:cNvSpPr txBox="1"/>
          <p:nvPr/>
        </p:nvSpPr>
        <p:spPr>
          <a:xfrm>
            <a:off x="2971800" y="3547872"/>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3   Their reaction, in their own words</a:t>
            </a:r>
            <a:endParaRPr lang="en-US" sz="2100" dirty="0"/>
          </a:p>
        </p:txBody>
      </p:sp>
      <p:sp>
        <p:nvSpPr>
          <p:cNvPr id="11" name="Shape 8"/>
          <p:cNvSpPr/>
          <p:nvPr/>
        </p:nvSpPr>
        <p:spPr>
          <a:xfrm>
            <a:off x="2743200" y="2624328"/>
            <a:ext cx="6858000" cy="777240"/>
          </a:xfrm>
          <a:prstGeom prst="roundRect">
            <a:avLst>
              <a:gd name="adj" fmla="val 9412"/>
            </a:avLst>
          </a:prstGeom>
          <a:solidFill>
            <a:srgbClr val="FBF7F1"/>
          </a:solidFill>
          <a:ln w="12700">
            <a:solidFill>
              <a:srgbClr val="FBF7F1"/>
            </a:solidFill>
            <a:prstDash val="solid"/>
          </a:ln>
        </p:spPr>
      </p:sp>
      <p:sp>
        <p:nvSpPr>
          <p:cNvPr id="12" name="Text 9"/>
          <p:cNvSpPr txBox="1"/>
          <p:nvPr/>
        </p:nvSpPr>
        <p:spPr>
          <a:xfrm>
            <a:off x="2971800" y="2624328"/>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4   The experience of booking with you</a:t>
            </a:r>
            <a:endParaRPr lang="en-US" sz="21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99</a:t>
            </a:r>
            <a:endParaRPr lang="en-US" sz="1000" dirty="0"/>
          </a:p>
        </p:txBody>
      </p:sp>
      <p:sp>
        <p:nvSpPr>
          <p:cNvPr id="4" name="Text 1"/>
          <p:cNvSpPr txBox="1"/>
          <p:nvPr/>
        </p:nvSpPr>
        <p:spPr>
          <a:xfrm>
            <a:off x="731520" y="548640"/>
            <a:ext cx="10728655" cy="914400"/>
          </a:xfrm>
          <a:prstGeom prst="rect">
            <a:avLst/>
          </a:prstGeom>
          <a:noFill/>
          <a:ln/>
        </p:spPr>
        <p:txBody>
          <a:bodyPr wrap="square" lIns="0" tIns="0" rIns="0" bIns="0" rtlCol="0" anchor="ctr"/>
          <a:lstStyle/>
          <a:p>
            <a:pPr indent="0" marL="0">
              <a:buNone/>
            </a:pPr>
            <a:r>
              <a:rPr lang="en-US" sz="4600" b="1" dirty="0">
                <a:solidFill>
                  <a:srgbClr val="2A201B"/>
                </a:solidFill>
                <a:latin typeface="Cormorant Garamond"/>
                <a:ea typeface="Cormorant Garamond"/>
                <a:cs typeface="Cormorant Garamond"/>
              </a:rPr>
              <a:t>But proof has levels. Think of it as a ladder:</a:t>
            </a:r>
            <a:endParaRPr lang="en-US" sz="4600" dirty="0"/>
          </a:p>
        </p:txBody>
      </p:sp>
      <p:sp>
        <p:nvSpPr>
          <p:cNvPr id="5" name="Shape 2"/>
          <p:cNvSpPr/>
          <p:nvPr/>
        </p:nvSpPr>
        <p:spPr>
          <a:xfrm>
            <a:off x="2743200" y="5394960"/>
            <a:ext cx="6858000" cy="777240"/>
          </a:xfrm>
          <a:prstGeom prst="roundRect">
            <a:avLst>
              <a:gd name="adj" fmla="val 9412"/>
            </a:avLst>
          </a:prstGeom>
          <a:solidFill>
            <a:srgbClr val="FBE6EB"/>
          </a:solidFill>
          <a:ln w="12700">
            <a:solidFill>
              <a:srgbClr val="D9C4B4"/>
            </a:solidFill>
            <a:prstDash val="solid"/>
          </a:ln>
        </p:spPr>
      </p:sp>
      <p:sp>
        <p:nvSpPr>
          <p:cNvPr id="6" name="Text 3"/>
          <p:cNvSpPr txBox="1"/>
          <p:nvPr/>
        </p:nvSpPr>
        <p:spPr>
          <a:xfrm>
            <a:off x="2971800" y="5394960"/>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7" name="Shape 4"/>
          <p:cNvSpPr/>
          <p:nvPr/>
        </p:nvSpPr>
        <p:spPr>
          <a:xfrm>
            <a:off x="2743200" y="4471416"/>
            <a:ext cx="6858000" cy="777240"/>
          </a:xfrm>
          <a:prstGeom prst="roundRect">
            <a:avLst>
              <a:gd name="adj" fmla="val 9412"/>
            </a:avLst>
          </a:prstGeom>
          <a:solidFill>
            <a:srgbClr val="FBE6EB"/>
          </a:solidFill>
          <a:ln w="12700">
            <a:solidFill>
              <a:srgbClr val="D9C4B4"/>
            </a:solidFill>
            <a:prstDash val="solid"/>
          </a:ln>
        </p:spPr>
      </p:sp>
      <p:sp>
        <p:nvSpPr>
          <p:cNvPr id="8" name="Text 5"/>
          <p:cNvSpPr txBox="1"/>
          <p:nvPr/>
        </p:nvSpPr>
        <p:spPr>
          <a:xfrm>
            <a:off x="2971800" y="4471416"/>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9" name="Shape 6"/>
          <p:cNvSpPr/>
          <p:nvPr/>
        </p:nvSpPr>
        <p:spPr>
          <a:xfrm>
            <a:off x="2743200" y="3547872"/>
            <a:ext cx="6858000" cy="777240"/>
          </a:xfrm>
          <a:prstGeom prst="roundRect">
            <a:avLst>
              <a:gd name="adj" fmla="val 9412"/>
            </a:avLst>
          </a:prstGeom>
          <a:solidFill>
            <a:srgbClr val="FBF7F1"/>
          </a:solidFill>
          <a:ln w="12700">
            <a:solidFill>
              <a:srgbClr val="FBF7F1"/>
            </a:solidFill>
            <a:prstDash val="solid"/>
          </a:ln>
        </p:spPr>
      </p:sp>
      <p:sp>
        <p:nvSpPr>
          <p:cNvPr id="10" name="Text 7"/>
          <p:cNvSpPr txBox="1"/>
          <p:nvPr/>
        </p:nvSpPr>
        <p:spPr>
          <a:xfrm>
            <a:off x="2971800" y="3547872"/>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3   Their reaction, in their own words</a:t>
            </a:r>
            <a:endParaRPr lang="en-US" sz="2100" dirty="0"/>
          </a:p>
        </p:txBody>
      </p:sp>
      <p:sp>
        <p:nvSpPr>
          <p:cNvPr id="11" name="Shape 8"/>
          <p:cNvSpPr/>
          <p:nvPr/>
        </p:nvSpPr>
        <p:spPr>
          <a:xfrm>
            <a:off x="2743200" y="2624328"/>
            <a:ext cx="6858000" cy="777240"/>
          </a:xfrm>
          <a:prstGeom prst="roundRect">
            <a:avLst>
              <a:gd name="adj" fmla="val 9412"/>
            </a:avLst>
          </a:prstGeom>
          <a:solidFill>
            <a:srgbClr val="FBF7F1"/>
          </a:solidFill>
          <a:ln w="12700">
            <a:solidFill>
              <a:srgbClr val="FBF7F1"/>
            </a:solidFill>
            <a:prstDash val="solid"/>
          </a:ln>
        </p:spPr>
      </p:sp>
      <p:sp>
        <p:nvSpPr>
          <p:cNvPr id="12" name="Text 9"/>
          <p:cNvSpPr txBox="1"/>
          <p:nvPr/>
        </p:nvSpPr>
        <p:spPr>
          <a:xfrm>
            <a:off x="2971800" y="2624328"/>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4   The experience of booking with you</a:t>
            </a:r>
            <a:endParaRPr lang="en-US" sz="21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99</a:t>
            </a:r>
            <a:endParaRPr lang="en-US" sz="1000" dirty="0"/>
          </a:p>
        </p:txBody>
      </p:sp>
      <p:sp>
        <p:nvSpPr>
          <p:cNvPr id="4" name="Text 1"/>
          <p:cNvSpPr txBox="1"/>
          <p:nvPr/>
        </p:nvSpPr>
        <p:spPr>
          <a:xfrm>
            <a:off x="731520" y="548640"/>
            <a:ext cx="10728655" cy="914400"/>
          </a:xfrm>
          <a:prstGeom prst="rect">
            <a:avLst/>
          </a:prstGeom>
          <a:noFill/>
          <a:ln/>
        </p:spPr>
        <p:txBody>
          <a:bodyPr wrap="square" lIns="0" tIns="0" rIns="0" bIns="0" rtlCol="0" anchor="ctr"/>
          <a:lstStyle/>
          <a:p>
            <a:pPr indent="0" marL="0">
              <a:buNone/>
            </a:pPr>
            <a:r>
              <a:rPr lang="en-US" sz="4600" b="1" dirty="0">
                <a:solidFill>
                  <a:srgbClr val="2A201B"/>
                </a:solidFill>
                <a:latin typeface="Cormorant Garamond"/>
                <a:ea typeface="Cormorant Garamond"/>
                <a:cs typeface="Cormorant Garamond"/>
              </a:rPr>
              <a:t>But proof has levels. Think of it as a ladder:</a:t>
            </a:r>
            <a:endParaRPr lang="en-US" sz="4600" dirty="0"/>
          </a:p>
        </p:txBody>
      </p:sp>
      <p:sp>
        <p:nvSpPr>
          <p:cNvPr id="5" name="Shape 2"/>
          <p:cNvSpPr/>
          <p:nvPr/>
        </p:nvSpPr>
        <p:spPr>
          <a:xfrm>
            <a:off x="2743200" y="5394960"/>
            <a:ext cx="6858000" cy="777240"/>
          </a:xfrm>
          <a:prstGeom prst="roundRect">
            <a:avLst>
              <a:gd name="adj" fmla="val 9412"/>
            </a:avLst>
          </a:prstGeom>
          <a:solidFill>
            <a:srgbClr val="FBE6EB"/>
          </a:solidFill>
          <a:ln w="12700">
            <a:solidFill>
              <a:srgbClr val="D9C4B4"/>
            </a:solidFill>
            <a:prstDash val="solid"/>
          </a:ln>
        </p:spPr>
      </p:sp>
      <p:sp>
        <p:nvSpPr>
          <p:cNvPr id="6" name="Text 3"/>
          <p:cNvSpPr txBox="1"/>
          <p:nvPr/>
        </p:nvSpPr>
        <p:spPr>
          <a:xfrm>
            <a:off x="2971800" y="5394960"/>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7" name="Shape 4"/>
          <p:cNvSpPr/>
          <p:nvPr/>
        </p:nvSpPr>
        <p:spPr>
          <a:xfrm>
            <a:off x="2743200" y="4471416"/>
            <a:ext cx="6858000" cy="777240"/>
          </a:xfrm>
          <a:prstGeom prst="roundRect">
            <a:avLst>
              <a:gd name="adj" fmla="val 9412"/>
            </a:avLst>
          </a:prstGeom>
          <a:solidFill>
            <a:srgbClr val="FBE6EB"/>
          </a:solidFill>
          <a:ln w="12700">
            <a:solidFill>
              <a:srgbClr val="D9C4B4"/>
            </a:solidFill>
            <a:prstDash val="solid"/>
          </a:ln>
        </p:spPr>
      </p:sp>
      <p:sp>
        <p:nvSpPr>
          <p:cNvPr id="8" name="Text 5"/>
          <p:cNvSpPr txBox="1"/>
          <p:nvPr/>
        </p:nvSpPr>
        <p:spPr>
          <a:xfrm>
            <a:off x="2971800" y="4471416"/>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9" name="Shape 6"/>
          <p:cNvSpPr/>
          <p:nvPr/>
        </p:nvSpPr>
        <p:spPr>
          <a:xfrm>
            <a:off x="2743200" y="3547872"/>
            <a:ext cx="6858000" cy="777240"/>
          </a:xfrm>
          <a:prstGeom prst="roundRect">
            <a:avLst>
              <a:gd name="adj" fmla="val 9412"/>
            </a:avLst>
          </a:prstGeom>
          <a:solidFill>
            <a:srgbClr val="FBE6EB"/>
          </a:solidFill>
          <a:ln w="12700">
            <a:solidFill>
              <a:srgbClr val="D9C4B4"/>
            </a:solidFill>
            <a:prstDash val="solid"/>
          </a:ln>
        </p:spPr>
      </p:sp>
      <p:sp>
        <p:nvSpPr>
          <p:cNvPr id="10" name="Text 7"/>
          <p:cNvSpPr txBox="1"/>
          <p:nvPr/>
        </p:nvSpPr>
        <p:spPr>
          <a:xfrm>
            <a:off x="2971800" y="3547872"/>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1" name="Shape 8"/>
          <p:cNvSpPr/>
          <p:nvPr/>
        </p:nvSpPr>
        <p:spPr>
          <a:xfrm>
            <a:off x="2743200" y="2624328"/>
            <a:ext cx="6858000" cy="777240"/>
          </a:xfrm>
          <a:prstGeom prst="roundRect">
            <a:avLst>
              <a:gd name="adj" fmla="val 9412"/>
            </a:avLst>
          </a:prstGeom>
          <a:solidFill>
            <a:srgbClr val="FBF7F1"/>
          </a:solidFill>
          <a:ln w="12700">
            <a:solidFill>
              <a:srgbClr val="FBF7F1"/>
            </a:solidFill>
            <a:prstDash val="solid"/>
          </a:ln>
        </p:spPr>
      </p:sp>
      <p:sp>
        <p:nvSpPr>
          <p:cNvPr id="12" name="Text 9"/>
          <p:cNvSpPr txBox="1"/>
          <p:nvPr/>
        </p:nvSpPr>
        <p:spPr>
          <a:xfrm>
            <a:off x="2971800" y="2624328"/>
            <a:ext cx="6492240" cy="777240"/>
          </a:xfrm>
          <a:prstGeom prst="rect">
            <a:avLst/>
          </a:prstGeom>
          <a:noFill/>
          <a:ln/>
        </p:spPr>
        <p:txBody>
          <a:bodyPr wrap="square" lIns="0" tIns="0" rIns="0" bIns="0" rtlCol="0" anchor="ctr"/>
          <a:lstStyle/>
          <a:p>
            <a:pPr indent="0" marL="0">
              <a:buNone/>
            </a:pPr>
            <a:r>
              <a:rPr lang="en-US" sz="2100" dirty="0">
                <a:solidFill>
                  <a:srgbClr val="FBF7F1"/>
                </a:solidFill>
                <a:latin typeface="Jost"/>
                <a:ea typeface="Jost"/>
                <a:cs typeface="Jost"/>
              </a:rPr>
              <a:t>4   The experience of booking with you</a:t>
            </a:r>
            <a:endParaRPr lang="en-US" sz="21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99</a:t>
            </a:r>
            <a:endParaRPr lang="en-US" sz="1000" dirty="0"/>
          </a:p>
        </p:txBody>
      </p:sp>
      <p:sp>
        <p:nvSpPr>
          <p:cNvPr id="4" name="Text 1"/>
          <p:cNvSpPr txBox="1"/>
          <p:nvPr/>
        </p:nvSpPr>
        <p:spPr>
          <a:xfrm>
            <a:off x="731520" y="548640"/>
            <a:ext cx="10728655" cy="914400"/>
          </a:xfrm>
          <a:prstGeom prst="rect">
            <a:avLst/>
          </a:prstGeom>
          <a:noFill/>
          <a:ln/>
        </p:spPr>
        <p:txBody>
          <a:bodyPr wrap="square" lIns="0" tIns="0" rIns="0" bIns="0" rtlCol="0" anchor="ctr"/>
          <a:lstStyle/>
          <a:p>
            <a:pPr indent="0" marL="0">
              <a:buNone/>
            </a:pPr>
            <a:r>
              <a:rPr lang="en-US" sz="4600" b="1" dirty="0">
                <a:solidFill>
                  <a:srgbClr val="2A201B"/>
                </a:solidFill>
                <a:latin typeface="Cormorant Garamond"/>
                <a:ea typeface="Cormorant Garamond"/>
                <a:cs typeface="Cormorant Garamond"/>
              </a:rPr>
              <a:t>But proof has levels. Think of it as a ladder:</a:t>
            </a:r>
            <a:endParaRPr lang="en-US" sz="4600" dirty="0"/>
          </a:p>
        </p:txBody>
      </p:sp>
      <p:sp>
        <p:nvSpPr>
          <p:cNvPr id="5" name="Shape 2"/>
          <p:cNvSpPr/>
          <p:nvPr/>
        </p:nvSpPr>
        <p:spPr>
          <a:xfrm>
            <a:off x="2743200" y="5394960"/>
            <a:ext cx="6858000" cy="777240"/>
          </a:xfrm>
          <a:prstGeom prst="roundRect">
            <a:avLst>
              <a:gd name="adj" fmla="val 9412"/>
            </a:avLst>
          </a:prstGeom>
          <a:solidFill>
            <a:srgbClr val="FBE6EB"/>
          </a:solidFill>
          <a:ln w="12700">
            <a:solidFill>
              <a:srgbClr val="D9C4B4"/>
            </a:solidFill>
            <a:prstDash val="solid"/>
          </a:ln>
        </p:spPr>
      </p:sp>
      <p:sp>
        <p:nvSpPr>
          <p:cNvPr id="6" name="Text 3"/>
          <p:cNvSpPr txBox="1"/>
          <p:nvPr/>
        </p:nvSpPr>
        <p:spPr>
          <a:xfrm>
            <a:off x="2971800" y="5394960"/>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7" name="Shape 4"/>
          <p:cNvSpPr/>
          <p:nvPr/>
        </p:nvSpPr>
        <p:spPr>
          <a:xfrm>
            <a:off x="2743200" y="4471416"/>
            <a:ext cx="6858000" cy="777240"/>
          </a:xfrm>
          <a:prstGeom prst="roundRect">
            <a:avLst>
              <a:gd name="adj" fmla="val 9412"/>
            </a:avLst>
          </a:prstGeom>
          <a:solidFill>
            <a:srgbClr val="FBE6EB"/>
          </a:solidFill>
          <a:ln w="12700">
            <a:solidFill>
              <a:srgbClr val="D9C4B4"/>
            </a:solidFill>
            <a:prstDash val="solid"/>
          </a:ln>
        </p:spPr>
      </p:sp>
      <p:sp>
        <p:nvSpPr>
          <p:cNvPr id="8" name="Text 5"/>
          <p:cNvSpPr txBox="1"/>
          <p:nvPr/>
        </p:nvSpPr>
        <p:spPr>
          <a:xfrm>
            <a:off x="2971800" y="4471416"/>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9" name="Shape 6"/>
          <p:cNvSpPr/>
          <p:nvPr/>
        </p:nvSpPr>
        <p:spPr>
          <a:xfrm>
            <a:off x="2743200" y="3547872"/>
            <a:ext cx="6858000" cy="777240"/>
          </a:xfrm>
          <a:prstGeom prst="roundRect">
            <a:avLst>
              <a:gd name="adj" fmla="val 9412"/>
            </a:avLst>
          </a:prstGeom>
          <a:solidFill>
            <a:srgbClr val="FBE6EB"/>
          </a:solidFill>
          <a:ln w="12700">
            <a:solidFill>
              <a:srgbClr val="D9C4B4"/>
            </a:solidFill>
            <a:prstDash val="solid"/>
          </a:ln>
        </p:spPr>
      </p:sp>
      <p:sp>
        <p:nvSpPr>
          <p:cNvPr id="10" name="Text 7"/>
          <p:cNvSpPr txBox="1"/>
          <p:nvPr/>
        </p:nvSpPr>
        <p:spPr>
          <a:xfrm>
            <a:off x="2971800" y="3547872"/>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1" name="Shape 8"/>
          <p:cNvSpPr/>
          <p:nvPr/>
        </p:nvSpPr>
        <p:spPr>
          <a:xfrm>
            <a:off x="2743200" y="2624328"/>
            <a:ext cx="6858000" cy="777240"/>
          </a:xfrm>
          <a:prstGeom prst="roundRect">
            <a:avLst>
              <a:gd name="adj" fmla="val 9412"/>
            </a:avLst>
          </a:prstGeom>
          <a:solidFill>
            <a:srgbClr val="FBE6EB"/>
          </a:solidFill>
          <a:ln w="12700">
            <a:solidFill>
              <a:srgbClr val="D9C4B4"/>
            </a:solidFill>
            <a:prstDash val="solid"/>
          </a:ln>
        </p:spPr>
      </p:sp>
      <p:sp>
        <p:nvSpPr>
          <p:cNvPr id="12" name="Text 9"/>
          <p:cNvSpPr txBox="1"/>
          <p:nvPr/>
        </p:nvSpPr>
        <p:spPr>
          <a:xfrm>
            <a:off x="2971800" y="2624328"/>
            <a:ext cx="649224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100</a:t>
            </a:r>
            <a:endParaRPr lang="en-US" sz="1000" dirty="0"/>
          </a:p>
        </p:txBody>
      </p:sp>
      <p:sp>
        <p:nvSpPr>
          <p:cNvPr id="4" name="Shape 1"/>
          <p:cNvSpPr/>
          <p:nvPr/>
        </p:nvSpPr>
        <p:spPr>
          <a:xfrm>
            <a:off x="457200" y="5486400"/>
            <a:ext cx="5394960" cy="777240"/>
          </a:xfrm>
          <a:prstGeom prst="roundRect">
            <a:avLst>
              <a:gd name="adj" fmla="val 9412"/>
            </a:avLst>
          </a:prstGeom>
          <a:solidFill>
            <a:srgbClr val="AD5A6E"/>
          </a:solidFill>
          <a:ln w="12700">
            <a:solidFill>
              <a:srgbClr val="AD5A6E"/>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b="1" dirty="0">
                <a:solidFill>
                  <a:srgbClr val="FBF7F1"/>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FBE6EB"/>
          </a:solidFill>
          <a:ln w="12700">
            <a:solidFill>
              <a:srgbClr val="D9C4B4"/>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FBE6EB"/>
          </a:solidFill>
          <a:ln w="12700">
            <a:solidFill>
              <a:srgbClr val="D9C4B4"/>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FBE6EB"/>
          </a:solidFill>
          <a:ln w="12700">
            <a:solidFill>
              <a:srgbClr val="D9C4B4"/>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
        <p:nvSpPr>
          <p:cNvPr id="12" name="Text 9"/>
          <p:cNvSpPr txBox="1"/>
          <p:nvPr/>
        </p:nvSpPr>
        <p:spPr>
          <a:xfrm>
            <a:off x="6217920" y="548640"/>
            <a:ext cx="5425135" cy="1920240"/>
          </a:xfrm>
          <a:prstGeom prst="rect">
            <a:avLst/>
          </a:prstGeom>
          <a:noFill/>
          <a:ln/>
        </p:spPr>
        <p:txBody>
          <a:bodyPr wrap="square" lIns="0" tIns="0" rIns="0" bIns="0" rtlCol="0" anchor="t"/>
          <a:lstStyle/>
          <a:p>
            <a:pPr algn="l" indent="0" marL="0">
              <a:spcAft>
                <a:spcPts val="1000"/>
              </a:spcAft>
              <a:buNone/>
            </a:pPr>
            <a:r>
              <a:rPr lang="en-US" sz="2800" b="1" dirty="0">
                <a:solidFill>
                  <a:srgbClr val="2A201B"/>
                </a:solidFill>
                <a:latin typeface="Jost"/>
                <a:ea typeface="Jost"/>
                <a:cs typeface="Jost"/>
              </a:rPr>
              <a:t>1. The fresh before-and-after</a:t>
            </a:r>
            <a:endParaRPr lang="en-US" sz="2800" dirty="0"/>
          </a:p>
          <a:p>
            <a:pPr algn="l" indent="0" marL="0">
              <a:spcAft>
                <a:spcPts val="1000"/>
              </a:spcAft>
              <a:buNone/>
            </a:pPr>
            <a:r>
              <a:rPr lang="en-US" sz="2800" dirty="0">
                <a:solidFill>
                  <a:srgbClr val="2A201B"/>
                </a:solidFill>
                <a:latin typeface="Jost"/>
                <a:ea typeface="Jost"/>
                <a:cs typeface="Jost"/>
              </a:rPr>
              <a:t>This is where most of us stop.</a:t>
            </a:r>
            <a:endParaRPr lang="en-US" sz="2800" dirty="0"/>
          </a:p>
        </p:txBody>
      </p:sp>
      <p:pic>
        <p:nvPicPr>
          <p:cNvPr id="13" name="Image 0" descr="/home/claude/webinar/deck-img/fresh-lash-result.jpg">    </p:cNvPr>
          <p:cNvPicPr>
            <a:picLocks noChangeAspect="1"/>
          </p:cNvPicPr>
          <p:nvPr/>
        </p:nvPicPr>
        <p:blipFill>
          <a:blip r:embed="rId1"/>
          <a:stretch>
            <a:fillRect/>
          </a:stretch>
        </p:blipFill>
        <p:spPr>
          <a:xfrm>
            <a:off x="7637398" y="2651760"/>
            <a:ext cx="2586180" cy="3703320"/>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101</a:t>
            </a:r>
            <a:endParaRPr lang="en-US" sz="1000" dirty="0"/>
          </a:p>
        </p:txBody>
      </p:sp>
      <p:sp>
        <p:nvSpPr>
          <p:cNvPr id="4" name="Shape 1"/>
          <p:cNvSpPr/>
          <p:nvPr/>
        </p:nvSpPr>
        <p:spPr>
          <a:xfrm>
            <a:off x="457200" y="5486400"/>
            <a:ext cx="5394960" cy="777240"/>
          </a:xfrm>
          <a:prstGeom prst="roundRect">
            <a:avLst>
              <a:gd name="adj" fmla="val 9412"/>
            </a:avLst>
          </a:prstGeom>
          <a:solidFill>
            <a:srgbClr val="FBE6EB"/>
          </a:solidFill>
          <a:ln w="12700">
            <a:solidFill>
              <a:srgbClr val="D9C4B4"/>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AD5A6E"/>
          </a:solidFill>
          <a:ln w="12700">
            <a:solidFill>
              <a:srgbClr val="AD5A6E"/>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b="1" dirty="0">
                <a:solidFill>
                  <a:srgbClr val="FBF7F1"/>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FBE6EB"/>
          </a:solidFill>
          <a:ln w="12700">
            <a:solidFill>
              <a:srgbClr val="D9C4B4"/>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FBE6EB"/>
          </a:solidFill>
          <a:ln w="12700">
            <a:solidFill>
              <a:srgbClr val="D9C4B4"/>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
        <p:nvSpPr>
          <p:cNvPr id="12" name="Text 9"/>
          <p:cNvSpPr txBox="1"/>
          <p:nvPr/>
        </p:nvSpPr>
        <p:spPr>
          <a:xfrm>
            <a:off x="6217920" y="548640"/>
            <a:ext cx="5425135" cy="1920240"/>
          </a:xfrm>
          <a:prstGeom prst="rect">
            <a:avLst/>
          </a:prstGeom>
          <a:noFill/>
          <a:ln/>
        </p:spPr>
        <p:txBody>
          <a:bodyPr wrap="square" lIns="0" tIns="0" rIns="0" bIns="0" rtlCol="0" anchor="t"/>
          <a:lstStyle/>
          <a:p>
            <a:pPr algn="l" indent="0" marL="0">
              <a:spcAft>
                <a:spcPts val="800"/>
              </a:spcAft>
              <a:buNone/>
            </a:pPr>
            <a:r>
              <a:rPr lang="en-US" sz="2200" b="1" dirty="0">
                <a:solidFill>
                  <a:srgbClr val="2A201B"/>
                </a:solidFill>
                <a:latin typeface="Jost"/>
                <a:ea typeface="Jost"/>
                <a:cs typeface="Jost"/>
              </a:rPr>
              <a:t>2. Healed or lasting results</a:t>
            </a:r>
            <a:endParaRPr lang="en-US" sz="2200" dirty="0"/>
          </a:p>
          <a:p>
            <a:pPr algn="l" indent="0" marL="0">
              <a:spcAft>
                <a:spcPts val="800"/>
              </a:spcAft>
              <a:buNone/>
            </a:pPr>
            <a:r>
              <a:rPr lang="en-US" sz="2200" dirty="0">
                <a:solidFill>
                  <a:srgbClr val="2A201B"/>
                </a:solidFill>
                <a:latin typeface="Jost"/>
                <a:ea typeface="Jost"/>
                <a:cs typeface="Jost"/>
              </a:rPr>
              <a:t>How the hairstyle looks weeks later. Lash retention at the fill appointment. Skin progress over a few sessions. Healed brows.</a:t>
            </a:r>
            <a:endParaRPr lang="en-US" sz="2200" dirty="0"/>
          </a:p>
        </p:txBody>
      </p:sp>
      <p:pic>
        <p:nvPicPr>
          <p:cNvPr id="13" name="Image 0" descr="/home/claude/webinar/deck-img/client-text-lasted-a-month.jpg">    </p:cNvPr>
          <p:cNvPicPr>
            <a:picLocks noChangeAspect="1"/>
          </p:cNvPicPr>
          <p:nvPr/>
        </p:nvPicPr>
        <p:blipFill>
          <a:blip r:embed="rId1"/>
          <a:stretch>
            <a:fillRect/>
          </a:stretch>
        </p:blipFill>
        <p:spPr>
          <a:xfrm>
            <a:off x="6569336" y="2651760"/>
            <a:ext cx="4722303" cy="3703320"/>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102</a:t>
            </a:r>
            <a:endParaRPr lang="en-US" sz="1000" dirty="0"/>
          </a:p>
        </p:txBody>
      </p:sp>
      <p:sp>
        <p:nvSpPr>
          <p:cNvPr id="4" name="Shape 1"/>
          <p:cNvSpPr/>
          <p:nvPr/>
        </p:nvSpPr>
        <p:spPr>
          <a:xfrm>
            <a:off x="457200" y="5486400"/>
            <a:ext cx="5394960" cy="777240"/>
          </a:xfrm>
          <a:prstGeom prst="roundRect">
            <a:avLst>
              <a:gd name="adj" fmla="val 9412"/>
            </a:avLst>
          </a:prstGeom>
          <a:solidFill>
            <a:srgbClr val="FBE6EB"/>
          </a:solidFill>
          <a:ln w="12700">
            <a:solidFill>
              <a:srgbClr val="D9C4B4"/>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FBE6EB"/>
          </a:solidFill>
          <a:ln w="12700">
            <a:solidFill>
              <a:srgbClr val="D9C4B4"/>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AD5A6E"/>
          </a:solidFill>
          <a:ln w="12700">
            <a:solidFill>
              <a:srgbClr val="AD5A6E"/>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b="1" dirty="0">
                <a:solidFill>
                  <a:srgbClr val="FBF7F1"/>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FBE6EB"/>
          </a:solidFill>
          <a:ln w="12700">
            <a:solidFill>
              <a:srgbClr val="D9C4B4"/>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
        <p:nvSpPr>
          <p:cNvPr id="12" name="Text 9"/>
          <p:cNvSpPr txBox="1"/>
          <p:nvPr/>
        </p:nvSpPr>
        <p:spPr>
          <a:xfrm>
            <a:off x="6217920" y="548640"/>
            <a:ext cx="5425135" cy="1920240"/>
          </a:xfrm>
          <a:prstGeom prst="rect">
            <a:avLst/>
          </a:prstGeom>
          <a:noFill/>
          <a:ln/>
        </p:spPr>
        <p:txBody>
          <a:bodyPr wrap="square" lIns="0" tIns="0" rIns="0" bIns="0" rtlCol="0" anchor="t"/>
          <a:lstStyle/>
          <a:p>
            <a:pPr algn="l" indent="0" marL="0">
              <a:spcAft>
                <a:spcPts val="800"/>
              </a:spcAft>
              <a:buNone/>
            </a:pPr>
            <a:r>
              <a:rPr lang="en-US" sz="2200" b="1" dirty="0">
                <a:solidFill>
                  <a:srgbClr val="2A201B"/>
                </a:solidFill>
                <a:latin typeface="Jost"/>
                <a:ea typeface="Jost"/>
                <a:cs typeface="Jost"/>
              </a:rPr>
              <a:t>3. The client's reaction, in their own words</a:t>
            </a:r>
            <a:endParaRPr lang="en-US" sz="2200" dirty="0"/>
          </a:p>
          <a:p>
            <a:pPr algn="l" indent="0" marL="0">
              <a:spcAft>
                <a:spcPts val="800"/>
              </a:spcAft>
              <a:buNone/>
            </a:pPr>
            <a:r>
              <a:rPr lang="en-US" sz="2200" dirty="0">
                <a:solidFill>
                  <a:srgbClr val="2A201B"/>
                </a:solidFill>
                <a:latin typeface="Jost"/>
                <a:ea typeface="Jost"/>
                <a:cs typeface="Jost"/>
              </a:rPr>
              <a:t>The mirror moment. The voice note. The text they sent you afterward.</a:t>
            </a:r>
            <a:endParaRPr lang="en-US" sz="2200" dirty="0"/>
          </a:p>
        </p:txBody>
      </p:sp>
      <p:pic>
        <p:nvPicPr>
          <p:cNvPr id="13" name="Image 0" descr="/home/claude/webinar/deck-img/client-text-3-4-weeks.jpg">    </p:cNvPr>
          <p:cNvPicPr>
            <a:picLocks noChangeAspect="1"/>
          </p:cNvPicPr>
          <p:nvPr/>
        </p:nvPicPr>
        <p:blipFill>
          <a:blip r:embed="rId1"/>
          <a:stretch>
            <a:fillRect/>
          </a:stretch>
        </p:blipFill>
        <p:spPr>
          <a:xfrm>
            <a:off x="6217920" y="2865206"/>
            <a:ext cx="5425135" cy="3276429"/>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103</a:t>
            </a:r>
            <a:endParaRPr lang="en-US" sz="1000" dirty="0"/>
          </a:p>
        </p:txBody>
      </p:sp>
      <p:sp>
        <p:nvSpPr>
          <p:cNvPr id="4" name="Shape 1"/>
          <p:cNvSpPr/>
          <p:nvPr/>
        </p:nvSpPr>
        <p:spPr>
          <a:xfrm>
            <a:off x="457200" y="5486400"/>
            <a:ext cx="5394960" cy="777240"/>
          </a:xfrm>
          <a:prstGeom prst="roundRect">
            <a:avLst>
              <a:gd name="adj" fmla="val 9412"/>
            </a:avLst>
          </a:prstGeom>
          <a:solidFill>
            <a:srgbClr val="FBE6EB"/>
          </a:solidFill>
          <a:ln w="12700">
            <a:solidFill>
              <a:srgbClr val="D9C4B4"/>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FBE6EB"/>
          </a:solidFill>
          <a:ln w="12700">
            <a:solidFill>
              <a:srgbClr val="D9C4B4"/>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FBE6EB"/>
          </a:solidFill>
          <a:ln w="12700">
            <a:solidFill>
              <a:srgbClr val="D9C4B4"/>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AD5A6E"/>
          </a:solidFill>
          <a:ln w="12700">
            <a:solidFill>
              <a:srgbClr val="AD5A6E"/>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b="1" dirty="0">
                <a:solidFill>
                  <a:srgbClr val="FBF7F1"/>
                </a:solidFill>
                <a:latin typeface="Jost"/>
                <a:ea typeface="Jost"/>
                <a:cs typeface="Jost"/>
              </a:rPr>
              <a:t>4   The experience of booking with you</a:t>
            </a:r>
            <a:endParaRPr lang="en-US" sz="2100" dirty="0"/>
          </a:p>
        </p:txBody>
      </p:sp>
      <p:sp>
        <p:nvSpPr>
          <p:cNvPr id="12" name="Text 9"/>
          <p:cNvSpPr txBox="1"/>
          <p:nvPr/>
        </p:nvSpPr>
        <p:spPr>
          <a:xfrm>
            <a:off x="6217920" y="548640"/>
            <a:ext cx="5425135" cy="1920240"/>
          </a:xfrm>
          <a:prstGeom prst="rect">
            <a:avLst/>
          </a:prstGeom>
          <a:noFill/>
          <a:ln/>
        </p:spPr>
        <p:txBody>
          <a:bodyPr wrap="square" lIns="0" tIns="0" rIns="0" bIns="0" rtlCol="0" anchor="t"/>
          <a:lstStyle/>
          <a:p>
            <a:pPr algn="l" indent="0" marL="0">
              <a:spcAft>
                <a:spcPts val="800"/>
              </a:spcAft>
              <a:buNone/>
            </a:pPr>
            <a:r>
              <a:rPr lang="en-US" sz="2200" b="1" dirty="0">
                <a:solidFill>
                  <a:srgbClr val="2A201B"/>
                </a:solidFill>
                <a:latin typeface="Jost"/>
                <a:ea typeface="Jost"/>
                <a:cs typeface="Jost"/>
              </a:rPr>
              <a:t>4. The experience of booking with you</a:t>
            </a:r>
            <a:endParaRPr lang="en-US" sz="2200" dirty="0"/>
          </a:p>
          <a:p>
            <a:pPr algn="l" indent="0" marL="0">
              <a:spcAft>
                <a:spcPts val="800"/>
              </a:spcAft>
              <a:buNone/>
            </a:pPr>
            <a:r>
              <a:rPr lang="en-US" sz="2200" dirty="0">
                <a:solidFill>
                  <a:srgbClr val="2A201B"/>
                </a:solidFill>
                <a:latin typeface="Jost"/>
                <a:ea typeface="Jost"/>
                <a:cs typeface="Jost"/>
              </a:rPr>
              <a:t>What it's like from the moment they walk in to the moment they leave.</a:t>
            </a:r>
            <a:endParaRPr lang="en-US" sz="2200" dirty="0"/>
          </a:p>
        </p:txBody>
      </p:sp>
      <p:pic>
        <p:nvPicPr>
          <p:cNvPr id="13" name="Image 0" descr="/home/claude/webinar/deck-img/studio.jpg">    </p:cNvPr>
          <p:cNvPicPr>
            <a:picLocks noChangeAspect="1"/>
          </p:cNvPicPr>
          <p:nvPr/>
        </p:nvPicPr>
        <p:blipFill>
          <a:blip r:embed="rId1"/>
          <a:stretch>
            <a:fillRect/>
          </a:stretch>
        </p:blipFill>
        <p:spPr>
          <a:xfrm>
            <a:off x="7455812" y="2651760"/>
            <a:ext cx="2949351" cy="370332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104</a:t>
            </a:r>
            <a:endParaRPr lang="en-US" sz="1000" dirty="0"/>
          </a:p>
        </p:txBody>
      </p:sp>
      <p:sp>
        <p:nvSpPr>
          <p:cNvPr id="4" name="Shape 1"/>
          <p:cNvSpPr/>
          <p:nvPr/>
        </p:nvSpPr>
        <p:spPr>
          <a:xfrm>
            <a:off x="457200" y="5486400"/>
            <a:ext cx="5394960" cy="777240"/>
          </a:xfrm>
          <a:prstGeom prst="roundRect">
            <a:avLst>
              <a:gd name="adj" fmla="val 9412"/>
            </a:avLst>
          </a:prstGeom>
          <a:solidFill>
            <a:srgbClr val="FBE6EB"/>
          </a:solidFill>
          <a:ln w="12700">
            <a:solidFill>
              <a:srgbClr val="D9C4B4"/>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FBE6EB"/>
          </a:solidFill>
          <a:ln w="12700">
            <a:solidFill>
              <a:srgbClr val="D9C4B4"/>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FBE6EB"/>
          </a:solidFill>
          <a:ln w="12700">
            <a:solidFill>
              <a:srgbClr val="D9C4B4"/>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FBE6EB"/>
          </a:solidFill>
          <a:ln w="12700">
            <a:solidFill>
              <a:srgbClr val="D9C4B4"/>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
        <p:nvSpPr>
          <p:cNvPr id="12" name="Text 9"/>
          <p:cNvSpPr txBox="1"/>
          <p:nvPr/>
        </p:nvSpPr>
        <p:spPr>
          <a:xfrm>
            <a:off x="6217920" y="548640"/>
            <a:ext cx="5425135" cy="2880360"/>
          </a:xfrm>
          <a:prstGeom prst="rect">
            <a:avLst/>
          </a:prstGeom>
          <a:noFill/>
          <a:ln/>
        </p:spPr>
        <p:txBody>
          <a:bodyPr wrap="square" lIns="0" tIns="0" rIns="0" bIns="0" rtlCol="0" anchor="t"/>
          <a:lstStyle/>
          <a:p>
            <a:pPr algn="l" indent="0" marL="0">
              <a:spcAft>
                <a:spcPts val="1100"/>
              </a:spcAft>
              <a:buNone/>
            </a:pPr>
            <a:r>
              <a:rPr lang="en-US" sz="3000" b="1" dirty="0">
                <a:solidFill>
                  <a:srgbClr val="2A201B"/>
                </a:solidFill>
                <a:latin typeface="Jost"/>
                <a:ea typeface="Jost"/>
                <a:cs typeface="Jost"/>
              </a:rPr>
              <a:t>Look at your page right now.</a:t>
            </a:r>
            <a:endParaRPr lang="en-US" sz="3000" dirty="0"/>
          </a:p>
          <a:p>
            <a:pPr algn="l" indent="0" marL="0">
              <a:spcAft>
                <a:spcPts val="1100"/>
              </a:spcAft>
              <a:buNone/>
            </a:pPr>
            <a:r>
              <a:rPr lang="en-US" sz="3000" dirty="0">
                <a:solidFill>
                  <a:srgbClr val="2A201B"/>
                </a:solidFill>
                <a:latin typeface="Jost"/>
                <a:ea typeface="Jost"/>
                <a:cs typeface="Jost"/>
              </a:rPr>
              <a:t>Which level do you usually stop at? Drop the number in the chat.</a:t>
            </a:r>
            <a:endParaRPr lang="en-US" sz="30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105</a:t>
            </a:r>
            <a:endParaRPr lang="en-US" sz="1000" dirty="0"/>
          </a:p>
        </p:txBody>
      </p:sp>
      <p:sp>
        <p:nvSpPr>
          <p:cNvPr id="4" name="Shape 1"/>
          <p:cNvSpPr/>
          <p:nvPr/>
        </p:nvSpPr>
        <p:spPr>
          <a:xfrm>
            <a:off x="457200" y="5486400"/>
            <a:ext cx="5394960" cy="777240"/>
          </a:xfrm>
          <a:prstGeom prst="roundRect">
            <a:avLst>
              <a:gd name="adj" fmla="val 9412"/>
            </a:avLst>
          </a:prstGeom>
          <a:solidFill>
            <a:srgbClr val="FBE6EB"/>
          </a:solidFill>
          <a:ln w="12700">
            <a:solidFill>
              <a:srgbClr val="D9C4B4"/>
            </a:solidFill>
            <a:prstDash val="solid"/>
          </a:ln>
        </p:spPr>
      </p:sp>
      <p:sp>
        <p:nvSpPr>
          <p:cNvPr id="5" name="Text 2"/>
          <p:cNvSpPr txBox="1"/>
          <p:nvPr/>
        </p:nvSpPr>
        <p:spPr>
          <a:xfrm>
            <a:off x="685800" y="5486400"/>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1   The fresh before-and-after</a:t>
            </a:r>
            <a:endParaRPr lang="en-US" sz="2100" dirty="0"/>
          </a:p>
        </p:txBody>
      </p:sp>
      <p:sp>
        <p:nvSpPr>
          <p:cNvPr id="6" name="Shape 3"/>
          <p:cNvSpPr/>
          <p:nvPr/>
        </p:nvSpPr>
        <p:spPr>
          <a:xfrm>
            <a:off x="457200" y="4562856"/>
            <a:ext cx="5394960" cy="777240"/>
          </a:xfrm>
          <a:prstGeom prst="roundRect">
            <a:avLst>
              <a:gd name="adj" fmla="val 9412"/>
            </a:avLst>
          </a:prstGeom>
          <a:solidFill>
            <a:srgbClr val="FBE6EB"/>
          </a:solidFill>
          <a:ln w="12700">
            <a:solidFill>
              <a:srgbClr val="D9C4B4"/>
            </a:solidFill>
            <a:prstDash val="solid"/>
          </a:ln>
        </p:spPr>
      </p:sp>
      <p:sp>
        <p:nvSpPr>
          <p:cNvPr id="7" name="Text 4"/>
          <p:cNvSpPr txBox="1"/>
          <p:nvPr/>
        </p:nvSpPr>
        <p:spPr>
          <a:xfrm>
            <a:off x="685800" y="4562856"/>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2   Healed or lasting results</a:t>
            </a:r>
            <a:endParaRPr lang="en-US" sz="2100" dirty="0"/>
          </a:p>
        </p:txBody>
      </p:sp>
      <p:sp>
        <p:nvSpPr>
          <p:cNvPr id="8" name="Shape 5"/>
          <p:cNvSpPr/>
          <p:nvPr/>
        </p:nvSpPr>
        <p:spPr>
          <a:xfrm>
            <a:off x="457200" y="3639312"/>
            <a:ext cx="5394960" cy="777240"/>
          </a:xfrm>
          <a:prstGeom prst="roundRect">
            <a:avLst>
              <a:gd name="adj" fmla="val 9412"/>
            </a:avLst>
          </a:prstGeom>
          <a:solidFill>
            <a:srgbClr val="FBE6EB"/>
          </a:solidFill>
          <a:ln w="12700">
            <a:solidFill>
              <a:srgbClr val="D9C4B4"/>
            </a:solidFill>
            <a:prstDash val="solid"/>
          </a:ln>
        </p:spPr>
      </p:sp>
      <p:sp>
        <p:nvSpPr>
          <p:cNvPr id="9" name="Text 6"/>
          <p:cNvSpPr txBox="1"/>
          <p:nvPr/>
        </p:nvSpPr>
        <p:spPr>
          <a:xfrm>
            <a:off x="685800" y="3639312"/>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3   Their reaction, in their own words</a:t>
            </a:r>
            <a:endParaRPr lang="en-US" sz="2100" dirty="0"/>
          </a:p>
        </p:txBody>
      </p:sp>
      <p:sp>
        <p:nvSpPr>
          <p:cNvPr id="10" name="Shape 7"/>
          <p:cNvSpPr/>
          <p:nvPr/>
        </p:nvSpPr>
        <p:spPr>
          <a:xfrm>
            <a:off x="457200" y="2715768"/>
            <a:ext cx="5394960" cy="777240"/>
          </a:xfrm>
          <a:prstGeom prst="roundRect">
            <a:avLst>
              <a:gd name="adj" fmla="val 9412"/>
            </a:avLst>
          </a:prstGeom>
          <a:solidFill>
            <a:srgbClr val="FBE6EB"/>
          </a:solidFill>
          <a:ln w="12700">
            <a:solidFill>
              <a:srgbClr val="D9C4B4"/>
            </a:solidFill>
            <a:prstDash val="solid"/>
          </a:ln>
        </p:spPr>
      </p:sp>
      <p:sp>
        <p:nvSpPr>
          <p:cNvPr id="11" name="Text 8"/>
          <p:cNvSpPr txBox="1"/>
          <p:nvPr/>
        </p:nvSpPr>
        <p:spPr>
          <a:xfrm>
            <a:off x="685800" y="2715768"/>
            <a:ext cx="5029200" cy="777240"/>
          </a:xfrm>
          <a:prstGeom prst="rect">
            <a:avLst/>
          </a:prstGeom>
          <a:noFill/>
          <a:ln/>
        </p:spPr>
        <p:txBody>
          <a:bodyPr wrap="square" lIns="0" tIns="0" rIns="0" bIns="0" rtlCol="0" anchor="ctr"/>
          <a:lstStyle/>
          <a:p>
            <a:pPr indent="0" marL="0">
              <a:buNone/>
            </a:pPr>
            <a:r>
              <a:rPr lang="en-US" sz="2100" dirty="0">
                <a:solidFill>
                  <a:srgbClr val="2A201B"/>
                </a:solidFill>
                <a:latin typeface="Jost"/>
                <a:ea typeface="Jost"/>
                <a:cs typeface="Jost"/>
              </a:rPr>
              <a:t>4   The experience of booking with you</a:t>
            </a:r>
            <a:endParaRPr lang="en-US" sz="2100" dirty="0"/>
          </a:p>
        </p:txBody>
      </p:sp>
      <p:sp>
        <p:nvSpPr>
          <p:cNvPr id="12" name="Text 9"/>
          <p:cNvSpPr txBox="1"/>
          <p:nvPr/>
        </p:nvSpPr>
        <p:spPr>
          <a:xfrm>
            <a:off x="5989320" y="3886200"/>
            <a:ext cx="3108960" cy="548640"/>
          </a:xfrm>
          <a:prstGeom prst="rect">
            <a:avLst/>
          </a:prstGeom>
          <a:noFill/>
          <a:ln/>
        </p:spPr>
        <p:txBody>
          <a:bodyPr wrap="square" lIns="0" tIns="0" rIns="0" bIns="0" rtlCol="0" anchor="ctr"/>
          <a:lstStyle/>
          <a:p>
            <a:pPr indent="0" marL="0">
              <a:buNone/>
            </a:pPr>
            <a:r>
              <a:rPr lang="en-US" sz="2200" b="1" dirty="0">
                <a:solidFill>
                  <a:srgbClr val="94415A"/>
                </a:solidFill>
                <a:latin typeface="Jost"/>
                <a:ea typeface="Jost"/>
                <a:cs typeface="Jost"/>
              </a:rPr>
              <a:t>↑ one level up</a:t>
            </a:r>
            <a:endParaRPr lang="en-US" sz="2200" dirty="0"/>
          </a:p>
        </p:txBody>
      </p:sp>
      <p:sp>
        <p:nvSpPr>
          <p:cNvPr id="13" name="Text 10"/>
          <p:cNvSpPr txBox="1"/>
          <p:nvPr/>
        </p:nvSpPr>
        <p:spPr>
          <a:xfrm>
            <a:off x="6217920" y="548640"/>
            <a:ext cx="5425135" cy="2880360"/>
          </a:xfrm>
          <a:prstGeom prst="rect">
            <a:avLst/>
          </a:prstGeom>
          <a:noFill/>
          <a:ln/>
        </p:spPr>
        <p:txBody>
          <a:bodyPr wrap="square" lIns="0" tIns="0" rIns="0" bIns="0" rtlCol="0" anchor="t"/>
          <a:lstStyle/>
          <a:p>
            <a:pPr algn="l" indent="0" marL="0">
              <a:spcAft>
                <a:spcPts val="1500"/>
              </a:spcAft>
              <a:buNone/>
            </a:pPr>
            <a:r>
              <a:rPr lang="en-US" sz="5100" b="1" dirty="0">
                <a:solidFill>
                  <a:srgbClr val="2A201B"/>
                </a:solidFill>
                <a:latin typeface="Cormorant Garamond"/>
                <a:ea typeface="Cormorant Garamond"/>
                <a:cs typeface="Cormorant Garamond"/>
              </a:rPr>
              <a:t>Your job: post one level above where you normally stop.</a:t>
            </a:r>
            <a:endParaRPr lang="en-US" sz="51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Newer, and don't have client results yet?</a:t>
            </a:r>
            <a:endParaRPr lang="en-US" sz="6900" dirty="0"/>
          </a:p>
          <a:p>
            <a:pPr algn="l" indent="0" marL="0">
              <a:spcAft>
                <a:spcPts val="2100"/>
              </a:spcAft>
              <a:buNone/>
            </a:pPr>
            <a:r>
              <a:rPr lang="en-US" sz="6000" dirty="0">
                <a:solidFill>
                  <a:srgbClr val="2A201B"/>
                </a:solidFill>
                <a:latin typeface="Jost"/>
                <a:ea typeface="Jost"/>
                <a:cs typeface="Jost"/>
              </a:rPr>
              <a:t>Start with a model's result, your process, your training, or a testimonial.</a:t>
            </a:r>
            <a:endParaRPr lang="en-US" sz="60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In the caption, don't just say "Book now."</a:t>
            </a:r>
            <a:endParaRPr lang="en-US" sz="6200" dirty="0"/>
          </a:p>
          <a:p>
            <a:pPr algn="l" indent="0" marL="0">
              <a:spcAft>
                <a:spcPts val="1900"/>
              </a:spcAft>
              <a:buNone/>
            </a:pPr>
            <a:r>
              <a:rPr lang="en-US" sz="5400" dirty="0">
                <a:solidFill>
                  <a:srgbClr val="2A201B"/>
                </a:solidFill>
                <a:latin typeface="Jost"/>
                <a:ea typeface="Jost"/>
                <a:cs typeface="Jost"/>
              </a:rPr>
              <a:t>Speak to them. When people feel seen and know you can solve their problem, they book.</a:t>
            </a:r>
            <a:endParaRPr lang="en-US" sz="54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108</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My business now brings in consistent clients without me having to constantly post.</a:t>
            </a:r>
            <a:endParaRPr lang="en-US" sz="5500" dirty="0"/>
          </a:p>
        </p:txBody>
      </p:sp>
      <p:pic>
        <p:nvPicPr>
          <p:cNvPr id="5" name="Image 0" descr="/home/claude/webinar/deck-img/rieartistry-instagram-now.jpg">    </p:cNvPr>
          <p:cNvPicPr>
            <a:picLocks noChangeAspect="1"/>
          </p:cNvPicPr>
          <p:nvPr/>
        </p:nvPicPr>
        <p:blipFill>
          <a:blip r:embed="rId1"/>
          <a:stretch>
            <a:fillRect/>
          </a:stretch>
        </p:blipFill>
        <p:spPr>
          <a:xfrm>
            <a:off x="7618355" y="457200"/>
            <a:ext cx="2715706" cy="5897880"/>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109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This week: one Get Found, one Get Trusted, one Get Booked.</a:t>
            </a:r>
            <a:endParaRPr lang="en-US" sz="6900" dirty="0"/>
          </a:p>
          <a:p>
            <a:pPr algn="l" indent="0" marL="0">
              <a:spcAft>
                <a:spcPts val="2100"/>
              </a:spcAft>
              <a:buNone/>
            </a:pPr>
            <a:r>
              <a:rPr lang="en-US" sz="6000" dirty="0">
                <a:solidFill>
                  <a:srgbClr val="2A201B"/>
                </a:solidFill>
                <a:latin typeface="Jost"/>
                <a:ea typeface="Jost"/>
                <a:cs typeface="Jost"/>
              </a:rPr>
              <a:t>Will you post all 3? Type 3.</a:t>
            </a:r>
            <a:endParaRPr lang="en-US" sz="60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Now the right people are finding you, trusting you, and booking you.</a:t>
            </a:r>
            <a:endParaRPr lang="en-US" sz="6200" dirty="0"/>
          </a:p>
          <a:p>
            <a:pPr algn="l" indent="0" marL="0">
              <a:spcAft>
                <a:spcPts val="1900"/>
              </a:spcAft>
              <a:buNone/>
            </a:pPr>
            <a:r>
              <a:rPr lang="en-US" sz="5400" dirty="0">
                <a:solidFill>
                  <a:srgbClr val="2A201B"/>
                </a:solidFill>
                <a:latin typeface="Jost"/>
                <a:ea typeface="Jost"/>
                <a:cs typeface="Jost"/>
              </a:rPr>
              <a:t>Let's make more from the clients you already have.</a:t>
            </a:r>
            <a:endParaRPr lang="en-US" sz="54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111</a:t>
            </a:r>
            <a:endParaRPr lang="en-US" sz="1000" dirty="0"/>
          </a:p>
        </p:txBody>
      </p:sp>
      <p:sp>
        <p:nvSpPr>
          <p:cNvPr id="4" name="Shape 1"/>
          <p:cNvSpPr/>
          <p:nvPr/>
        </p:nvSpPr>
        <p:spPr>
          <a:xfrm>
            <a:off x="731520" y="822960"/>
            <a:ext cx="640080" cy="640080"/>
          </a:xfrm>
          <a:prstGeom prst="ellipse">
            <a:avLst/>
          </a:prstGeom>
          <a:solidFill>
            <a:srgbClr val="AD5A6E"/>
          </a:solidFill>
          <a:ln w="12700">
            <a:solidFill>
              <a:srgbClr val="AD5A6E"/>
            </a:solidFill>
            <a:prstDash val="solid"/>
          </a:ln>
        </p:spPr>
      </p:sp>
      <p:sp>
        <p:nvSpPr>
          <p:cNvPr id="5" name="Text 2"/>
          <p:cNvSpPr txBox="1"/>
          <p:nvPr/>
        </p:nvSpPr>
        <p:spPr>
          <a:xfrm>
            <a:off x="731520" y="82296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6" name="Text 3"/>
          <p:cNvSpPr txBox="1"/>
          <p:nvPr/>
        </p:nvSpPr>
        <p:spPr>
          <a:xfrm>
            <a:off x="1828800" y="73152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1: Position yourself so clients know why to choose you</a:t>
            </a:r>
            <a:endParaRPr lang="en-US" sz="2800" dirty="0"/>
          </a:p>
        </p:txBody>
      </p:sp>
      <p:sp>
        <p:nvSpPr>
          <p:cNvPr id="7" name="Shape 4"/>
          <p:cNvSpPr/>
          <p:nvPr/>
        </p:nvSpPr>
        <p:spPr>
          <a:xfrm>
            <a:off x="731520" y="2606040"/>
            <a:ext cx="640080" cy="640080"/>
          </a:xfrm>
          <a:prstGeom prst="ellipse">
            <a:avLst/>
          </a:prstGeom>
          <a:solidFill>
            <a:srgbClr val="AD5A6E"/>
          </a:solidFill>
          <a:ln w="12700">
            <a:solidFill>
              <a:srgbClr val="AD5A6E"/>
            </a:solidFill>
            <a:prstDash val="solid"/>
          </a:ln>
        </p:spPr>
      </p:sp>
      <p:sp>
        <p:nvSpPr>
          <p:cNvPr id="8" name="Text 5"/>
          <p:cNvSpPr txBox="1"/>
          <p:nvPr/>
        </p:nvSpPr>
        <p:spPr>
          <a:xfrm>
            <a:off x="731520" y="26060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9" name="Text 6"/>
          <p:cNvSpPr txBox="1"/>
          <p:nvPr/>
        </p:nvSpPr>
        <p:spPr>
          <a:xfrm>
            <a:off x="1828800" y="251460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2: Post the 3 kinds of content</a:t>
            </a:r>
            <a:endParaRPr lang="en-US" sz="2800" dirty="0"/>
          </a:p>
        </p:txBody>
      </p:sp>
      <p:sp>
        <p:nvSpPr>
          <p:cNvPr id="10" name="Shape 7"/>
          <p:cNvSpPr/>
          <p:nvPr/>
        </p:nvSpPr>
        <p:spPr>
          <a:xfrm>
            <a:off x="731520" y="4297680"/>
            <a:ext cx="822960" cy="822960"/>
          </a:xfrm>
          <a:prstGeom prst="ellipse">
            <a:avLst/>
          </a:prstGeom>
          <a:solidFill>
            <a:srgbClr val="AD5A6E"/>
          </a:solidFill>
          <a:ln w="12700">
            <a:solidFill>
              <a:srgbClr val="AD5A6E"/>
            </a:solidFill>
            <a:prstDash val="solid"/>
          </a:ln>
        </p:spPr>
      </p:sp>
      <p:sp>
        <p:nvSpPr>
          <p:cNvPr id="11" name="Text 8"/>
          <p:cNvSpPr txBox="1"/>
          <p:nvPr/>
        </p:nvSpPr>
        <p:spPr>
          <a:xfrm>
            <a:off x="731520" y="4297680"/>
            <a:ext cx="822960" cy="822960"/>
          </a:xfrm>
          <a:prstGeom prst="rect">
            <a:avLst/>
          </a:prstGeom>
          <a:noFill/>
          <a:ln/>
        </p:spPr>
        <p:txBody>
          <a:bodyPr wrap="square" lIns="0" tIns="0" rIns="0" bIns="0" rtlCol="0" anchor="ctr"/>
          <a:lstStyle/>
          <a:p>
            <a:pPr algn="ctr" indent="0" marL="0">
              <a:buNone/>
            </a:pPr>
            <a:r>
              <a:rPr lang="en-US" sz="3000" b="1" dirty="0">
                <a:solidFill>
                  <a:srgbClr val="FBF7F1"/>
                </a:solidFill>
                <a:latin typeface="Jost"/>
                <a:ea typeface="Jost"/>
                <a:cs typeface="Jost"/>
              </a:rPr>
              <a:t>3</a:t>
            </a:r>
            <a:endParaRPr lang="en-US" sz="3000" dirty="0"/>
          </a:p>
        </p:txBody>
      </p:sp>
      <p:sp>
        <p:nvSpPr>
          <p:cNvPr id="12" name="Text 9"/>
          <p:cNvSpPr txBox="1"/>
          <p:nvPr/>
        </p:nvSpPr>
        <p:spPr>
          <a:xfrm>
            <a:off x="1828800" y="3977640"/>
            <a:ext cx="9631375" cy="1463040"/>
          </a:xfrm>
          <a:prstGeom prst="rect">
            <a:avLst/>
          </a:prstGeom>
          <a:noFill/>
          <a:ln/>
        </p:spPr>
        <p:txBody>
          <a:bodyPr wrap="square" lIns="0" tIns="0" rIns="0" bIns="0" rtlCol="0" anchor="ctr"/>
          <a:lstStyle/>
          <a:p>
            <a:pPr indent="0" marL="0">
              <a:buNone/>
            </a:pPr>
            <a:r>
              <a:rPr lang="en-US" sz="4000" b="1" dirty="0">
                <a:solidFill>
                  <a:srgbClr val="AD5A6E"/>
                </a:solidFill>
                <a:latin typeface="Jost"/>
                <a:ea typeface="Jost"/>
                <a:cs typeface="Jost"/>
              </a:rPr>
              <a:t>Step 3: Find your next revenue opportunity</a:t>
            </a:r>
            <a:endParaRPr lang="en-US" sz="40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Let's do some quick math.</a:t>
            </a:r>
            <a:endParaRPr lang="en-US" sz="6900" dirty="0"/>
          </a:p>
          <a:p>
            <a:pPr algn="l" indent="0" marL="0">
              <a:spcAft>
                <a:spcPts val="2100"/>
              </a:spcAft>
              <a:buNone/>
            </a:pPr>
            <a:r>
              <a:rPr lang="en-US" sz="6000" dirty="0">
                <a:solidFill>
                  <a:srgbClr val="2A201B"/>
                </a:solidFill>
                <a:latin typeface="Jost"/>
                <a:ea typeface="Jost"/>
                <a:cs typeface="Jost"/>
              </a:rPr>
              <a:t>Grab your phone calculator.</a:t>
            </a:r>
            <a:endParaRPr lang="en-US" sz="60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the most clients you can see in a week.</a:t>
            </a:r>
            <a:endParaRPr lang="en-US" sz="5500" dirty="0"/>
          </a:p>
          <a:p>
            <a:pPr algn="l" indent="0" marL="0">
              <a:spcAft>
                <a:spcPts val="1700"/>
              </a:spcAft>
              <a:buNone/>
            </a:pPr>
            <a:r>
              <a:rPr lang="en-US" sz="4800" dirty="0">
                <a:solidFill>
                  <a:srgbClr val="FBF7F1"/>
                </a:solidFill>
                <a:latin typeface="Jost"/>
                <a:ea typeface="Jost"/>
                <a:cs typeface="Jost"/>
              </a:rPr>
              <a:t>Multiply it by your average service price.</a:t>
            </a:r>
            <a:endParaRPr lang="en-US" sz="4800" dirty="0"/>
          </a:p>
          <a:p>
            <a:pPr algn="l" indent="0" marL="0">
              <a:spcAft>
                <a:spcPts val="1700"/>
              </a:spcAft>
              <a:buNone/>
            </a:pPr>
            <a:r>
              <a:rPr lang="en-US" sz="4800" dirty="0">
                <a:solidFill>
                  <a:srgbClr val="FBF7F1"/>
                </a:solidFill>
                <a:latin typeface="Jost"/>
                <a:ea typeface="Jost"/>
                <a:cs typeface="Jost"/>
              </a:rPr>
              <a:t>Multiply that by 4.</a:t>
            </a:r>
            <a:endParaRPr lang="en-US" sz="4800" dirty="0"/>
          </a:p>
          <a:p>
            <a:pPr algn="l" indent="0" marL="0">
              <a:spcAft>
                <a:spcPts val="1700"/>
              </a:spcAft>
              <a:buNone/>
            </a:pPr>
            <a:r>
              <a:rPr lang="en-US" sz="4800" dirty="0">
                <a:solidFill>
                  <a:srgbClr val="FBF7F1"/>
                </a:solidFill>
                <a:latin typeface="Jost"/>
                <a:ea typeface="Jost"/>
                <a:cs typeface="Jost"/>
              </a:rPr>
              <a:t>Drop that number in the chat.</a:t>
            </a:r>
            <a:endParaRPr lang="en-US" sz="48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the most clients you can see in a week.</a:t>
            </a:r>
            <a:endParaRPr lang="en-US" sz="5500" dirty="0"/>
          </a:p>
          <a:p>
            <a:pPr algn="l" indent="0" marL="0">
              <a:spcAft>
                <a:spcPts val="1700"/>
              </a:spcAft>
              <a:buNone/>
            </a:pPr>
            <a:r>
              <a:rPr lang="en-US" sz="4800" dirty="0">
                <a:solidFill>
                  <a:srgbClr val="2A201B"/>
                </a:solidFill>
                <a:latin typeface="Jost"/>
                <a:ea typeface="Jost"/>
                <a:cs typeface="Jost"/>
              </a:rPr>
              <a:t>Multiply it by your average service price.</a:t>
            </a:r>
            <a:endParaRPr lang="en-US" sz="4800" dirty="0"/>
          </a:p>
          <a:p>
            <a:pPr algn="l" indent="0" marL="0">
              <a:spcAft>
                <a:spcPts val="1700"/>
              </a:spcAft>
              <a:buNone/>
            </a:pPr>
            <a:r>
              <a:rPr lang="en-US" sz="4800" dirty="0">
                <a:solidFill>
                  <a:srgbClr val="FBF7F1"/>
                </a:solidFill>
                <a:latin typeface="Jost"/>
                <a:ea typeface="Jost"/>
                <a:cs typeface="Jost"/>
              </a:rPr>
              <a:t>Multiply that by 4.</a:t>
            </a:r>
            <a:endParaRPr lang="en-US" sz="4800" dirty="0"/>
          </a:p>
          <a:p>
            <a:pPr algn="l" indent="0" marL="0">
              <a:spcAft>
                <a:spcPts val="1700"/>
              </a:spcAft>
              <a:buNone/>
            </a:pPr>
            <a:r>
              <a:rPr lang="en-US" sz="4800" dirty="0">
                <a:solidFill>
                  <a:srgbClr val="FBF7F1"/>
                </a:solidFill>
                <a:latin typeface="Jost"/>
                <a:ea typeface="Jost"/>
                <a:cs typeface="Jost"/>
              </a:rPr>
              <a:t>Drop that number in the chat.</a:t>
            </a:r>
            <a:endParaRPr lang="en-US" sz="48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the most clients you can see in a week.</a:t>
            </a:r>
            <a:endParaRPr lang="en-US" sz="5500" dirty="0"/>
          </a:p>
          <a:p>
            <a:pPr algn="l" indent="0" marL="0">
              <a:spcAft>
                <a:spcPts val="1700"/>
              </a:spcAft>
              <a:buNone/>
            </a:pPr>
            <a:r>
              <a:rPr lang="en-US" sz="4800" dirty="0">
                <a:solidFill>
                  <a:srgbClr val="2A201B"/>
                </a:solidFill>
                <a:latin typeface="Jost"/>
                <a:ea typeface="Jost"/>
                <a:cs typeface="Jost"/>
              </a:rPr>
              <a:t>Multiply it by your average service price.</a:t>
            </a:r>
            <a:endParaRPr lang="en-US" sz="4800" dirty="0"/>
          </a:p>
          <a:p>
            <a:pPr algn="l" indent="0" marL="0">
              <a:spcAft>
                <a:spcPts val="1700"/>
              </a:spcAft>
              <a:buNone/>
            </a:pPr>
            <a:r>
              <a:rPr lang="en-US" sz="4800" dirty="0">
                <a:solidFill>
                  <a:srgbClr val="2A201B"/>
                </a:solidFill>
                <a:latin typeface="Jost"/>
                <a:ea typeface="Jost"/>
                <a:cs typeface="Jost"/>
              </a:rPr>
              <a:t>Multiply that by 4.</a:t>
            </a:r>
            <a:endParaRPr lang="en-US" sz="4800" dirty="0"/>
          </a:p>
          <a:p>
            <a:pPr algn="l" indent="0" marL="0">
              <a:spcAft>
                <a:spcPts val="1700"/>
              </a:spcAft>
              <a:buNone/>
            </a:pPr>
            <a:r>
              <a:rPr lang="en-US" sz="4800" dirty="0">
                <a:solidFill>
                  <a:srgbClr val="FBF7F1"/>
                </a:solidFill>
                <a:latin typeface="Jost"/>
                <a:ea typeface="Jost"/>
                <a:cs typeface="Jost"/>
              </a:rPr>
              <a:t>Drop that number in the chat.</a:t>
            </a:r>
            <a:endParaRPr lang="en-US" sz="48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Take the most clients you can see in a week.</a:t>
            </a:r>
            <a:endParaRPr lang="en-US" sz="5500" dirty="0"/>
          </a:p>
          <a:p>
            <a:pPr algn="l" indent="0" marL="0">
              <a:spcAft>
                <a:spcPts val="1700"/>
              </a:spcAft>
              <a:buNone/>
            </a:pPr>
            <a:r>
              <a:rPr lang="en-US" sz="4800" dirty="0">
                <a:solidFill>
                  <a:srgbClr val="2A201B"/>
                </a:solidFill>
                <a:latin typeface="Jost"/>
                <a:ea typeface="Jost"/>
                <a:cs typeface="Jost"/>
              </a:rPr>
              <a:t>Multiply it by your average service price.</a:t>
            </a:r>
            <a:endParaRPr lang="en-US" sz="4800" dirty="0"/>
          </a:p>
          <a:p>
            <a:pPr algn="l" indent="0" marL="0">
              <a:spcAft>
                <a:spcPts val="1700"/>
              </a:spcAft>
              <a:buNone/>
            </a:pPr>
            <a:r>
              <a:rPr lang="en-US" sz="4800" dirty="0">
                <a:solidFill>
                  <a:srgbClr val="2A201B"/>
                </a:solidFill>
                <a:latin typeface="Jost"/>
                <a:ea typeface="Jost"/>
                <a:cs typeface="Jost"/>
              </a:rPr>
              <a:t>Multiply that by 4.</a:t>
            </a:r>
            <a:endParaRPr lang="en-US" sz="4800" dirty="0"/>
          </a:p>
          <a:p>
            <a:pPr algn="l" indent="0" marL="0">
              <a:spcAft>
                <a:spcPts val="1700"/>
              </a:spcAft>
              <a:buNone/>
            </a:pPr>
            <a:r>
              <a:rPr lang="en-US" sz="4800" dirty="0">
                <a:solidFill>
                  <a:srgbClr val="2A201B"/>
                </a:solidFill>
                <a:latin typeface="Jost"/>
                <a:ea typeface="Jost"/>
                <a:cs typeface="Jost"/>
              </a:rPr>
              <a:t>Drop that number in the chat.</a:t>
            </a:r>
            <a:endParaRPr lang="en-US" sz="48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That's your ceiling.</a:t>
            </a:r>
            <a:endParaRPr lang="en-US" sz="6900" dirty="0"/>
          </a:p>
          <a:p>
            <a:pPr algn="l" indent="0" marL="0">
              <a:spcAft>
                <a:spcPts val="2100"/>
              </a:spcAft>
              <a:buNone/>
            </a:pPr>
            <a:r>
              <a:rPr lang="en-US" sz="6000" dirty="0">
                <a:solidFill>
                  <a:srgbClr val="2A201B"/>
                </a:solidFill>
                <a:latin typeface="Jost"/>
                <a:ea typeface="Jost"/>
                <a:cs typeface="Jost"/>
              </a:rPr>
              <a:t>The most you can make in a month, the way you're working right now.</a:t>
            </a:r>
            <a:endParaRPr lang="en-US" sz="60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us, the only way we know to raise that number is more hours.</a:t>
            </a:r>
            <a:endParaRPr lang="en-US" sz="4600" dirty="0"/>
          </a:p>
          <a:p>
            <a:pPr algn="l" indent="0" marL="0">
              <a:spcAft>
                <a:spcPts val="1400"/>
              </a:spcAft>
              <a:buNone/>
            </a:pPr>
            <a:r>
              <a:rPr lang="en-US" sz="4000" dirty="0">
                <a:solidFill>
                  <a:srgbClr val="FBF7F1"/>
                </a:solidFill>
                <a:latin typeface="Jost"/>
                <a:ea typeface="Jost"/>
                <a:cs typeface="Jost"/>
              </a:rPr>
              <a:t>More clients. Later nights. Fewer days off.</a:t>
            </a:r>
            <a:endParaRPr lang="en-US" sz="4000" dirty="0"/>
          </a:p>
          <a:p>
            <a:pPr algn="l" indent="0" marL="0">
              <a:spcAft>
                <a:spcPts val="1400"/>
              </a:spcAft>
              <a:buNone/>
            </a:pPr>
            <a:r>
              <a:rPr lang="en-US" sz="4000" dirty="0">
                <a:solidFill>
                  <a:srgbClr val="FBF7F1"/>
                </a:solidFill>
                <a:latin typeface="Jost"/>
                <a:ea typeface="Jost"/>
                <a:cs typeface="Jost"/>
              </a:rPr>
              <a:t>And we know where that leads.</a:t>
            </a:r>
            <a:endParaRPr lang="en-US" sz="4000" dirty="0"/>
          </a:p>
          <a:p>
            <a:pPr algn="l" indent="0" marL="0">
              <a:spcAft>
                <a:spcPts val="1400"/>
              </a:spcAft>
              <a:buNone/>
            </a:pPr>
            <a:r>
              <a:rPr lang="en-US" sz="4000" dirty="0">
                <a:solidFill>
                  <a:srgbClr val="FBF7F1"/>
                </a:solidFill>
                <a:latin typeface="Jost"/>
                <a:ea typeface="Jost"/>
                <a:cs typeface="Jost"/>
              </a:rPr>
              <a:t>Your back, neck, and wrists hurting. Less family time.</a:t>
            </a:r>
            <a:endParaRPr lang="en-US" sz="40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us, the only way we know to raise that number is more hours.</a:t>
            </a:r>
            <a:endParaRPr lang="en-US" sz="4600" dirty="0"/>
          </a:p>
          <a:p>
            <a:pPr algn="l" indent="0" marL="0">
              <a:spcAft>
                <a:spcPts val="1400"/>
              </a:spcAft>
              <a:buNone/>
            </a:pPr>
            <a:r>
              <a:rPr lang="en-US" sz="4000" dirty="0">
                <a:solidFill>
                  <a:srgbClr val="2A201B"/>
                </a:solidFill>
                <a:latin typeface="Jost"/>
                <a:ea typeface="Jost"/>
                <a:cs typeface="Jost"/>
              </a:rPr>
              <a:t>More clients. Later nights. Fewer days off.</a:t>
            </a:r>
            <a:endParaRPr lang="en-US" sz="4000" dirty="0"/>
          </a:p>
          <a:p>
            <a:pPr algn="l" indent="0" marL="0">
              <a:spcAft>
                <a:spcPts val="1400"/>
              </a:spcAft>
              <a:buNone/>
            </a:pPr>
            <a:r>
              <a:rPr lang="en-US" sz="4000" dirty="0">
                <a:solidFill>
                  <a:srgbClr val="FBF7F1"/>
                </a:solidFill>
                <a:latin typeface="Jost"/>
                <a:ea typeface="Jost"/>
                <a:cs typeface="Jost"/>
              </a:rPr>
              <a:t>And we know where that leads.</a:t>
            </a:r>
            <a:endParaRPr lang="en-US" sz="4000" dirty="0"/>
          </a:p>
          <a:p>
            <a:pPr algn="l" indent="0" marL="0">
              <a:spcAft>
                <a:spcPts val="1400"/>
              </a:spcAft>
              <a:buNone/>
            </a:pPr>
            <a:r>
              <a:rPr lang="en-US" sz="4000" dirty="0">
                <a:solidFill>
                  <a:srgbClr val="FBF7F1"/>
                </a:solidFill>
                <a:latin typeface="Jost"/>
                <a:ea typeface="Jost"/>
                <a:cs typeface="Jost"/>
              </a:rPr>
              <a:t>Your back, neck, and wrists hurting. Less family time.</a:t>
            </a:r>
            <a:endParaRPr lang="en-US" sz="40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us, the only way we know to raise that number is more hours.</a:t>
            </a:r>
            <a:endParaRPr lang="en-US" sz="4600" dirty="0"/>
          </a:p>
          <a:p>
            <a:pPr algn="l" indent="0" marL="0">
              <a:spcAft>
                <a:spcPts val="1400"/>
              </a:spcAft>
              <a:buNone/>
            </a:pPr>
            <a:r>
              <a:rPr lang="en-US" sz="4000" dirty="0">
                <a:solidFill>
                  <a:srgbClr val="2A201B"/>
                </a:solidFill>
                <a:latin typeface="Jost"/>
                <a:ea typeface="Jost"/>
                <a:cs typeface="Jost"/>
              </a:rPr>
              <a:t>More clients. Later nights. Fewer days off.</a:t>
            </a:r>
            <a:endParaRPr lang="en-US" sz="4000" dirty="0"/>
          </a:p>
          <a:p>
            <a:pPr algn="l" indent="0" marL="0">
              <a:spcAft>
                <a:spcPts val="1400"/>
              </a:spcAft>
              <a:buNone/>
            </a:pPr>
            <a:r>
              <a:rPr lang="en-US" sz="4000" dirty="0">
                <a:solidFill>
                  <a:srgbClr val="2A201B"/>
                </a:solidFill>
                <a:latin typeface="Jost"/>
                <a:ea typeface="Jost"/>
                <a:cs typeface="Jost"/>
              </a:rPr>
              <a:t>And we know where that leads.</a:t>
            </a:r>
            <a:endParaRPr lang="en-US" sz="4000" dirty="0"/>
          </a:p>
          <a:p>
            <a:pPr algn="l" indent="0" marL="0">
              <a:spcAft>
                <a:spcPts val="1400"/>
              </a:spcAft>
              <a:buNone/>
            </a:pPr>
            <a:r>
              <a:rPr lang="en-US" sz="4000" dirty="0">
                <a:solidFill>
                  <a:srgbClr val="FBF7F1"/>
                </a:solidFill>
                <a:latin typeface="Jost"/>
                <a:ea typeface="Jost"/>
                <a:cs typeface="Jost"/>
              </a:rPr>
              <a:t>Your back, neck, and wrists hurting. Less family time.</a:t>
            </a:r>
            <a:endParaRPr lang="en-US" sz="40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us, the only way we know to raise that number is more hours.</a:t>
            </a:r>
            <a:endParaRPr lang="en-US" sz="4600" dirty="0"/>
          </a:p>
          <a:p>
            <a:pPr algn="l" indent="0" marL="0">
              <a:spcAft>
                <a:spcPts val="1400"/>
              </a:spcAft>
              <a:buNone/>
            </a:pPr>
            <a:r>
              <a:rPr lang="en-US" sz="4000" dirty="0">
                <a:solidFill>
                  <a:srgbClr val="2A201B"/>
                </a:solidFill>
                <a:latin typeface="Jost"/>
                <a:ea typeface="Jost"/>
                <a:cs typeface="Jost"/>
              </a:rPr>
              <a:t>More clients. Later nights. Fewer days off.</a:t>
            </a:r>
            <a:endParaRPr lang="en-US" sz="4000" dirty="0"/>
          </a:p>
          <a:p>
            <a:pPr algn="l" indent="0" marL="0">
              <a:spcAft>
                <a:spcPts val="1400"/>
              </a:spcAft>
              <a:buNone/>
            </a:pPr>
            <a:r>
              <a:rPr lang="en-US" sz="4000" dirty="0">
                <a:solidFill>
                  <a:srgbClr val="2A201B"/>
                </a:solidFill>
                <a:latin typeface="Jost"/>
                <a:ea typeface="Jost"/>
                <a:cs typeface="Jost"/>
              </a:rPr>
              <a:t>And we know where that leads.</a:t>
            </a:r>
            <a:endParaRPr lang="en-US" sz="4000" dirty="0"/>
          </a:p>
          <a:p>
            <a:pPr algn="l" indent="0" marL="0">
              <a:spcAft>
                <a:spcPts val="1400"/>
              </a:spcAft>
              <a:buNone/>
            </a:pPr>
            <a:r>
              <a:rPr lang="en-US" sz="4000" dirty="0">
                <a:solidFill>
                  <a:srgbClr val="2A201B"/>
                </a:solidFill>
                <a:latin typeface="Jost"/>
                <a:ea typeface="Jost"/>
                <a:cs typeface="Jost"/>
              </a:rPr>
              <a:t>Your back, neck, and wrists hurting. Less family time.</a:t>
            </a:r>
            <a:endParaRPr lang="en-US" sz="40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before we talk about adding more hours, I want you to look somewhere else first.</a:t>
            </a:r>
            <a:endParaRPr lang="en-US" sz="6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Most of us think growth means getting new clients.</a:t>
            </a:r>
            <a:endParaRPr lang="en-US" sz="6200" dirty="0"/>
          </a:p>
          <a:p>
            <a:pPr algn="l" indent="0" marL="0">
              <a:spcAft>
                <a:spcPts val="1900"/>
              </a:spcAft>
              <a:buNone/>
            </a:pPr>
            <a:r>
              <a:rPr lang="en-US" sz="5400" dirty="0">
                <a:solidFill>
                  <a:srgbClr val="FBF7F1"/>
                </a:solidFill>
                <a:latin typeface="Jost"/>
                <a:ea typeface="Jost"/>
                <a:cs typeface="Jost"/>
              </a:rPr>
              <a:t>But constantly chasing new clients is the most exhausting way to grow.</a:t>
            </a:r>
            <a:endParaRPr lang="en-US" sz="54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Most of us think growth means getting new clients.</a:t>
            </a:r>
            <a:endParaRPr lang="en-US" sz="6200" dirty="0"/>
          </a:p>
          <a:p>
            <a:pPr algn="l" indent="0" marL="0">
              <a:spcAft>
                <a:spcPts val="1900"/>
              </a:spcAft>
              <a:buNone/>
            </a:pPr>
            <a:r>
              <a:rPr lang="en-US" sz="5400" dirty="0">
                <a:solidFill>
                  <a:srgbClr val="2A201B"/>
                </a:solidFill>
                <a:latin typeface="Jost"/>
                <a:ea typeface="Jost"/>
                <a:cs typeface="Jost"/>
              </a:rPr>
              <a:t>But constantly chasing new clients is the most exhausting way to grow.</a:t>
            </a:r>
            <a:endParaRPr lang="en-US" sz="54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Meanwhile, there's money sitting right inside the clients you already have.</a:t>
            </a:r>
            <a:endParaRPr lang="en-US" sz="6900" dirty="0"/>
          </a:p>
          <a:p>
            <a:pPr algn="l" indent="0" marL="0">
              <a:spcAft>
                <a:spcPts val="2100"/>
              </a:spcAft>
              <a:buNone/>
            </a:pPr>
            <a:r>
              <a:rPr lang="en-US" sz="6000" dirty="0">
                <a:solidFill>
                  <a:srgbClr val="FBF7F1"/>
                </a:solidFill>
                <a:latin typeface="Jost"/>
                <a:ea typeface="Jost"/>
                <a:cs typeface="Jost"/>
              </a:rPr>
              <a:t>Let me show you with my own numbers.</a:t>
            </a:r>
            <a:endParaRPr lang="en-US" sz="60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Meanwhile, there's money sitting right inside the clients you already have.</a:t>
            </a:r>
            <a:endParaRPr lang="en-US" sz="6900" dirty="0"/>
          </a:p>
          <a:p>
            <a:pPr algn="l" indent="0" marL="0">
              <a:spcAft>
                <a:spcPts val="2100"/>
              </a:spcAft>
              <a:buNone/>
            </a:pPr>
            <a:r>
              <a:rPr lang="en-US" sz="6000" dirty="0">
                <a:solidFill>
                  <a:srgbClr val="2A201B"/>
                </a:solidFill>
                <a:latin typeface="Jost"/>
                <a:ea typeface="Jost"/>
                <a:cs typeface="Jost"/>
              </a:rPr>
              <a:t>Let me show you with my own numbers.</a:t>
            </a:r>
            <a:endParaRPr lang="en-US" sz="60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119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 lash client who comes every 3 weeks comes in about 17 times a year.</a:t>
            </a:r>
            <a:endParaRPr lang="en-US" sz="60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At </a:t>
            </a:r>
            <a:pPr algn="l" indent="0" marL="0">
              <a:spcAft>
                <a:spcPts val="2100"/>
              </a:spcAft>
              <a:buNone/>
            </a:pPr>
            <a:r>
              <a:rPr lang="en-US" sz="6000" b="1" dirty="0">
                <a:solidFill>
                  <a:srgbClr val="AD5A6E"/>
                </a:solidFill>
                <a:latin typeface="Jost"/>
                <a:ea typeface="Jost"/>
                <a:cs typeface="Jost"/>
              </a:rPr>
              <a:t>$100</a:t>
            </a:r>
            <a:pPr algn="l" indent="0" marL="0">
              <a:spcAft>
                <a:spcPts val="2100"/>
              </a:spcAft>
              <a:buNone/>
            </a:pPr>
            <a:r>
              <a:rPr lang="en-US" sz="6000" b="1" dirty="0">
                <a:solidFill>
                  <a:srgbClr val="2A201B"/>
                </a:solidFill>
                <a:latin typeface="Jost"/>
                <a:ea typeface="Jost"/>
                <a:cs typeface="Jost"/>
              </a:rPr>
              <a:t> a fill, that's </a:t>
            </a:r>
            <a:pPr algn="l" indent="0" marL="0">
              <a:spcAft>
                <a:spcPts val="2100"/>
              </a:spcAft>
              <a:buNone/>
            </a:pPr>
            <a:r>
              <a:rPr lang="en-US" sz="6000" b="1" dirty="0">
                <a:solidFill>
                  <a:srgbClr val="AD5A6E"/>
                </a:solidFill>
                <a:latin typeface="Jost"/>
                <a:ea typeface="Jost"/>
                <a:cs typeface="Jost"/>
              </a:rPr>
              <a:t>$1,700</a:t>
            </a:r>
            <a:pPr algn="l" indent="0" marL="0">
              <a:spcAft>
                <a:spcPts val="2100"/>
              </a:spcAft>
              <a:buNone/>
            </a:pPr>
            <a:r>
              <a:rPr lang="en-US" sz="6000" b="1" dirty="0">
                <a:solidFill>
                  <a:srgbClr val="2A201B"/>
                </a:solidFill>
                <a:latin typeface="Jost"/>
                <a:ea typeface="Jost"/>
                <a:cs typeface="Jost"/>
              </a:rPr>
              <a:t> a year from one client.</a:t>
            </a:r>
            <a:endParaRPr lang="en-US" sz="60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121</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Now add a </a:t>
            </a:r>
            <a:pPr algn="l" indent="0" marL="0">
              <a:spcAft>
                <a:spcPts val="1300"/>
              </a:spcAft>
              <a:buNone/>
            </a:pPr>
            <a:r>
              <a:rPr lang="en-US" sz="3600" b="1" dirty="0">
                <a:solidFill>
                  <a:srgbClr val="AD5A6E"/>
                </a:solidFill>
                <a:latin typeface="Jost"/>
                <a:ea typeface="Jost"/>
                <a:cs typeface="Jost"/>
              </a:rPr>
              <a:t>$30</a:t>
            </a:r>
            <a:pPr algn="l" indent="0" marL="0">
              <a:spcAft>
                <a:spcPts val="1300"/>
              </a:spcAft>
              <a:buNone/>
            </a:pPr>
            <a:r>
              <a:rPr lang="en-US" sz="3600" b="1" dirty="0">
                <a:solidFill>
                  <a:srgbClr val="2A201B"/>
                </a:solidFill>
                <a:latin typeface="Jost"/>
                <a:ea typeface="Jost"/>
                <a:cs typeface="Jost"/>
              </a:rPr>
              <a:t> brow wax and tint to those appointments.</a:t>
            </a:r>
            <a:endParaRPr lang="en-US" sz="3600" dirty="0"/>
          </a:p>
          <a:p>
            <a:pPr algn="l" indent="0" marL="0">
              <a:spcAft>
                <a:spcPts val="1300"/>
              </a:spcAft>
              <a:buNone/>
            </a:pPr>
            <a:r>
              <a:rPr lang="en-US" sz="3600" dirty="0">
                <a:solidFill>
                  <a:srgbClr val="FBF7F1"/>
                </a:solidFill>
                <a:latin typeface="Jost"/>
                <a:ea typeface="Jost"/>
                <a:cs typeface="Jost"/>
              </a:rPr>
              <a:t>That's </a:t>
            </a:r>
            <a:pPr algn="l" indent="0" marL="0">
              <a:spcAft>
                <a:spcPts val="1300"/>
              </a:spcAft>
              <a:buNone/>
            </a:pPr>
            <a:r>
              <a:rPr lang="en-US" sz="3600" b="1" dirty="0">
                <a:solidFill>
                  <a:srgbClr val="FBF7F1"/>
                </a:solidFill>
                <a:latin typeface="Jost"/>
                <a:ea typeface="Jost"/>
                <a:cs typeface="Jost"/>
              </a:rPr>
              <a:t>$510</a:t>
            </a:r>
            <a:pPr algn="l" indent="0" marL="0">
              <a:spcAft>
                <a:spcPts val="1300"/>
              </a:spcAft>
              <a:buNone/>
            </a:pPr>
            <a:r>
              <a:rPr lang="en-US" sz="3600" dirty="0">
                <a:solidFill>
                  <a:srgbClr val="FBF7F1"/>
                </a:solidFill>
                <a:latin typeface="Jost"/>
                <a:ea typeface="Jost"/>
                <a:cs typeface="Jost"/>
              </a:rPr>
              <a:t> more a year. Same client. Same visit.</a:t>
            </a:r>
            <a:endParaRPr lang="en-US" sz="3600" dirty="0"/>
          </a:p>
          <a:p>
            <a:pPr algn="l" indent="0" marL="0">
              <a:spcAft>
                <a:spcPts val="1300"/>
              </a:spcAft>
              <a:buNone/>
            </a:pPr>
            <a:r>
              <a:rPr lang="en-US" sz="3600" dirty="0">
                <a:solidFill>
                  <a:srgbClr val="FBF7F1"/>
                </a:solidFill>
                <a:latin typeface="Jost"/>
                <a:ea typeface="Jost"/>
                <a:cs typeface="Jost"/>
              </a:rPr>
              <a:t>I'm helping my client kill two birds with one stone.</a:t>
            </a:r>
            <a:endParaRPr lang="en-US" sz="3600" dirty="0"/>
          </a:p>
          <a:p>
            <a:pPr algn="l" indent="0" marL="0">
              <a:spcAft>
                <a:spcPts val="1300"/>
              </a:spcAft>
              <a:buNone/>
            </a:pPr>
            <a:r>
              <a:rPr lang="en-US" sz="3600" dirty="0">
                <a:solidFill>
                  <a:srgbClr val="FBF7F1"/>
                </a:solidFill>
                <a:latin typeface="Jost"/>
                <a:ea typeface="Jost"/>
                <a:cs typeface="Jost"/>
              </a:rPr>
              <a:t>Using skills and clients I already have.</a:t>
            </a:r>
            <a:endParaRPr lang="en-US" sz="36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17 × $30 = $510</a:t>
            </a:r>
            <a:endParaRPr lang="en-US" sz="22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121</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Now add a </a:t>
            </a:r>
            <a:pPr algn="l" indent="0" marL="0">
              <a:spcAft>
                <a:spcPts val="1300"/>
              </a:spcAft>
              <a:buNone/>
            </a:pPr>
            <a:r>
              <a:rPr lang="en-US" sz="3600" b="1" dirty="0">
                <a:solidFill>
                  <a:srgbClr val="AD5A6E"/>
                </a:solidFill>
                <a:latin typeface="Jost"/>
                <a:ea typeface="Jost"/>
                <a:cs typeface="Jost"/>
              </a:rPr>
              <a:t>$30</a:t>
            </a:r>
            <a:pPr algn="l" indent="0" marL="0">
              <a:spcAft>
                <a:spcPts val="1300"/>
              </a:spcAft>
              <a:buNone/>
            </a:pPr>
            <a:r>
              <a:rPr lang="en-US" sz="3600" b="1" dirty="0">
                <a:solidFill>
                  <a:srgbClr val="2A201B"/>
                </a:solidFill>
                <a:latin typeface="Jost"/>
                <a:ea typeface="Jost"/>
                <a:cs typeface="Jost"/>
              </a:rPr>
              <a:t> brow wax and tint to those appointments.</a:t>
            </a:r>
            <a:endParaRPr lang="en-US" sz="3600" dirty="0"/>
          </a:p>
          <a:p>
            <a:pPr algn="l" indent="0" marL="0">
              <a:spcAft>
                <a:spcPts val="1300"/>
              </a:spcAft>
              <a:buNone/>
            </a:pPr>
            <a:r>
              <a:rPr lang="en-US" sz="3600" dirty="0">
                <a:solidFill>
                  <a:srgbClr val="2A201B"/>
                </a:solidFill>
                <a:latin typeface="Jost"/>
                <a:ea typeface="Jost"/>
                <a:cs typeface="Jost"/>
              </a:rPr>
              <a:t>That's </a:t>
            </a:r>
            <a:pPr algn="l" indent="0" marL="0">
              <a:spcAft>
                <a:spcPts val="1300"/>
              </a:spcAft>
              <a:buNone/>
            </a:pPr>
            <a:r>
              <a:rPr lang="en-US" sz="3600" b="1" dirty="0">
                <a:solidFill>
                  <a:srgbClr val="AD5A6E"/>
                </a:solidFill>
                <a:latin typeface="Jost"/>
                <a:ea typeface="Jost"/>
                <a:cs typeface="Jost"/>
              </a:rPr>
              <a:t>$510</a:t>
            </a:r>
            <a:pPr algn="l" indent="0" marL="0">
              <a:spcAft>
                <a:spcPts val="1300"/>
              </a:spcAft>
              <a:buNone/>
            </a:pPr>
            <a:r>
              <a:rPr lang="en-US" sz="3600" dirty="0">
                <a:solidFill>
                  <a:srgbClr val="2A201B"/>
                </a:solidFill>
                <a:latin typeface="Jost"/>
                <a:ea typeface="Jost"/>
                <a:cs typeface="Jost"/>
              </a:rPr>
              <a:t> more a year. Same client. Same visit.</a:t>
            </a:r>
            <a:endParaRPr lang="en-US" sz="3600" dirty="0"/>
          </a:p>
          <a:p>
            <a:pPr algn="l" indent="0" marL="0">
              <a:spcAft>
                <a:spcPts val="1300"/>
              </a:spcAft>
              <a:buNone/>
            </a:pPr>
            <a:r>
              <a:rPr lang="en-US" sz="3600" dirty="0">
                <a:solidFill>
                  <a:srgbClr val="FBF7F1"/>
                </a:solidFill>
                <a:latin typeface="Jost"/>
                <a:ea typeface="Jost"/>
                <a:cs typeface="Jost"/>
              </a:rPr>
              <a:t>I'm helping my client kill two birds with one stone.</a:t>
            </a:r>
            <a:endParaRPr lang="en-US" sz="3600" dirty="0"/>
          </a:p>
          <a:p>
            <a:pPr algn="l" indent="0" marL="0">
              <a:spcAft>
                <a:spcPts val="1300"/>
              </a:spcAft>
              <a:buNone/>
            </a:pPr>
            <a:r>
              <a:rPr lang="en-US" sz="3600" dirty="0">
                <a:solidFill>
                  <a:srgbClr val="FBF7F1"/>
                </a:solidFill>
                <a:latin typeface="Jost"/>
                <a:ea typeface="Jost"/>
                <a:cs typeface="Jost"/>
              </a:rPr>
              <a:t>Using skills and clients I already have.</a:t>
            </a:r>
            <a:endParaRPr lang="en-US" sz="36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17 × $30 = $510</a:t>
            </a:r>
            <a:endParaRPr lang="en-US" sz="22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121</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Now add a </a:t>
            </a:r>
            <a:pPr algn="l" indent="0" marL="0">
              <a:spcAft>
                <a:spcPts val="1300"/>
              </a:spcAft>
              <a:buNone/>
            </a:pPr>
            <a:r>
              <a:rPr lang="en-US" sz="3600" b="1" dirty="0">
                <a:solidFill>
                  <a:srgbClr val="AD5A6E"/>
                </a:solidFill>
                <a:latin typeface="Jost"/>
                <a:ea typeface="Jost"/>
                <a:cs typeface="Jost"/>
              </a:rPr>
              <a:t>$30</a:t>
            </a:r>
            <a:pPr algn="l" indent="0" marL="0">
              <a:spcAft>
                <a:spcPts val="1300"/>
              </a:spcAft>
              <a:buNone/>
            </a:pPr>
            <a:r>
              <a:rPr lang="en-US" sz="3600" b="1" dirty="0">
                <a:solidFill>
                  <a:srgbClr val="2A201B"/>
                </a:solidFill>
                <a:latin typeface="Jost"/>
                <a:ea typeface="Jost"/>
                <a:cs typeface="Jost"/>
              </a:rPr>
              <a:t> brow wax and tint to those appointments.</a:t>
            </a:r>
            <a:endParaRPr lang="en-US" sz="3600" dirty="0"/>
          </a:p>
          <a:p>
            <a:pPr algn="l" indent="0" marL="0">
              <a:spcAft>
                <a:spcPts val="1300"/>
              </a:spcAft>
              <a:buNone/>
            </a:pPr>
            <a:r>
              <a:rPr lang="en-US" sz="3600" dirty="0">
                <a:solidFill>
                  <a:srgbClr val="2A201B"/>
                </a:solidFill>
                <a:latin typeface="Jost"/>
                <a:ea typeface="Jost"/>
                <a:cs typeface="Jost"/>
              </a:rPr>
              <a:t>That's </a:t>
            </a:r>
            <a:pPr algn="l" indent="0" marL="0">
              <a:spcAft>
                <a:spcPts val="1300"/>
              </a:spcAft>
              <a:buNone/>
            </a:pPr>
            <a:r>
              <a:rPr lang="en-US" sz="3600" b="1" dirty="0">
                <a:solidFill>
                  <a:srgbClr val="AD5A6E"/>
                </a:solidFill>
                <a:latin typeface="Jost"/>
                <a:ea typeface="Jost"/>
                <a:cs typeface="Jost"/>
              </a:rPr>
              <a:t>$510</a:t>
            </a:r>
            <a:pPr algn="l" indent="0" marL="0">
              <a:spcAft>
                <a:spcPts val="1300"/>
              </a:spcAft>
              <a:buNone/>
            </a:pPr>
            <a:r>
              <a:rPr lang="en-US" sz="3600" dirty="0">
                <a:solidFill>
                  <a:srgbClr val="2A201B"/>
                </a:solidFill>
                <a:latin typeface="Jost"/>
                <a:ea typeface="Jost"/>
                <a:cs typeface="Jost"/>
              </a:rPr>
              <a:t> more a year. Same client. Same visit.</a:t>
            </a:r>
            <a:endParaRPr lang="en-US" sz="3600" dirty="0"/>
          </a:p>
          <a:p>
            <a:pPr algn="l" indent="0" marL="0">
              <a:spcAft>
                <a:spcPts val="1300"/>
              </a:spcAft>
              <a:buNone/>
            </a:pPr>
            <a:r>
              <a:rPr lang="en-US" sz="3600" dirty="0">
                <a:solidFill>
                  <a:srgbClr val="2A201B"/>
                </a:solidFill>
                <a:latin typeface="Jost"/>
                <a:ea typeface="Jost"/>
                <a:cs typeface="Jost"/>
              </a:rPr>
              <a:t>I'm helping my client kill two birds with one stone.</a:t>
            </a:r>
            <a:endParaRPr lang="en-US" sz="3600" dirty="0"/>
          </a:p>
          <a:p>
            <a:pPr algn="l" indent="0" marL="0">
              <a:spcAft>
                <a:spcPts val="1300"/>
              </a:spcAft>
              <a:buNone/>
            </a:pPr>
            <a:r>
              <a:rPr lang="en-US" sz="3600" dirty="0">
                <a:solidFill>
                  <a:srgbClr val="FBF7F1"/>
                </a:solidFill>
                <a:latin typeface="Jost"/>
                <a:ea typeface="Jost"/>
                <a:cs typeface="Jost"/>
              </a:rPr>
              <a:t>Using skills and clients I already have.</a:t>
            </a:r>
            <a:endParaRPr lang="en-US" sz="36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17 × $30 = $510</a:t>
            </a:r>
            <a:endParaRPr lang="en-US" sz="22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121</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Now add a </a:t>
            </a:r>
            <a:pPr algn="l" indent="0" marL="0">
              <a:spcAft>
                <a:spcPts val="1300"/>
              </a:spcAft>
              <a:buNone/>
            </a:pPr>
            <a:r>
              <a:rPr lang="en-US" sz="3600" b="1" dirty="0">
                <a:solidFill>
                  <a:srgbClr val="AD5A6E"/>
                </a:solidFill>
                <a:latin typeface="Jost"/>
                <a:ea typeface="Jost"/>
                <a:cs typeface="Jost"/>
              </a:rPr>
              <a:t>$30</a:t>
            </a:r>
            <a:pPr algn="l" indent="0" marL="0">
              <a:spcAft>
                <a:spcPts val="1300"/>
              </a:spcAft>
              <a:buNone/>
            </a:pPr>
            <a:r>
              <a:rPr lang="en-US" sz="3600" b="1" dirty="0">
                <a:solidFill>
                  <a:srgbClr val="2A201B"/>
                </a:solidFill>
                <a:latin typeface="Jost"/>
                <a:ea typeface="Jost"/>
                <a:cs typeface="Jost"/>
              </a:rPr>
              <a:t> brow wax and tint to those appointments.</a:t>
            </a:r>
            <a:endParaRPr lang="en-US" sz="3600" dirty="0"/>
          </a:p>
          <a:p>
            <a:pPr algn="l" indent="0" marL="0">
              <a:spcAft>
                <a:spcPts val="1300"/>
              </a:spcAft>
              <a:buNone/>
            </a:pPr>
            <a:r>
              <a:rPr lang="en-US" sz="3600" dirty="0">
                <a:solidFill>
                  <a:srgbClr val="2A201B"/>
                </a:solidFill>
                <a:latin typeface="Jost"/>
                <a:ea typeface="Jost"/>
                <a:cs typeface="Jost"/>
              </a:rPr>
              <a:t>That's </a:t>
            </a:r>
            <a:pPr algn="l" indent="0" marL="0">
              <a:spcAft>
                <a:spcPts val="1300"/>
              </a:spcAft>
              <a:buNone/>
            </a:pPr>
            <a:r>
              <a:rPr lang="en-US" sz="3600" b="1" dirty="0">
                <a:solidFill>
                  <a:srgbClr val="AD5A6E"/>
                </a:solidFill>
                <a:latin typeface="Jost"/>
                <a:ea typeface="Jost"/>
                <a:cs typeface="Jost"/>
              </a:rPr>
              <a:t>$510</a:t>
            </a:r>
            <a:pPr algn="l" indent="0" marL="0">
              <a:spcAft>
                <a:spcPts val="1300"/>
              </a:spcAft>
              <a:buNone/>
            </a:pPr>
            <a:r>
              <a:rPr lang="en-US" sz="3600" dirty="0">
                <a:solidFill>
                  <a:srgbClr val="2A201B"/>
                </a:solidFill>
                <a:latin typeface="Jost"/>
                <a:ea typeface="Jost"/>
                <a:cs typeface="Jost"/>
              </a:rPr>
              <a:t> more a year. Same client. Same visit.</a:t>
            </a:r>
            <a:endParaRPr lang="en-US" sz="3600" dirty="0"/>
          </a:p>
          <a:p>
            <a:pPr algn="l" indent="0" marL="0">
              <a:spcAft>
                <a:spcPts val="1300"/>
              </a:spcAft>
              <a:buNone/>
            </a:pPr>
            <a:r>
              <a:rPr lang="en-US" sz="3600" dirty="0">
                <a:solidFill>
                  <a:srgbClr val="2A201B"/>
                </a:solidFill>
                <a:latin typeface="Jost"/>
                <a:ea typeface="Jost"/>
                <a:cs typeface="Jost"/>
              </a:rPr>
              <a:t>I'm helping my client kill two birds with one stone.</a:t>
            </a:r>
            <a:endParaRPr lang="en-US" sz="3600" dirty="0"/>
          </a:p>
          <a:p>
            <a:pPr algn="l" indent="0" marL="0">
              <a:spcAft>
                <a:spcPts val="1300"/>
              </a:spcAft>
              <a:buNone/>
            </a:pPr>
            <a:r>
              <a:rPr lang="en-US" sz="3600" dirty="0">
                <a:solidFill>
                  <a:srgbClr val="2A201B"/>
                </a:solidFill>
                <a:latin typeface="Jost"/>
                <a:ea typeface="Jost"/>
                <a:cs typeface="Jost"/>
              </a:rPr>
              <a:t>Using skills and clients I already have.</a:t>
            </a:r>
            <a:endParaRPr lang="en-US" sz="36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17 × $30 = $510</a:t>
            </a:r>
            <a:endParaRPr lang="en-US" sz="22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122</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Here's what that add-on did in my studio last year:</a:t>
            </a:r>
            <a:endParaRPr lang="en-US" sz="5500" dirty="0"/>
          </a:p>
        </p:txBody>
      </p:sp>
      <p:pic>
        <p:nvPicPr>
          <p:cNvPr id="5" name="Image 0" descr="/home/claude/webinar/deck-img/acuity-brow-wax-tint-appointments.jpg">    </p:cNvPr>
          <p:cNvPicPr>
            <a:picLocks noChangeAspect="1"/>
          </p:cNvPicPr>
          <p:nvPr/>
        </p:nvPicPr>
        <p:blipFill>
          <a:blip r:embed="rId1"/>
          <a:stretch>
            <a:fillRect/>
          </a:stretch>
        </p:blipFill>
        <p:spPr>
          <a:xfrm>
            <a:off x="3477377" y="2651760"/>
            <a:ext cx="5236942" cy="118872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123</a:t>
            </a:r>
            <a:endParaRPr lang="en-US" sz="1000" dirty="0"/>
          </a:p>
        </p:txBody>
      </p:sp>
      <p:sp>
        <p:nvSpPr>
          <p:cNvPr id="4" name="Text 1"/>
          <p:cNvSpPr txBox="1"/>
          <p:nvPr/>
        </p:nvSpPr>
        <p:spPr>
          <a:xfrm>
            <a:off x="731520" y="640080"/>
            <a:ext cx="10728655" cy="173736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123 after-hours wax and tints × </a:t>
            </a:r>
            <a:pPr algn="l" indent="0" marL="0">
              <a:spcAft>
                <a:spcPts val="1900"/>
              </a:spcAft>
              <a:buNone/>
            </a:pPr>
            <a:r>
              <a:rPr lang="en-US" sz="5400" b="1" dirty="0">
                <a:solidFill>
                  <a:srgbClr val="AD5A6E"/>
                </a:solidFill>
                <a:latin typeface="Jost"/>
                <a:ea typeface="Jost"/>
                <a:cs typeface="Jost"/>
              </a:rPr>
              <a:t>$60</a:t>
            </a:r>
            <a:pPr algn="l" indent="0" marL="0">
              <a:spcAft>
                <a:spcPts val="1900"/>
              </a:spcAft>
              <a:buNone/>
            </a:pPr>
            <a:r>
              <a:rPr lang="en-US" sz="5400" b="1" dirty="0">
                <a:solidFill>
                  <a:srgbClr val="2A201B"/>
                </a:solidFill>
                <a:latin typeface="Jost"/>
                <a:ea typeface="Jost"/>
                <a:cs typeface="Jost"/>
              </a:rPr>
              <a:t> = </a:t>
            </a:r>
            <a:pPr algn="l" indent="0" marL="0">
              <a:spcAft>
                <a:spcPts val="1900"/>
              </a:spcAft>
              <a:buNone/>
            </a:pPr>
            <a:r>
              <a:rPr lang="en-US" sz="5400" b="1" dirty="0">
                <a:solidFill>
                  <a:srgbClr val="AD5A6E"/>
                </a:solidFill>
                <a:latin typeface="Jost"/>
                <a:ea typeface="Jost"/>
                <a:cs typeface="Jost"/>
              </a:rPr>
              <a:t>$7,380</a:t>
            </a:r>
            <a:endParaRPr lang="en-US" sz="5400" dirty="0"/>
          </a:p>
        </p:txBody>
      </p:sp>
      <p:pic>
        <p:nvPicPr>
          <p:cNvPr id="5" name="Image 0" descr="/home/claude/webinar/deck-img/acuity-brow-wax-tint-appointments.jpg">    </p:cNvPr>
          <p:cNvPicPr>
            <a:picLocks noChangeAspect="1"/>
          </p:cNvPicPr>
          <p:nvPr/>
        </p:nvPicPr>
        <p:blipFill>
          <a:blip r:embed="rId1"/>
          <a:stretch>
            <a:fillRect/>
          </a:stretch>
        </p:blipFill>
        <p:spPr>
          <a:xfrm>
            <a:off x="3477377" y="2651760"/>
            <a:ext cx="5236942" cy="118872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10 regular wax and tints × </a:t>
            </a:r>
            <a:pPr algn="l" indent="0" marL="0">
              <a:spcAft>
                <a:spcPts val="2100"/>
              </a:spcAft>
              <a:buNone/>
            </a:pPr>
            <a:r>
              <a:rPr lang="en-US" sz="6000" b="1" dirty="0">
                <a:solidFill>
                  <a:srgbClr val="AD5A6E"/>
                </a:solidFill>
                <a:latin typeface="Jost"/>
                <a:ea typeface="Jost"/>
                <a:cs typeface="Jost"/>
              </a:rPr>
              <a:t>$30</a:t>
            </a:r>
            <a:pPr algn="l" indent="0" marL="0">
              <a:spcAft>
                <a:spcPts val="2100"/>
              </a:spcAft>
              <a:buNone/>
            </a:pPr>
            <a:r>
              <a:rPr lang="en-US" sz="6000" b="1" dirty="0">
                <a:solidFill>
                  <a:srgbClr val="2A201B"/>
                </a:solidFill>
                <a:latin typeface="Jost"/>
                <a:ea typeface="Jost"/>
                <a:cs typeface="Jost"/>
              </a:rPr>
              <a:t> = </a:t>
            </a:r>
            <a:pPr algn="l" indent="0" marL="0">
              <a:spcAft>
                <a:spcPts val="2100"/>
              </a:spcAft>
              <a:buNone/>
            </a:pPr>
            <a:r>
              <a:rPr lang="en-US" sz="6000" b="1" dirty="0">
                <a:solidFill>
                  <a:srgbClr val="AD5A6E"/>
                </a:solidFill>
                <a:latin typeface="Jost"/>
                <a:ea typeface="Jost"/>
                <a:cs typeface="Jost"/>
              </a:rPr>
              <a:t>$300</a:t>
            </a:r>
            <a:endParaRPr lang="en-US" sz="60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$7,680</a:t>
            </a:r>
            <a:pPr algn="l" indent="0" marL="0">
              <a:spcAft>
                <a:spcPts val="2100"/>
              </a:spcAft>
              <a:buNone/>
            </a:pPr>
            <a:r>
              <a:rPr lang="en-US" sz="6000" b="1" dirty="0">
                <a:solidFill>
                  <a:srgbClr val="2A201B"/>
                </a:solidFill>
                <a:latin typeface="Jost"/>
                <a:ea typeface="Jost"/>
                <a:cs typeface="Jost"/>
              </a:rPr>
              <a:t> from one add-on.</a:t>
            </a:r>
            <a:endParaRPr lang="en-US" sz="6000" dirty="0"/>
          </a:p>
          <a:p>
            <a:pPr algn="l" indent="0" marL="0">
              <a:spcAft>
                <a:spcPts val="2100"/>
              </a:spcAft>
              <a:buNone/>
            </a:pPr>
            <a:r>
              <a:rPr lang="en-US" sz="6000" dirty="0">
                <a:solidFill>
                  <a:srgbClr val="FBF7F1"/>
                </a:solidFill>
                <a:latin typeface="Jost"/>
                <a:ea typeface="Jost"/>
                <a:cs typeface="Jost"/>
              </a:rPr>
              <a:t>Same clients. Skills I already had.</a:t>
            </a:r>
            <a:endParaRPr lang="en-US" sz="60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$7,680</a:t>
            </a:r>
            <a:pPr algn="l" indent="0" marL="0">
              <a:spcAft>
                <a:spcPts val="2100"/>
              </a:spcAft>
              <a:buNone/>
            </a:pPr>
            <a:r>
              <a:rPr lang="en-US" sz="6000" b="1" dirty="0">
                <a:solidFill>
                  <a:srgbClr val="2A201B"/>
                </a:solidFill>
                <a:latin typeface="Jost"/>
                <a:ea typeface="Jost"/>
                <a:cs typeface="Jost"/>
              </a:rPr>
              <a:t> from one add-on.</a:t>
            </a:r>
            <a:endParaRPr lang="en-US" sz="6000" dirty="0"/>
          </a:p>
          <a:p>
            <a:pPr algn="l" indent="0" marL="0">
              <a:spcAft>
                <a:spcPts val="2100"/>
              </a:spcAft>
              <a:buNone/>
            </a:pPr>
            <a:r>
              <a:rPr lang="en-US" sz="6000" dirty="0">
                <a:solidFill>
                  <a:srgbClr val="2A201B"/>
                </a:solidFill>
                <a:latin typeface="Jost"/>
                <a:ea typeface="Jost"/>
                <a:cs typeface="Jost"/>
              </a:rPr>
              <a:t>Same clients. Skills I already had.</a:t>
            </a:r>
            <a:endParaRPr lang="en-US" sz="60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And notice: </a:t>
            </a:r>
            <a:pPr algn="l" indent="0" marL="0">
              <a:spcAft>
                <a:spcPts val="2100"/>
              </a:spcAft>
              <a:buNone/>
            </a:pPr>
            <a:r>
              <a:rPr lang="en-US" sz="6000" dirty="0">
                <a:solidFill>
                  <a:srgbClr val="2A201B"/>
                </a:solidFill>
                <a:latin typeface="Jost"/>
                <a:ea typeface="Jost"/>
                <a:cs typeface="Jost"/>
              </a:rPr>
              <a:t>after 7 PM, that same wax and tint is </a:t>
            </a:r>
            <a:pPr algn="l" indent="0" marL="0">
              <a:spcAft>
                <a:spcPts val="2100"/>
              </a:spcAft>
              <a:buNone/>
            </a:pPr>
            <a:r>
              <a:rPr lang="en-US" sz="6000" b="1" dirty="0">
                <a:solidFill>
                  <a:srgbClr val="AD5A6E"/>
                </a:solidFill>
                <a:latin typeface="Jost"/>
                <a:ea typeface="Jost"/>
                <a:cs typeface="Jost"/>
              </a:rPr>
              <a:t>$60</a:t>
            </a:r>
            <a:pPr algn="l" indent="0" marL="0">
              <a:spcAft>
                <a:spcPts val="2100"/>
              </a:spcAft>
              <a:buNone/>
            </a:pPr>
            <a:r>
              <a:rPr lang="en-US" sz="6000" dirty="0">
                <a:solidFill>
                  <a:srgbClr val="2A201B"/>
                </a:solidFill>
                <a:latin typeface="Jost"/>
                <a:ea typeface="Jost"/>
                <a:cs typeface="Jost"/>
              </a:rPr>
              <a:t>.</a:t>
            </a:r>
            <a:endParaRPr lang="en-US" sz="6000" dirty="0"/>
          </a:p>
          <a:p>
            <a:pPr algn="l" indent="0" marL="0">
              <a:spcAft>
                <a:spcPts val="2100"/>
              </a:spcAft>
              <a:buNone/>
            </a:pPr>
            <a:r>
              <a:rPr lang="en-US" sz="6000" dirty="0">
                <a:solidFill>
                  <a:srgbClr val="FBF7F1"/>
                </a:solidFill>
                <a:latin typeface="Jost"/>
                <a:ea typeface="Jost"/>
                <a:cs typeface="Jost"/>
              </a:rPr>
              <a:t>Getting paid more for your time is a revenue opportunity too.</a:t>
            </a:r>
            <a:endParaRPr lang="en-US" sz="60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And notice: </a:t>
            </a:r>
            <a:pPr algn="l" indent="0" marL="0">
              <a:spcAft>
                <a:spcPts val="2100"/>
              </a:spcAft>
              <a:buNone/>
            </a:pPr>
            <a:r>
              <a:rPr lang="en-US" sz="6000" dirty="0">
                <a:solidFill>
                  <a:srgbClr val="2A201B"/>
                </a:solidFill>
                <a:latin typeface="Jost"/>
                <a:ea typeface="Jost"/>
                <a:cs typeface="Jost"/>
              </a:rPr>
              <a:t>after 7 PM, that same wax and tint is </a:t>
            </a:r>
            <a:pPr algn="l" indent="0" marL="0">
              <a:spcAft>
                <a:spcPts val="2100"/>
              </a:spcAft>
              <a:buNone/>
            </a:pPr>
            <a:r>
              <a:rPr lang="en-US" sz="6000" b="1" dirty="0">
                <a:solidFill>
                  <a:srgbClr val="AD5A6E"/>
                </a:solidFill>
                <a:latin typeface="Jost"/>
                <a:ea typeface="Jost"/>
                <a:cs typeface="Jost"/>
              </a:rPr>
              <a:t>$60</a:t>
            </a:r>
            <a:pPr algn="l" indent="0" marL="0">
              <a:spcAft>
                <a:spcPts val="2100"/>
              </a:spcAft>
              <a:buNone/>
            </a:pPr>
            <a:r>
              <a:rPr lang="en-US" sz="6000" dirty="0">
                <a:solidFill>
                  <a:srgbClr val="2A201B"/>
                </a:solidFill>
                <a:latin typeface="Jost"/>
                <a:ea typeface="Jost"/>
                <a:cs typeface="Jost"/>
              </a:rPr>
              <a:t>.</a:t>
            </a:r>
            <a:endParaRPr lang="en-US" sz="6000" dirty="0"/>
          </a:p>
          <a:p>
            <a:pPr algn="l" indent="0" marL="0">
              <a:spcAft>
                <a:spcPts val="2100"/>
              </a:spcAft>
              <a:buNone/>
            </a:pPr>
            <a:r>
              <a:rPr lang="en-US" sz="6000" dirty="0">
                <a:solidFill>
                  <a:srgbClr val="2A201B"/>
                </a:solidFill>
                <a:latin typeface="Jost"/>
                <a:ea typeface="Jost"/>
                <a:cs typeface="Jost"/>
              </a:rPr>
              <a:t>Getting paid more for your time is a revenue opportunity too.</a:t>
            </a:r>
            <a:endParaRPr lang="en-US" sz="60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But I see about 77 clients.</a:t>
            </a:r>
            <a:endParaRPr lang="en-US" sz="6000" dirty="0"/>
          </a:p>
          <a:p>
            <a:pPr algn="l" indent="0" marL="0">
              <a:spcAft>
                <a:spcPts val="2100"/>
              </a:spcAft>
              <a:buNone/>
            </a:pPr>
            <a:r>
              <a:rPr lang="en-US" sz="6000" dirty="0">
                <a:solidFill>
                  <a:srgbClr val="FBF7F1"/>
                </a:solidFill>
                <a:latin typeface="Jost"/>
                <a:ea typeface="Jost"/>
                <a:cs typeface="Jost"/>
              </a:rPr>
              <a:t>Say only half add it at every visit: 38 clients.</a:t>
            </a:r>
            <a:endParaRPr lang="en-US" sz="60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But I see about 77 clients.</a:t>
            </a:r>
            <a:endParaRPr lang="en-US" sz="6000" dirty="0"/>
          </a:p>
          <a:p>
            <a:pPr algn="l" indent="0" marL="0">
              <a:spcAft>
                <a:spcPts val="2100"/>
              </a:spcAft>
              <a:buNone/>
            </a:pPr>
            <a:r>
              <a:rPr lang="en-US" sz="6000" dirty="0">
                <a:solidFill>
                  <a:srgbClr val="2A201B"/>
                </a:solidFill>
                <a:latin typeface="Jost"/>
                <a:ea typeface="Jost"/>
                <a:cs typeface="Jost"/>
              </a:rPr>
              <a:t>Say only half add it at every visit: 38 clients.</a:t>
            </a:r>
            <a:endParaRPr lang="en-US" sz="60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38 × </a:t>
            </a:r>
            <a:pPr algn="l" indent="0" marL="0">
              <a:spcAft>
                <a:spcPts val="2100"/>
              </a:spcAft>
              <a:buNone/>
            </a:pPr>
            <a:r>
              <a:rPr lang="en-US" sz="6000" b="1" dirty="0">
                <a:solidFill>
                  <a:srgbClr val="AD5A6E"/>
                </a:solidFill>
                <a:latin typeface="Jost"/>
                <a:ea typeface="Jost"/>
                <a:cs typeface="Jost"/>
              </a:rPr>
              <a:t>$510</a:t>
            </a:r>
            <a:pPr algn="l" indent="0" marL="0">
              <a:spcAft>
                <a:spcPts val="2100"/>
              </a:spcAft>
              <a:buNone/>
            </a:pPr>
            <a:r>
              <a:rPr lang="en-US" sz="6000" b="1" dirty="0">
                <a:solidFill>
                  <a:srgbClr val="2A201B"/>
                </a:solidFill>
                <a:latin typeface="Jost"/>
                <a:ea typeface="Jost"/>
                <a:cs typeface="Jost"/>
              </a:rPr>
              <a:t> = </a:t>
            </a:r>
            <a:pPr algn="l" indent="0" marL="0">
              <a:spcAft>
                <a:spcPts val="2100"/>
              </a:spcAft>
              <a:buNone/>
            </a:pPr>
            <a:r>
              <a:rPr lang="en-US" sz="6000" b="1" dirty="0">
                <a:solidFill>
                  <a:srgbClr val="AD5A6E"/>
                </a:solidFill>
                <a:latin typeface="Jost"/>
                <a:ea typeface="Jost"/>
                <a:cs typeface="Jost"/>
              </a:rPr>
              <a:t>$19,380</a:t>
            </a:r>
            <a:pPr algn="l" indent="0" marL="0">
              <a:spcAft>
                <a:spcPts val="2100"/>
              </a:spcAft>
              <a:buNone/>
            </a:pPr>
            <a:r>
              <a:rPr lang="en-US" sz="6000" b="1" dirty="0">
                <a:solidFill>
                  <a:srgbClr val="2A201B"/>
                </a:solidFill>
                <a:latin typeface="Jost"/>
                <a:ea typeface="Jost"/>
                <a:cs typeface="Jost"/>
              </a:rPr>
              <a:t> a year.</a:t>
            </a:r>
            <a:endParaRPr lang="en-US" sz="60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$19,380</a:t>
            </a:r>
            <a:pPr algn="l" indent="0" marL="0">
              <a:spcAft>
                <a:spcPts val="2100"/>
              </a:spcAft>
              <a:buNone/>
            </a:pPr>
            <a:r>
              <a:rPr lang="en-US" sz="6000" b="1" dirty="0">
                <a:solidFill>
                  <a:srgbClr val="2A201B"/>
                </a:solidFill>
                <a:latin typeface="Jost"/>
                <a:ea typeface="Jost"/>
                <a:cs typeface="Jost"/>
              </a:rPr>
              <a:t> possible. </a:t>
            </a:r>
            <a:pPr algn="l" indent="0" marL="0">
              <a:spcAft>
                <a:spcPts val="2100"/>
              </a:spcAft>
              <a:buNone/>
            </a:pPr>
            <a:r>
              <a:rPr lang="en-US" sz="6000" b="1" dirty="0">
                <a:solidFill>
                  <a:srgbClr val="AD5A6E"/>
                </a:solidFill>
                <a:latin typeface="Jost"/>
                <a:ea typeface="Jost"/>
                <a:cs typeface="Jost"/>
              </a:rPr>
              <a:t>$7,680</a:t>
            </a:r>
            <a:pPr algn="l" indent="0" marL="0">
              <a:spcAft>
                <a:spcPts val="2100"/>
              </a:spcAft>
              <a:buNone/>
            </a:pPr>
            <a:r>
              <a:rPr lang="en-US" sz="6000" b="1" dirty="0">
                <a:solidFill>
                  <a:srgbClr val="2A201B"/>
                </a:solidFill>
                <a:latin typeface="Jost"/>
                <a:ea typeface="Jost"/>
                <a:cs typeface="Jost"/>
              </a:rPr>
              <a:t> made.</a:t>
            </a:r>
            <a:endParaRPr lang="en-US" sz="6000" dirty="0"/>
          </a:p>
          <a:p>
            <a:pPr algn="l" indent="0" marL="0">
              <a:spcAft>
                <a:spcPts val="2100"/>
              </a:spcAft>
              <a:buNone/>
            </a:pPr>
            <a:r>
              <a:rPr lang="en-US" sz="6000" dirty="0">
                <a:solidFill>
                  <a:srgbClr val="FBF7F1"/>
                </a:solidFill>
                <a:latin typeface="Jost"/>
                <a:ea typeface="Jost"/>
                <a:cs typeface="Jost"/>
              </a:rPr>
              <a:t>That </a:t>
            </a:r>
            <a:pPr algn="l" indent="0" marL="0">
              <a:spcAft>
                <a:spcPts val="2100"/>
              </a:spcAft>
              <a:buNone/>
            </a:pPr>
            <a:r>
              <a:rPr lang="en-US" sz="6000" b="1" dirty="0">
                <a:solidFill>
                  <a:srgbClr val="FBF7F1"/>
                </a:solidFill>
                <a:latin typeface="Jost"/>
                <a:ea typeface="Jost"/>
                <a:cs typeface="Jost"/>
              </a:rPr>
              <a:t>$11,700</a:t>
            </a:r>
            <a:pPr algn="l" indent="0" marL="0">
              <a:spcAft>
                <a:spcPts val="2100"/>
              </a:spcAft>
              <a:buNone/>
            </a:pPr>
            <a:r>
              <a:rPr lang="en-US" sz="6000" dirty="0">
                <a:solidFill>
                  <a:srgbClr val="FBF7F1"/>
                </a:solidFill>
                <a:latin typeface="Jost"/>
                <a:ea typeface="Jost"/>
                <a:cs typeface="Jost"/>
              </a:rPr>
              <a:t> gap is what I call the Invisible Leak.</a:t>
            </a:r>
            <a:endParaRPr lang="en-US" sz="60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129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$19,380</a:t>
            </a:r>
            <a:pPr algn="l" indent="0" marL="0">
              <a:spcAft>
                <a:spcPts val="2100"/>
              </a:spcAft>
              <a:buNone/>
            </a:pPr>
            <a:r>
              <a:rPr lang="en-US" sz="6000" b="1" dirty="0">
                <a:solidFill>
                  <a:srgbClr val="2A201B"/>
                </a:solidFill>
                <a:latin typeface="Jost"/>
                <a:ea typeface="Jost"/>
                <a:cs typeface="Jost"/>
              </a:rPr>
              <a:t> possible. </a:t>
            </a:r>
            <a:pPr algn="l" indent="0" marL="0">
              <a:spcAft>
                <a:spcPts val="2100"/>
              </a:spcAft>
              <a:buNone/>
            </a:pPr>
            <a:r>
              <a:rPr lang="en-US" sz="6000" b="1" dirty="0">
                <a:solidFill>
                  <a:srgbClr val="AD5A6E"/>
                </a:solidFill>
                <a:latin typeface="Jost"/>
                <a:ea typeface="Jost"/>
                <a:cs typeface="Jost"/>
              </a:rPr>
              <a:t>$7,680</a:t>
            </a:r>
            <a:pPr algn="l" indent="0" marL="0">
              <a:spcAft>
                <a:spcPts val="2100"/>
              </a:spcAft>
              <a:buNone/>
            </a:pPr>
            <a:r>
              <a:rPr lang="en-US" sz="6000" b="1" dirty="0">
                <a:solidFill>
                  <a:srgbClr val="2A201B"/>
                </a:solidFill>
                <a:latin typeface="Jost"/>
                <a:ea typeface="Jost"/>
                <a:cs typeface="Jost"/>
              </a:rPr>
              <a:t> made.</a:t>
            </a:r>
            <a:endParaRPr lang="en-US" sz="6000" dirty="0"/>
          </a:p>
          <a:p>
            <a:pPr algn="l" indent="0" marL="0">
              <a:spcAft>
                <a:spcPts val="2100"/>
              </a:spcAft>
              <a:buNone/>
            </a:pPr>
            <a:r>
              <a:rPr lang="en-US" sz="6000" dirty="0">
                <a:solidFill>
                  <a:srgbClr val="2A201B"/>
                </a:solidFill>
                <a:latin typeface="Jost"/>
                <a:ea typeface="Jost"/>
                <a:cs typeface="Jost"/>
              </a:rPr>
              <a:t>That </a:t>
            </a:r>
            <a:pPr algn="l" indent="0" marL="0">
              <a:spcAft>
                <a:spcPts val="2100"/>
              </a:spcAft>
              <a:buNone/>
            </a:pPr>
            <a:r>
              <a:rPr lang="en-US" sz="6000" b="1" dirty="0">
                <a:solidFill>
                  <a:srgbClr val="AD5A6E"/>
                </a:solidFill>
                <a:latin typeface="Jost"/>
                <a:ea typeface="Jost"/>
                <a:cs typeface="Jost"/>
              </a:rPr>
              <a:t>$11,700</a:t>
            </a:r>
            <a:pPr algn="l" indent="0" marL="0">
              <a:spcAft>
                <a:spcPts val="2100"/>
              </a:spcAft>
              <a:buNone/>
            </a:pPr>
            <a:r>
              <a:rPr lang="en-US" sz="6000" dirty="0">
                <a:solidFill>
                  <a:srgbClr val="2A201B"/>
                </a:solidFill>
                <a:latin typeface="Jost"/>
                <a:ea typeface="Jost"/>
                <a:cs typeface="Jost"/>
              </a:rPr>
              <a:t> gap is what I call the Invisible Leak.</a:t>
            </a:r>
            <a:endParaRPr lang="en-US" sz="60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It's not money you have to find.</a:t>
            </a:r>
            <a:endParaRPr lang="en-US" sz="6900" dirty="0"/>
          </a:p>
          <a:p>
            <a:pPr algn="l" indent="0" marL="0">
              <a:spcAft>
                <a:spcPts val="2100"/>
              </a:spcAft>
              <a:buNone/>
            </a:pPr>
            <a:r>
              <a:rPr lang="en-US" sz="6000" dirty="0">
                <a:solidFill>
                  <a:srgbClr val="FBF7F1"/>
                </a:solidFill>
                <a:latin typeface="Jost"/>
                <a:ea typeface="Jost"/>
                <a:cs typeface="Jost"/>
              </a:rPr>
              <a:t>It's money already walking out your door.</a:t>
            </a:r>
            <a:endParaRPr lang="en-US" sz="60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It's not money you have to find.</a:t>
            </a:r>
            <a:endParaRPr lang="en-US" sz="6900" dirty="0"/>
          </a:p>
          <a:p>
            <a:pPr algn="l" indent="0" marL="0">
              <a:spcAft>
                <a:spcPts val="2100"/>
              </a:spcAft>
              <a:buNone/>
            </a:pPr>
            <a:r>
              <a:rPr lang="en-US" sz="6000" dirty="0">
                <a:solidFill>
                  <a:srgbClr val="2A201B"/>
                </a:solidFill>
                <a:latin typeface="Jost"/>
                <a:ea typeface="Jost"/>
                <a:cs typeface="Jost"/>
              </a:rPr>
              <a:t>It's money already walking out your door.</a:t>
            </a:r>
            <a:endParaRPr lang="en-US" sz="60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how do you find your next revenue opportunity?</a:t>
            </a:r>
            <a:endParaRPr lang="en-US" sz="6900" dirty="0"/>
          </a:p>
          <a:p>
            <a:pPr algn="l" indent="0" marL="0">
              <a:spcAft>
                <a:spcPts val="2100"/>
              </a:spcAft>
              <a:buNone/>
            </a:pPr>
            <a:r>
              <a:rPr lang="en-US" sz="6000" dirty="0">
                <a:solidFill>
                  <a:srgbClr val="2A201B"/>
                </a:solidFill>
                <a:latin typeface="Jost"/>
                <a:ea typeface="Jost"/>
                <a:cs typeface="Jost"/>
              </a:rPr>
              <a:t>There are 3 directions you can grow.</a:t>
            </a:r>
            <a:endParaRPr lang="en-US" sz="60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5400" b="1" dirty="0">
                <a:solidFill>
                  <a:srgbClr val="AD5A6E"/>
                </a:solidFill>
                <a:latin typeface="Jost"/>
                <a:ea typeface="Jost"/>
                <a:cs typeface="Jost"/>
              </a:rPr>
              <a:t>Direction 1: </a:t>
            </a:r>
            <a:pPr algn="l" indent="0" marL="0">
              <a:spcAft>
                <a:spcPts val="1900"/>
              </a:spcAft>
              <a:buNone/>
            </a:pPr>
            <a:r>
              <a:rPr lang="en-US" sz="5400" dirty="0">
                <a:solidFill>
                  <a:srgbClr val="2A201B"/>
                </a:solidFill>
                <a:latin typeface="Jost"/>
                <a:ea typeface="Jost"/>
                <a:cs typeface="Jost"/>
              </a:rPr>
              <a:t>Go deeper</a:t>
            </a:r>
            <a:endParaRPr lang="en-US" sz="5400" dirty="0"/>
          </a:p>
          <a:p>
            <a:pPr algn="l" indent="0" marL="0">
              <a:spcAft>
                <a:spcPts val="1900"/>
              </a:spcAft>
              <a:buNone/>
            </a:pPr>
            <a:r>
              <a:rPr lang="en-US" sz="5400" dirty="0">
                <a:solidFill>
                  <a:srgbClr val="2A201B"/>
                </a:solidFill>
                <a:latin typeface="Jost"/>
                <a:ea typeface="Jost"/>
                <a:cs typeface="Jost"/>
              </a:rPr>
              <a:t>More value for the clients you already have.</a:t>
            </a:r>
            <a:endParaRPr lang="en-US" sz="5400" dirty="0"/>
          </a:p>
          <a:p>
            <a:pPr algn="l" indent="0" marL="0">
              <a:spcAft>
                <a:spcPts val="1900"/>
              </a:spcAft>
              <a:buNone/>
            </a:pPr>
            <a:r>
              <a:rPr lang="en-US" sz="5400" dirty="0">
                <a:solidFill>
                  <a:srgbClr val="2A201B"/>
                </a:solidFill>
                <a:latin typeface="Jost"/>
                <a:ea typeface="Jost"/>
                <a:cs typeface="Jost"/>
              </a:rPr>
              <a:t>Stop selling just one service. Start solving the whole problem.</a:t>
            </a:r>
            <a:endParaRPr lang="en-US" sz="54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Lash artist: </a:t>
            </a:r>
            <a:pPr algn="l" indent="0" marL="0">
              <a:spcAft>
                <a:spcPts val="1100"/>
              </a:spcAft>
              <a:buNone/>
            </a:pPr>
            <a:r>
              <a:rPr lang="en-US" sz="3200" dirty="0">
                <a:solidFill>
                  <a:srgbClr val="2A201B"/>
                </a:solidFill>
                <a:latin typeface="Jost"/>
                <a:ea typeface="Jost"/>
                <a:cs typeface="Jost"/>
              </a:rPr>
              <a:t>Add a brow service to the same booking</a:t>
            </a:r>
            <a:endParaRPr lang="en-US" sz="3200" dirty="0"/>
          </a:p>
          <a:p>
            <a:pPr algn="l" indent="0" marL="0">
              <a:spcAft>
                <a:spcPts val="1100"/>
              </a:spcAft>
              <a:buNone/>
            </a:pPr>
            <a:r>
              <a:rPr lang="en-US" sz="3200" b="1" dirty="0">
                <a:solidFill>
                  <a:srgbClr val="FBF7F1"/>
                </a:solidFill>
                <a:latin typeface="Jost"/>
                <a:ea typeface="Jost"/>
                <a:cs typeface="Jost"/>
              </a:rPr>
              <a:t>Hairstylist: </a:t>
            </a:r>
            <a:pPr algn="l" indent="0" marL="0">
              <a:spcAft>
                <a:spcPts val="1100"/>
              </a:spcAft>
              <a:buNone/>
            </a:pPr>
            <a:r>
              <a:rPr lang="en-US" sz="3200" dirty="0">
                <a:solidFill>
                  <a:srgbClr val="FBF7F1"/>
                </a:solidFill>
                <a:latin typeface="Jost"/>
                <a:ea typeface="Jost"/>
                <a:cs typeface="Jost"/>
              </a:rPr>
              <a:t>Packages or a recurring treatment plan for the health of their natural hair</a:t>
            </a:r>
            <a:endParaRPr lang="en-US" sz="3200" dirty="0"/>
          </a:p>
          <a:p>
            <a:pPr algn="l" indent="0" marL="0">
              <a:spcAft>
                <a:spcPts val="1100"/>
              </a:spcAft>
              <a:buNone/>
            </a:pPr>
            <a:r>
              <a:rPr lang="en-US" sz="3200" b="1" dirty="0">
                <a:solidFill>
                  <a:srgbClr val="FBF7F1"/>
                </a:solidFill>
                <a:latin typeface="Jost"/>
                <a:ea typeface="Jost"/>
                <a:cs typeface="Jost"/>
              </a:rPr>
              <a:t>Nail tech: </a:t>
            </a:r>
            <a:pPr algn="l" indent="0" marL="0">
              <a:spcAft>
                <a:spcPts val="1100"/>
              </a:spcAft>
              <a:buNone/>
            </a:pPr>
            <a:r>
              <a:rPr lang="en-US" sz="3200" dirty="0">
                <a:solidFill>
                  <a:srgbClr val="FBF7F1"/>
                </a:solidFill>
                <a:latin typeface="Jost"/>
                <a:ea typeface="Jost"/>
                <a:cs typeface="Jost"/>
              </a:rPr>
              <a:t>Move basic manicures into structured gel overlays, and send them home with cuticle oil</a:t>
            </a:r>
            <a:endParaRPr lang="en-US" sz="3200" dirty="0"/>
          </a:p>
          <a:p>
            <a:pPr algn="l" indent="0" marL="0">
              <a:spcAft>
                <a:spcPts val="1100"/>
              </a:spcAft>
              <a:buNone/>
            </a:pPr>
            <a:r>
              <a:rPr lang="en-US" sz="3200" b="1" dirty="0">
                <a:solidFill>
                  <a:srgbClr val="FBF7F1"/>
                </a:solidFill>
                <a:latin typeface="Jost"/>
                <a:ea typeface="Jost"/>
                <a:cs typeface="Jost"/>
              </a:rPr>
              <a:t>Esthetician: </a:t>
            </a:r>
            <a:pPr algn="l" indent="0" marL="0">
              <a:spcAft>
                <a:spcPts val="1100"/>
              </a:spcAft>
              <a:buNone/>
            </a:pPr>
            <a:r>
              <a:rPr lang="en-US" sz="3200" dirty="0">
                <a:solidFill>
                  <a:srgbClr val="FBF7F1"/>
                </a:solidFill>
                <a:latin typeface="Jost"/>
                <a:ea typeface="Jost"/>
                <a:cs typeface="Jost"/>
              </a:rPr>
              <a:t>Turn a one-time facial into a monthly membership with a home-care routine</a:t>
            </a:r>
            <a:endParaRPr lang="en-US" sz="32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Lash artist: </a:t>
            </a:r>
            <a:pPr algn="l" indent="0" marL="0">
              <a:spcAft>
                <a:spcPts val="1100"/>
              </a:spcAft>
              <a:buNone/>
            </a:pPr>
            <a:r>
              <a:rPr lang="en-US" sz="3200" dirty="0">
                <a:solidFill>
                  <a:srgbClr val="2A201B"/>
                </a:solidFill>
                <a:latin typeface="Jost"/>
                <a:ea typeface="Jost"/>
                <a:cs typeface="Jost"/>
              </a:rPr>
              <a:t>Add a brow service to the same booking</a:t>
            </a:r>
            <a:endParaRPr lang="en-US" sz="3200" dirty="0"/>
          </a:p>
          <a:p>
            <a:pPr algn="l" indent="0" marL="0">
              <a:spcAft>
                <a:spcPts val="1100"/>
              </a:spcAft>
              <a:buNone/>
            </a:pPr>
            <a:r>
              <a:rPr lang="en-US" sz="3200" b="1" dirty="0">
                <a:solidFill>
                  <a:srgbClr val="AD5A6E"/>
                </a:solidFill>
                <a:latin typeface="Jost"/>
                <a:ea typeface="Jost"/>
                <a:cs typeface="Jost"/>
              </a:rPr>
              <a:t>Hairstylist: </a:t>
            </a:r>
            <a:pPr algn="l" indent="0" marL="0">
              <a:spcAft>
                <a:spcPts val="1100"/>
              </a:spcAft>
              <a:buNone/>
            </a:pPr>
            <a:r>
              <a:rPr lang="en-US" sz="3200" dirty="0">
                <a:solidFill>
                  <a:srgbClr val="2A201B"/>
                </a:solidFill>
                <a:latin typeface="Jost"/>
                <a:ea typeface="Jost"/>
                <a:cs typeface="Jost"/>
              </a:rPr>
              <a:t>Packages or a recurring treatment plan for the health of their natural hair</a:t>
            </a:r>
            <a:endParaRPr lang="en-US" sz="3200" dirty="0"/>
          </a:p>
          <a:p>
            <a:pPr algn="l" indent="0" marL="0">
              <a:spcAft>
                <a:spcPts val="1100"/>
              </a:spcAft>
              <a:buNone/>
            </a:pPr>
            <a:r>
              <a:rPr lang="en-US" sz="3200" b="1" dirty="0">
                <a:solidFill>
                  <a:srgbClr val="FBF7F1"/>
                </a:solidFill>
                <a:latin typeface="Jost"/>
                <a:ea typeface="Jost"/>
                <a:cs typeface="Jost"/>
              </a:rPr>
              <a:t>Nail tech: </a:t>
            </a:r>
            <a:pPr algn="l" indent="0" marL="0">
              <a:spcAft>
                <a:spcPts val="1100"/>
              </a:spcAft>
              <a:buNone/>
            </a:pPr>
            <a:r>
              <a:rPr lang="en-US" sz="3200" dirty="0">
                <a:solidFill>
                  <a:srgbClr val="FBF7F1"/>
                </a:solidFill>
                <a:latin typeface="Jost"/>
                <a:ea typeface="Jost"/>
                <a:cs typeface="Jost"/>
              </a:rPr>
              <a:t>Move basic manicures into structured gel overlays, and send them home with cuticle oil</a:t>
            </a:r>
            <a:endParaRPr lang="en-US" sz="3200" dirty="0"/>
          </a:p>
          <a:p>
            <a:pPr algn="l" indent="0" marL="0">
              <a:spcAft>
                <a:spcPts val="1100"/>
              </a:spcAft>
              <a:buNone/>
            </a:pPr>
            <a:r>
              <a:rPr lang="en-US" sz="3200" b="1" dirty="0">
                <a:solidFill>
                  <a:srgbClr val="FBF7F1"/>
                </a:solidFill>
                <a:latin typeface="Jost"/>
                <a:ea typeface="Jost"/>
                <a:cs typeface="Jost"/>
              </a:rPr>
              <a:t>Esthetician: </a:t>
            </a:r>
            <a:pPr algn="l" indent="0" marL="0">
              <a:spcAft>
                <a:spcPts val="1100"/>
              </a:spcAft>
              <a:buNone/>
            </a:pPr>
            <a:r>
              <a:rPr lang="en-US" sz="3200" dirty="0">
                <a:solidFill>
                  <a:srgbClr val="FBF7F1"/>
                </a:solidFill>
                <a:latin typeface="Jost"/>
                <a:ea typeface="Jost"/>
                <a:cs typeface="Jost"/>
              </a:rPr>
              <a:t>Turn a one-time facial into a monthly membership with a home-care routine</a:t>
            </a:r>
            <a:endParaRPr lang="en-US" sz="32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Lash artist: </a:t>
            </a:r>
            <a:pPr algn="l" indent="0" marL="0">
              <a:spcAft>
                <a:spcPts val="1100"/>
              </a:spcAft>
              <a:buNone/>
            </a:pPr>
            <a:r>
              <a:rPr lang="en-US" sz="3200" dirty="0">
                <a:solidFill>
                  <a:srgbClr val="2A201B"/>
                </a:solidFill>
                <a:latin typeface="Jost"/>
                <a:ea typeface="Jost"/>
                <a:cs typeface="Jost"/>
              </a:rPr>
              <a:t>Add a brow service to the same booking</a:t>
            </a:r>
            <a:endParaRPr lang="en-US" sz="3200" dirty="0"/>
          </a:p>
          <a:p>
            <a:pPr algn="l" indent="0" marL="0">
              <a:spcAft>
                <a:spcPts val="1100"/>
              </a:spcAft>
              <a:buNone/>
            </a:pPr>
            <a:r>
              <a:rPr lang="en-US" sz="3200" b="1" dirty="0">
                <a:solidFill>
                  <a:srgbClr val="AD5A6E"/>
                </a:solidFill>
                <a:latin typeface="Jost"/>
                <a:ea typeface="Jost"/>
                <a:cs typeface="Jost"/>
              </a:rPr>
              <a:t>Hairstylist: </a:t>
            </a:r>
            <a:pPr algn="l" indent="0" marL="0">
              <a:spcAft>
                <a:spcPts val="1100"/>
              </a:spcAft>
              <a:buNone/>
            </a:pPr>
            <a:r>
              <a:rPr lang="en-US" sz="3200" dirty="0">
                <a:solidFill>
                  <a:srgbClr val="2A201B"/>
                </a:solidFill>
                <a:latin typeface="Jost"/>
                <a:ea typeface="Jost"/>
                <a:cs typeface="Jost"/>
              </a:rPr>
              <a:t>Packages or a recurring treatment plan for the health of their natural hair</a:t>
            </a:r>
            <a:endParaRPr lang="en-US" sz="3200" dirty="0"/>
          </a:p>
          <a:p>
            <a:pPr algn="l" indent="0" marL="0">
              <a:spcAft>
                <a:spcPts val="1100"/>
              </a:spcAft>
              <a:buNone/>
            </a:pPr>
            <a:r>
              <a:rPr lang="en-US" sz="3200" b="1" dirty="0">
                <a:solidFill>
                  <a:srgbClr val="AD5A6E"/>
                </a:solidFill>
                <a:latin typeface="Jost"/>
                <a:ea typeface="Jost"/>
                <a:cs typeface="Jost"/>
              </a:rPr>
              <a:t>Nail tech: </a:t>
            </a:r>
            <a:pPr algn="l" indent="0" marL="0">
              <a:spcAft>
                <a:spcPts val="1100"/>
              </a:spcAft>
              <a:buNone/>
            </a:pPr>
            <a:r>
              <a:rPr lang="en-US" sz="3200" dirty="0">
                <a:solidFill>
                  <a:srgbClr val="2A201B"/>
                </a:solidFill>
                <a:latin typeface="Jost"/>
                <a:ea typeface="Jost"/>
                <a:cs typeface="Jost"/>
              </a:rPr>
              <a:t>Move basic manicures into structured gel overlays, and send them home with cuticle oil</a:t>
            </a:r>
            <a:endParaRPr lang="en-US" sz="3200" dirty="0"/>
          </a:p>
          <a:p>
            <a:pPr algn="l" indent="0" marL="0">
              <a:spcAft>
                <a:spcPts val="1100"/>
              </a:spcAft>
              <a:buNone/>
            </a:pPr>
            <a:r>
              <a:rPr lang="en-US" sz="3200" b="1" dirty="0">
                <a:solidFill>
                  <a:srgbClr val="FBF7F1"/>
                </a:solidFill>
                <a:latin typeface="Jost"/>
                <a:ea typeface="Jost"/>
                <a:cs typeface="Jost"/>
              </a:rPr>
              <a:t>Esthetician: </a:t>
            </a:r>
            <a:pPr algn="l" indent="0" marL="0">
              <a:spcAft>
                <a:spcPts val="1100"/>
              </a:spcAft>
              <a:buNone/>
            </a:pPr>
            <a:r>
              <a:rPr lang="en-US" sz="3200" dirty="0">
                <a:solidFill>
                  <a:srgbClr val="FBF7F1"/>
                </a:solidFill>
                <a:latin typeface="Jost"/>
                <a:ea typeface="Jost"/>
                <a:cs typeface="Jost"/>
              </a:rPr>
              <a:t>Turn a one-time facial into a monthly membership with a home-care routine</a:t>
            </a:r>
            <a:endParaRPr lang="en-US" sz="32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Lash artist: </a:t>
            </a:r>
            <a:pPr algn="l" indent="0" marL="0">
              <a:spcAft>
                <a:spcPts val="1100"/>
              </a:spcAft>
              <a:buNone/>
            </a:pPr>
            <a:r>
              <a:rPr lang="en-US" sz="3200" dirty="0">
                <a:solidFill>
                  <a:srgbClr val="2A201B"/>
                </a:solidFill>
                <a:latin typeface="Jost"/>
                <a:ea typeface="Jost"/>
                <a:cs typeface="Jost"/>
              </a:rPr>
              <a:t>Add a brow service to the same booking</a:t>
            </a:r>
            <a:endParaRPr lang="en-US" sz="3200" dirty="0"/>
          </a:p>
          <a:p>
            <a:pPr algn="l" indent="0" marL="0">
              <a:spcAft>
                <a:spcPts val="1100"/>
              </a:spcAft>
              <a:buNone/>
            </a:pPr>
            <a:r>
              <a:rPr lang="en-US" sz="3200" b="1" dirty="0">
                <a:solidFill>
                  <a:srgbClr val="AD5A6E"/>
                </a:solidFill>
                <a:latin typeface="Jost"/>
                <a:ea typeface="Jost"/>
                <a:cs typeface="Jost"/>
              </a:rPr>
              <a:t>Hairstylist: </a:t>
            </a:r>
            <a:pPr algn="l" indent="0" marL="0">
              <a:spcAft>
                <a:spcPts val="1100"/>
              </a:spcAft>
              <a:buNone/>
            </a:pPr>
            <a:r>
              <a:rPr lang="en-US" sz="3200" dirty="0">
                <a:solidFill>
                  <a:srgbClr val="2A201B"/>
                </a:solidFill>
                <a:latin typeface="Jost"/>
                <a:ea typeface="Jost"/>
                <a:cs typeface="Jost"/>
              </a:rPr>
              <a:t>Packages or a recurring treatment plan for the health of their natural hair</a:t>
            </a:r>
            <a:endParaRPr lang="en-US" sz="3200" dirty="0"/>
          </a:p>
          <a:p>
            <a:pPr algn="l" indent="0" marL="0">
              <a:spcAft>
                <a:spcPts val="1100"/>
              </a:spcAft>
              <a:buNone/>
            </a:pPr>
            <a:r>
              <a:rPr lang="en-US" sz="3200" b="1" dirty="0">
                <a:solidFill>
                  <a:srgbClr val="AD5A6E"/>
                </a:solidFill>
                <a:latin typeface="Jost"/>
                <a:ea typeface="Jost"/>
                <a:cs typeface="Jost"/>
              </a:rPr>
              <a:t>Nail tech: </a:t>
            </a:r>
            <a:pPr algn="l" indent="0" marL="0">
              <a:spcAft>
                <a:spcPts val="1100"/>
              </a:spcAft>
              <a:buNone/>
            </a:pPr>
            <a:r>
              <a:rPr lang="en-US" sz="3200" dirty="0">
                <a:solidFill>
                  <a:srgbClr val="2A201B"/>
                </a:solidFill>
                <a:latin typeface="Jost"/>
                <a:ea typeface="Jost"/>
                <a:cs typeface="Jost"/>
              </a:rPr>
              <a:t>Move basic manicures into structured gel overlays, and send them home with cuticle oil</a:t>
            </a:r>
            <a:endParaRPr lang="en-US" sz="3200" dirty="0"/>
          </a:p>
          <a:p>
            <a:pPr algn="l" indent="0" marL="0">
              <a:spcAft>
                <a:spcPts val="1100"/>
              </a:spcAft>
              <a:buNone/>
            </a:pPr>
            <a:r>
              <a:rPr lang="en-US" sz="3200" b="1" dirty="0">
                <a:solidFill>
                  <a:srgbClr val="AD5A6E"/>
                </a:solidFill>
                <a:latin typeface="Jost"/>
                <a:ea typeface="Jost"/>
                <a:cs typeface="Jost"/>
              </a:rPr>
              <a:t>Esthetician: </a:t>
            </a:r>
            <a:pPr algn="l" indent="0" marL="0">
              <a:spcAft>
                <a:spcPts val="1100"/>
              </a:spcAft>
              <a:buNone/>
            </a:pPr>
            <a:r>
              <a:rPr lang="en-US" sz="3200" dirty="0">
                <a:solidFill>
                  <a:srgbClr val="2A201B"/>
                </a:solidFill>
                <a:latin typeface="Jost"/>
                <a:ea typeface="Jost"/>
                <a:cs typeface="Jost"/>
              </a:rPr>
              <a:t>Turn a one-time facial into a monthly membership with a home-care routine</a:t>
            </a:r>
            <a:endParaRPr lang="en-US" sz="32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Direction 2: </a:t>
            </a:r>
            <a:pPr algn="l" indent="0" marL="0">
              <a:spcAft>
                <a:spcPts val="1300"/>
              </a:spcAft>
              <a:buNone/>
            </a:pPr>
            <a:r>
              <a:rPr lang="en-US" sz="3600" dirty="0">
                <a:solidFill>
                  <a:srgbClr val="2A201B"/>
                </a:solidFill>
                <a:latin typeface="Jost"/>
                <a:ea typeface="Jost"/>
                <a:cs typeface="Jost"/>
              </a:rPr>
              <a:t>Go wider</a:t>
            </a:r>
            <a:endParaRPr lang="en-US" sz="3600" dirty="0"/>
          </a:p>
          <a:p>
            <a:pPr algn="l" indent="0" marL="0">
              <a:spcAft>
                <a:spcPts val="1300"/>
              </a:spcAft>
              <a:buNone/>
            </a:pPr>
            <a:r>
              <a:rPr lang="en-US" sz="3600" dirty="0">
                <a:solidFill>
                  <a:srgbClr val="FBF7F1"/>
                </a:solidFill>
                <a:latin typeface="Jost"/>
                <a:ea typeface="Jost"/>
                <a:cs typeface="Jost"/>
              </a:rPr>
              <a:t>The same skills, for a new audience.</a:t>
            </a:r>
            <a:endParaRPr lang="en-US" sz="3600" dirty="0"/>
          </a:p>
          <a:p>
            <a:pPr algn="l" indent="0" marL="0">
              <a:spcAft>
                <a:spcPts val="1300"/>
              </a:spcAft>
              <a:buNone/>
            </a:pPr>
            <a:r>
              <a:rPr lang="en-US" sz="3600" dirty="0">
                <a:solidFill>
                  <a:srgbClr val="FBF7F1"/>
                </a:solidFill>
                <a:latin typeface="Jost"/>
                <a:ea typeface="Jost"/>
                <a:cs typeface="Jost"/>
              </a:rPr>
              <a:t>When other pros start asking how you do what you do, that's training, mentoring, or teaching classes.</a:t>
            </a:r>
            <a:endParaRPr lang="en-US" sz="3600" dirty="0"/>
          </a:p>
          <a:p>
            <a:pPr algn="l" indent="0" marL="0">
              <a:spcAft>
                <a:spcPts val="1300"/>
              </a:spcAft>
              <a:buNone/>
            </a:pPr>
            <a:r>
              <a:rPr lang="en-US" sz="3600" dirty="0">
                <a:solidFill>
                  <a:srgbClr val="FBF7F1"/>
                </a:solidFill>
                <a:latin typeface="Jost"/>
                <a:ea typeface="Jost"/>
                <a:cs typeface="Jost"/>
              </a:rPr>
              <a:t>You're not learning a new skill. You're teaching the one you already have.</a:t>
            </a:r>
            <a:endParaRPr lang="en-US" sz="36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Direction 2: </a:t>
            </a:r>
            <a:pPr algn="l" indent="0" marL="0">
              <a:spcAft>
                <a:spcPts val="1300"/>
              </a:spcAft>
              <a:buNone/>
            </a:pPr>
            <a:r>
              <a:rPr lang="en-US" sz="3600" dirty="0">
                <a:solidFill>
                  <a:srgbClr val="2A201B"/>
                </a:solidFill>
                <a:latin typeface="Jost"/>
                <a:ea typeface="Jost"/>
                <a:cs typeface="Jost"/>
              </a:rPr>
              <a:t>Go wider</a:t>
            </a:r>
            <a:endParaRPr lang="en-US" sz="3600" dirty="0"/>
          </a:p>
          <a:p>
            <a:pPr algn="l" indent="0" marL="0">
              <a:spcAft>
                <a:spcPts val="1300"/>
              </a:spcAft>
              <a:buNone/>
            </a:pPr>
            <a:r>
              <a:rPr lang="en-US" sz="3600" dirty="0">
                <a:solidFill>
                  <a:srgbClr val="2A201B"/>
                </a:solidFill>
                <a:latin typeface="Jost"/>
                <a:ea typeface="Jost"/>
                <a:cs typeface="Jost"/>
              </a:rPr>
              <a:t>The same skills, for a new audience.</a:t>
            </a:r>
            <a:endParaRPr lang="en-US" sz="3600" dirty="0"/>
          </a:p>
          <a:p>
            <a:pPr algn="l" indent="0" marL="0">
              <a:spcAft>
                <a:spcPts val="1300"/>
              </a:spcAft>
              <a:buNone/>
            </a:pPr>
            <a:r>
              <a:rPr lang="en-US" sz="3600" dirty="0">
                <a:solidFill>
                  <a:srgbClr val="FBF7F1"/>
                </a:solidFill>
                <a:latin typeface="Jost"/>
                <a:ea typeface="Jost"/>
                <a:cs typeface="Jost"/>
              </a:rPr>
              <a:t>When other pros start asking how you do what you do, that's training, mentoring, or teaching classes.</a:t>
            </a:r>
            <a:endParaRPr lang="en-US" sz="3600" dirty="0"/>
          </a:p>
          <a:p>
            <a:pPr algn="l" indent="0" marL="0">
              <a:spcAft>
                <a:spcPts val="1300"/>
              </a:spcAft>
              <a:buNone/>
            </a:pPr>
            <a:r>
              <a:rPr lang="en-US" sz="3600" dirty="0">
                <a:solidFill>
                  <a:srgbClr val="FBF7F1"/>
                </a:solidFill>
                <a:latin typeface="Jost"/>
                <a:ea typeface="Jost"/>
                <a:cs typeface="Jost"/>
              </a:rPr>
              <a:t>You're not learning a new skill. You're teaching the one you already have.</a:t>
            </a:r>
            <a:endParaRPr lang="en-US" sz="36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Direction 2: </a:t>
            </a:r>
            <a:pPr algn="l" indent="0" marL="0">
              <a:spcAft>
                <a:spcPts val="1300"/>
              </a:spcAft>
              <a:buNone/>
            </a:pPr>
            <a:r>
              <a:rPr lang="en-US" sz="3600" dirty="0">
                <a:solidFill>
                  <a:srgbClr val="2A201B"/>
                </a:solidFill>
                <a:latin typeface="Jost"/>
                <a:ea typeface="Jost"/>
                <a:cs typeface="Jost"/>
              </a:rPr>
              <a:t>Go wider</a:t>
            </a:r>
            <a:endParaRPr lang="en-US" sz="3600" dirty="0"/>
          </a:p>
          <a:p>
            <a:pPr algn="l" indent="0" marL="0">
              <a:spcAft>
                <a:spcPts val="1300"/>
              </a:spcAft>
              <a:buNone/>
            </a:pPr>
            <a:r>
              <a:rPr lang="en-US" sz="3600" dirty="0">
                <a:solidFill>
                  <a:srgbClr val="2A201B"/>
                </a:solidFill>
                <a:latin typeface="Jost"/>
                <a:ea typeface="Jost"/>
                <a:cs typeface="Jost"/>
              </a:rPr>
              <a:t>The same skills, for a new audience.</a:t>
            </a:r>
            <a:endParaRPr lang="en-US" sz="3600" dirty="0"/>
          </a:p>
          <a:p>
            <a:pPr algn="l" indent="0" marL="0">
              <a:spcAft>
                <a:spcPts val="1300"/>
              </a:spcAft>
              <a:buNone/>
            </a:pPr>
            <a:r>
              <a:rPr lang="en-US" sz="3600" dirty="0">
                <a:solidFill>
                  <a:srgbClr val="2A201B"/>
                </a:solidFill>
                <a:latin typeface="Jost"/>
                <a:ea typeface="Jost"/>
                <a:cs typeface="Jost"/>
              </a:rPr>
              <a:t>When other pros start asking how you do what you do, that's training, mentoring, or teaching classes.</a:t>
            </a:r>
            <a:endParaRPr lang="en-US" sz="3600" dirty="0"/>
          </a:p>
          <a:p>
            <a:pPr algn="l" indent="0" marL="0">
              <a:spcAft>
                <a:spcPts val="1300"/>
              </a:spcAft>
              <a:buNone/>
            </a:pPr>
            <a:r>
              <a:rPr lang="en-US" sz="3600" dirty="0">
                <a:solidFill>
                  <a:srgbClr val="FBF7F1"/>
                </a:solidFill>
                <a:latin typeface="Jost"/>
                <a:ea typeface="Jost"/>
                <a:cs typeface="Jost"/>
              </a:rPr>
              <a:t>You're not learning a new skill. You're teaching the one you already have.</a:t>
            </a:r>
            <a:endParaRPr lang="en-US" sz="36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3600" b="1" dirty="0">
                <a:solidFill>
                  <a:srgbClr val="AD5A6E"/>
                </a:solidFill>
                <a:latin typeface="Jost"/>
                <a:ea typeface="Jost"/>
                <a:cs typeface="Jost"/>
              </a:rPr>
              <a:t>Direction 2: </a:t>
            </a:r>
            <a:pPr algn="l" indent="0" marL="0">
              <a:spcAft>
                <a:spcPts val="1300"/>
              </a:spcAft>
              <a:buNone/>
            </a:pPr>
            <a:r>
              <a:rPr lang="en-US" sz="3600" dirty="0">
                <a:solidFill>
                  <a:srgbClr val="2A201B"/>
                </a:solidFill>
                <a:latin typeface="Jost"/>
                <a:ea typeface="Jost"/>
                <a:cs typeface="Jost"/>
              </a:rPr>
              <a:t>Go wider</a:t>
            </a:r>
            <a:endParaRPr lang="en-US" sz="3600" dirty="0"/>
          </a:p>
          <a:p>
            <a:pPr algn="l" indent="0" marL="0">
              <a:spcAft>
                <a:spcPts val="1300"/>
              </a:spcAft>
              <a:buNone/>
            </a:pPr>
            <a:r>
              <a:rPr lang="en-US" sz="3600" dirty="0">
                <a:solidFill>
                  <a:srgbClr val="2A201B"/>
                </a:solidFill>
                <a:latin typeface="Jost"/>
                <a:ea typeface="Jost"/>
                <a:cs typeface="Jost"/>
              </a:rPr>
              <a:t>The same skills, for a new audience.</a:t>
            </a:r>
            <a:endParaRPr lang="en-US" sz="3600" dirty="0"/>
          </a:p>
          <a:p>
            <a:pPr algn="l" indent="0" marL="0">
              <a:spcAft>
                <a:spcPts val="1300"/>
              </a:spcAft>
              <a:buNone/>
            </a:pPr>
            <a:r>
              <a:rPr lang="en-US" sz="3600" dirty="0">
                <a:solidFill>
                  <a:srgbClr val="2A201B"/>
                </a:solidFill>
                <a:latin typeface="Jost"/>
                <a:ea typeface="Jost"/>
                <a:cs typeface="Jost"/>
              </a:rPr>
              <a:t>When other pros start asking how you do what you do, that's training, mentoring, or teaching classes.</a:t>
            </a:r>
            <a:endParaRPr lang="en-US" sz="3600" dirty="0"/>
          </a:p>
          <a:p>
            <a:pPr algn="l" indent="0" marL="0">
              <a:spcAft>
                <a:spcPts val="1300"/>
              </a:spcAft>
              <a:buNone/>
            </a:pPr>
            <a:r>
              <a:rPr lang="en-US" sz="3600" dirty="0">
                <a:solidFill>
                  <a:srgbClr val="2A201B"/>
                </a:solidFill>
                <a:latin typeface="Jost"/>
                <a:ea typeface="Jost"/>
                <a:cs typeface="Jost"/>
              </a:rPr>
              <a:t>You're not learning a new skill. You're teaching the one you already have.</a:t>
            </a:r>
            <a:endParaRPr lang="en-US" sz="36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135</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I've done this. I've taught classes full of lash artists.</a:t>
            </a:r>
            <a:endParaRPr lang="en-US" sz="5100" dirty="0"/>
          </a:p>
          <a:p>
            <a:pPr algn="l" indent="0" marL="0">
              <a:spcAft>
                <a:spcPts val="1500"/>
              </a:spcAft>
              <a:buNone/>
            </a:pPr>
            <a:r>
              <a:rPr lang="en-US" sz="4400" dirty="0">
                <a:solidFill>
                  <a:srgbClr val="FBF7F1"/>
                </a:solidFill>
                <a:latin typeface="Jost"/>
                <a:ea typeface="Jost"/>
                <a:cs typeface="Jost"/>
              </a:rPr>
              <a:t>And tonight is me doing it again.</a:t>
            </a:r>
            <a:endParaRPr lang="en-US" sz="4400" dirty="0"/>
          </a:p>
        </p:txBody>
      </p:sp>
      <p:pic>
        <p:nvPicPr>
          <p:cNvPr id="5" name="Image 0" descr="/home/claude/webinar/deck-img/training-class-3-blurred.jpg">    </p:cNvPr>
          <p:cNvPicPr>
            <a:picLocks noChangeAspect="1"/>
          </p:cNvPicPr>
          <p:nvPr/>
        </p:nvPicPr>
        <p:blipFill>
          <a:blip r:embed="rId1"/>
          <a:stretch>
            <a:fillRect/>
          </a:stretch>
        </p:blipFill>
        <p:spPr>
          <a:xfrm>
            <a:off x="6309360" y="531871"/>
            <a:ext cx="5333695" cy="5748538"/>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135</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I've done this. I've taught classes full of lash artists.</a:t>
            </a:r>
            <a:endParaRPr lang="en-US" sz="5100" dirty="0"/>
          </a:p>
          <a:p>
            <a:pPr algn="l" indent="0" marL="0">
              <a:spcAft>
                <a:spcPts val="1500"/>
              </a:spcAft>
              <a:buNone/>
            </a:pPr>
            <a:r>
              <a:rPr lang="en-US" sz="4400" dirty="0">
                <a:solidFill>
                  <a:srgbClr val="2A201B"/>
                </a:solidFill>
                <a:latin typeface="Jost"/>
                <a:ea typeface="Jost"/>
                <a:cs typeface="Jost"/>
              </a:rPr>
              <a:t>And tonight is me doing it again.</a:t>
            </a:r>
            <a:endParaRPr lang="en-US" sz="4400" dirty="0"/>
          </a:p>
        </p:txBody>
      </p:sp>
      <p:pic>
        <p:nvPicPr>
          <p:cNvPr id="5" name="Image 0" descr="/home/claude/webinar/deck-img/training-class-3-blurred.jpg">    </p:cNvPr>
          <p:cNvPicPr>
            <a:picLocks noChangeAspect="1"/>
          </p:cNvPicPr>
          <p:nvPr/>
        </p:nvPicPr>
        <p:blipFill>
          <a:blip r:embed="rId1"/>
          <a:stretch>
            <a:fillRect/>
          </a:stretch>
        </p:blipFill>
        <p:spPr>
          <a:xfrm>
            <a:off x="6309360" y="531871"/>
            <a:ext cx="5333695" cy="5748538"/>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Direction 3: </a:t>
            </a:r>
            <a:pPr algn="l" indent="0" marL="0">
              <a:spcAft>
                <a:spcPts val="1100"/>
              </a:spcAft>
              <a:buNone/>
            </a:pPr>
            <a:r>
              <a:rPr lang="en-US" sz="3200" dirty="0">
                <a:solidFill>
                  <a:srgbClr val="2A201B"/>
                </a:solidFill>
                <a:latin typeface="Jost"/>
                <a:ea typeface="Jost"/>
                <a:cs typeface="Jost"/>
              </a:rPr>
              <a:t>Go beyond the chair</a:t>
            </a:r>
            <a:endParaRPr lang="en-US" sz="3200" dirty="0"/>
          </a:p>
          <a:p>
            <a:pPr algn="l" indent="0" marL="0">
              <a:spcAft>
                <a:spcPts val="1100"/>
              </a:spcAft>
              <a:buNone/>
            </a:pPr>
            <a:r>
              <a:rPr lang="en-US" sz="3200" dirty="0">
                <a:solidFill>
                  <a:srgbClr val="FBF7F1"/>
                </a:solidFill>
                <a:latin typeface="Jost"/>
                <a:ea typeface="Jost"/>
                <a:cs typeface="Jost"/>
              </a:rPr>
              <a:t>The same knowledge, without using your hands.</a:t>
            </a:r>
            <a:endParaRPr lang="en-US" sz="3200" dirty="0"/>
          </a:p>
          <a:p>
            <a:pPr algn="l" indent="0" marL="0">
              <a:spcAft>
                <a:spcPts val="1100"/>
              </a:spcAft>
              <a:buNone/>
            </a:pPr>
            <a:r>
              <a:rPr lang="en-US" sz="3200" dirty="0">
                <a:solidFill>
                  <a:srgbClr val="FBF7F1"/>
                </a:solidFill>
                <a:latin typeface="Jost"/>
                <a:ea typeface="Jost"/>
                <a:cs typeface="Jost"/>
              </a:rPr>
              <a:t>Guides, digital products, and online education.</a:t>
            </a:r>
            <a:endParaRPr lang="en-US" sz="3200" dirty="0"/>
          </a:p>
          <a:p>
            <a:pPr algn="l" indent="0" marL="0">
              <a:spcAft>
                <a:spcPts val="1100"/>
              </a:spcAft>
              <a:buNone/>
            </a:pPr>
            <a:r>
              <a:rPr lang="en-US" sz="3200" dirty="0">
                <a:solidFill>
                  <a:srgbClr val="FBF7F1"/>
                </a:solidFill>
                <a:latin typeface="Jost"/>
                <a:ea typeface="Jost"/>
                <a:cs typeface="Jost"/>
              </a:rPr>
              <a:t>That's the stuff you explain in your chair over and over.</a:t>
            </a:r>
            <a:endParaRPr lang="en-US" sz="3200" dirty="0"/>
          </a:p>
          <a:p>
            <a:pPr algn="l" indent="0" marL="0">
              <a:spcAft>
                <a:spcPts val="1100"/>
              </a:spcAft>
              <a:buNone/>
            </a:pPr>
            <a:r>
              <a:rPr lang="en-US" sz="3200" dirty="0">
                <a:solidFill>
                  <a:srgbClr val="FBF7F1"/>
                </a:solidFill>
                <a:latin typeface="Jost"/>
                <a:ea typeface="Jost"/>
                <a:cs typeface="Jost"/>
              </a:rPr>
              <a:t>Or what you're so skilled at that other pros would want to know how to do it.</a:t>
            </a:r>
            <a:endParaRPr lang="en-US" sz="32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Direction 3: </a:t>
            </a:r>
            <a:pPr algn="l" indent="0" marL="0">
              <a:spcAft>
                <a:spcPts val="1100"/>
              </a:spcAft>
              <a:buNone/>
            </a:pPr>
            <a:r>
              <a:rPr lang="en-US" sz="3200" dirty="0">
                <a:solidFill>
                  <a:srgbClr val="2A201B"/>
                </a:solidFill>
                <a:latin typeface="Jost"/>
                <a:ea typeface="Jost"/>
                <a:cs typeface="Jost"/>
              </a:rPr>
              <a:t>Go beyond the chair</a:t>
            </a:r>
            <a:endParaRPr lang="en-US" sz="3200" dirty="0"/>
          </a:p>
          <a:p>
            <a:pPr algn="l" indent="0" marL="0">
              <a:spcAft>
                <a:spcPts val="1100"/>
              </a:spcAft>
              <a:buNone/>
            </a:pPr>
            <a:r>
              <a:rPr lang="en-US" sz="3200" dirty="0">
                <a:solidFill>
                  <a:srgbClr val="2A201B"/>
                </a:solidFill>
                <a:latin typeface="Jost"/>
                <a:ea typeface="Jost"/>
                <a:cs typeface="Jost"/>
              </a:rPr>
              <a:t>The same knowledge, without using your hands.</a:t>
            </a:r>
            <a:endParaRPr lang="en-US" sz="3200" dirty="0"/>
          </a:p>
          <a:p>
            <a:pPr algn="l" indent="0" marL="0">
              <a:spcAft>
                <a:spcPts val="1100"/>
              </a:spcAft>
              <a:buNone/>
            </a:pPr>
            <a:r>
              <a:rPr lang="en-US" sz="3200" dirty="0">
                <a:solidFill>
                  <a:srgbClr val="FBF7F1"/>
                </a:solidFill>
                <a:latin typeface="Jost"/>
                <a:ea typeface="Jost"/>
                <a:cs typeface="Jost"/>
              </a:rPr>
              <a:t>Guides, digital products, and online education.</a:t>
            </a:r>
            <a:endParaRPr lang="en-US" sz="3200" dirty="0"/>
          </a:p>
          <a:p>
            <a:pPr algn="l" indent="0" marL="0">
              <a:spcAft>
                <a:spcPts val="1100"/>
              </a:spcAft>
              <a:buNone/>
            </a:pPr>
            <a:r>
              <a:rPr lang="en-US" sz="3200" dirty="0">
                <a:solidFill>
                  <a:srgbClr val="FBF7F1"/>
                </a:solidFill>
                <a:latin typeface="Jost"/>
                <a:ea typeface="Jost"/>
                <a:cs typeface="Jost"/>
              </a:rPr>
              <a:t>That's the stuff you explain in your chair over and over.</a:t>
            </a:r>
            <a:endParaRPr lang="en-US" sz="3200" dirty="0"/>
          </a:p>
          <a:p>
            <a:pPr algn="l" indent="0" marL="0">
              <a:spcAft>
                <a:spcPts val="1100"/>
              </a:spcAft>
              <a:buNone/>
            </a:pPr>
            <a:r>
              <a:rPr lang="en-US" sz="3200" dirty="0">
                <a:solidFill>
                  <a:srgbClr val="FBF7F1"/>
                </a:solidFill>
                <a:latin typeface="Jost"/>
                <a:ea typeface="Jost"/>
                <a:cs typeface="Jost"/>
              </a:rPr>
              <a:t>Or what you're so skilled at that other pros would want to know how to do it.</a:t>
            </a:r>
            <a:endParaRPr lang="en-US" sz="32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Direction 3: </a:t>
            </a:r>
            <a:pPr algn="l" indent="0" marL="0">
              <a:spcAft>
                <a:spcPts val="1100"/>
              </a:spcAft>
              <a:buNone/>
            </a:pPr>
            <a:r>
              <a:rPr lang="en-US" sz="3200" dirty="0">
                <a:solidFill>
                  <a:srgbClr val="2A201B"/>
                </a:solidFill>
                <a:latin typeface="Jost"/>
                <a:ea typeface="Jost"/>
                <a:cs typeface="Jost"/>
              </a:rPr>
              <a:t>Go beyond the chair</a:t>
            </a:r>
            <a:endParaRPr lang="en-US" sz="3200" dirty="0"/>
          </a:p>
          <a:p>
            <a:pPr algn="l" indent="0" marL="0">
              <a:spcAft>
                <a:spcPts val="1100"/>
              </a:spcAft>
              <a:buNone/>
            </a:pPr>
            <a:r>
              <a:rPr lang="en-US" sz="3200" dirty="0">
                <a:solidFill>
                  <a:srgbClr val="2A201B"/>
                </a:solidFill>
                <a:latin typeface="Jost"/>
                <a:ea typeface="Jost"/>
                <a:cs typeface="Jost"/>
              </a:rPr>
              <a:t>The same knowledge, without using your hands.</a:t>
            </a:r>
            <a:endParaRPr lang="en-US" sz="3200" dirty="0"/>
          </a:p>
          <a:p>
            <a:pPr algn="l" indent="0" marL="0">
              <a:spcAft>
                <a:spcPts val="1100"/>
              </a:spcAft>
              <a:buNone/>
            </a:pPr>
            <a:r>
              <a:rPr lang="en-US" sz="3200" dirty="0">
                <a:solidFill>
                  <a:srgbClr val="2A201B"/>
                </a:solidFill>
                <a:latin typeface="Jost"/>
                <a:ea typeface="Jost"/>
                <a:cs typeface="Jost"/>
              </a:rPr>
              <a:t>Guides, digital products, and online education.</a:t>
            </a:r>
            <a:endParaRPr lang="en-US" sz="3200" dirty="0"/>
          </a:p>
          <a:p>
            <a:pPr algn="l" indent="0" marL="0">
              <a:spcAft>
                <a:spcPts val="1100"/>
              </a:spcAft>
              <a:buNone/>
            </a:pPr>
            <a:r>
              <a:rPr lang="en-US" sz="3200" dirty="0">
                <a:solidFill>
                  <a:srgbClr val="FBF7F1"/>
                </a:solidFill>
                <a:latin typeface="Jost"/>
                <a:ea typeface="Jost"/>
                <a:cs typeface="Jost"/>
              </a:rPr>
              <a:t>That's the stuff you explain in your chair over and over.</a:t>
            </a:r>
            <a:endParaRPr lang="en-US" sz="3200" dirty="0"/>
          </a:p>
          <a:p>
            <a:pPr algn="l" indent="0" marL="0">
              <a:spcAft>
                <a:spcPts val="1100"/>
              </a:spcAft>
              <a:buNone/>
            </a:pPr>
            <a:r>
              <a:rPr lang="en-US" sz="3200" dirty="0">
                <a:solidFill>
                  <a:srgbClr val="FBF7F1"/>
                </a:solidFill>
                <a:latin typeface="Jost"/>
                <a:ea typeface="Jost"/>
                <a:cs typeface="Jost"/>
              </a:rPr>
              <a:t>Or what you're so skilled at that other pros would want to know how to do it.</a:t>
            </a:r>
            <a:endParaRPr lang="en-US" sz="32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Direction 3: </a:t>
            </a:r>
            <a:pPr algn="l" indent="0" marL="0">
              <a:spcAft>
                <a:spcPts val="1100"/>
              </a:spcAft>
              <a:buNone/>
            </a:pPr>
            <a:r>
              <a:rPr lang="en-US" sz="3200" dirty="0">
                <a:solidFill>
                  <a:srgbClr val="2A201B"/>
                </a:solidFill>
                <a:latin typeface="Jost"/>
                <a:ea typeface="Jost"/>
                <a:cs typeface="Jost"/>
              </a:rPr>
              <a:t>Go beyond the chair</a:t>
            </a:r>
            <a:endParaRPr lang="en-US" sz="3200" dirty="0"/>
          </a:p>
          <a:p>
            <a:pPr algn="l" indent="0" marL="0">
              <a:spcAft>
                <a:spcPts val="1100"/>
              </a:spcAft>
              <a:buNone/>
            </a:pPr>
            <a:r>
              <a:rPr lang="en-US" sz="3200" dirty="0">
                <a:solidFill>
                  <a:srgbClr val="2A201B"/>
                </a:solidFill>
                <a:latin typeface="Jost"/>
                <a:ea typeface="Jost"/>
                <a:cs typeface="Jost"/>
              </a:rPr>
              <a:t>The same knowledge, without using your hands.</a:t>
            </a:r>
            <a:endParaRPr lang="en-US" sz="3200" dirty="0"/>
          </a:p>
          <a:p>
            <a:pPr algn="l" indent="0" marL="0">
              <a:spcAft>
                <a:spcPts val="1100"/>
              </a:spcAft>
              <a:buNone/>
            </a:pPr>
            <a:r>
              <a:rPr lang="en-US" sz="3200" dirty="0">
                <a:solidFill>
                  <a:srgbClr val="2A201B"/>
                </a:solidFill>
                <a:latin typeface="Jost"/>
                <a:ea typeface="Jost"/>
                <a:cs typeface="Jost"/>
              </a:rPr>
              <a:t>Guides, digital products, and online education.</a:t>
            </a:r>
            <a:endParaRPr lang="en-US" sz="3200" dirty="0"/>
          </a:p>
          <a:p>
            <a:pPr algn="l" indent="0" marL="0">
              <a:spcAft>
                <a:spcPts val="1100"/>
              </a:spcAft>
              <a:buNone/>
            </a:pPr>
            <a:r>
              <a:rPr lang="en-US" sz="3200" dirty="0">
                <a:solidFill>
                  <a:srgbClr val="2A201B"/>
                </a:solidFill>
                <a:latin typeface="Jost"/>
                <a:ea typeface="Jost"/>
                <a:cs typeface="Jost"/>
              </a:rPr>
              <a:t>That's the stuff you explain in your chair over and over.</a:t>
            </a:r>
            <a:endParaRPr lang="en-US" sz="3200" dirty="0"/>
          </a:p>
          <a:p>
            <a:pPr algn="l" indent="0" marL="0">
              <a:spcAft>
                <a:spcPts val="1100"/>
              </a:spcAft>
              <a:buNone/>
            </a:pPr>
            <a:r>
              <a:rPr lang="en-US" sz="3200" dirty="0">
                <a:solidFill>
                  <a:srgbClr val="FBF7F1"/>
                </a:solidFill>
                <a:latin typeface="Jost"/>
                <a:ea typeface="Jost"/>
                <a:cs typeface="Jost"/>
              </a:rPr>
              <a:t>Or what you're so skilled at that other pros would want to know how to do it.</a:t>
            </a:r>
            <a:endParaRPr lang="en-US" sz="32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200" b="1" dirty="0">
                <a:solidFill>
                  <a:srgbClr val="AD5A6E"/>
                </a:solidFill>
                <a:latin typeface="Jost"/>
                <a:ea typeface="Jost"/>
                <a:cs typeface="Jost"/>
              </a:rPr>
              <a:t>Direction 3: </a:t>
            </a:r>
            <a:pPr algn="l" indent="0" marL="0">
              <a:spcAft>
                <a:spcPts val="1100"/>
              </a:spcAft>
              <a:buNone/>
            </a:pPr>
            <a:r>
              <a:rPr lang="en-US" sz="3200" dirty="0">
                <a:solidFill>
                  <a:srgbClr val="2A201B"/>
                </a:solidFill>
                <a:latin typeface="Jost"/>
                <a:ea typeface="Jost"/>
                <a:cs typeface="Jost"/>
              </a:rPr>
              <a:t>Go beyond the chair</a:t>
            </a:r>
            <a:endParaRPr lang="en-US" sz="3200" dirty="0"/>
          </a:p>
          <a:p>
            <a:pPr algn="l" indent="0" marL="0">
              <a:spcAft>
                <a:spcPts val="1100"/>
              </a:spcAft>
              <a:buNone/>
            </a:pPr>
            <a:r>
              <a:rPr lang="en-US" sz="3200" dirty="0">
                <a:solidFill>
                  <a:srgbClr val="2A201B"/>
                </a:solidFill>
                <a:latin typeface="Jost"/>
                <a:ea typeface="Jost"/>
                <a:cs typeface="Jost"/>
              </a:rPr>
              <a:t>The same knowledge, without using your hands.</a:t>
            </a:r>
            <a:endParaRPr lang="en-US" sz="3200" dirty="0"/>
          </a:p>
          <a:p>
            <a:pPr algn="l" indent="0" marL="0">
              <a:spcAft>
                <a:spcPts val="1100"/>
              </a:spcAft>
              <a:buNone/>
            </a:pPr>
            <a:r>
              <a:rPr lang="en-US" sz="3200" dirty="0">
                <a:solidFill>
                  <a:srgbClr val="2A201B"/>
                </a:solidFill>
                <a:latin typeface="Jost"/>
                <a:ea typeface="Jost"/>
                <a:cs typeface="Jost"/>
              </a:rPr>
              <a:t>Guides, digital products, and online education.</a:t>
            </a:r>
            <a:endParaRPr lang="en-US" sz="3200" dirty="0"/>
          </a:p>
          <a:p>
            <a:pPr algn="l" indent="0" marL="0">
              <a:spcAft>
                <a:spcPts val="1100"/>
              </a:spcAft>
              <a:buNone/>
            </a:pPr>
            <a:r>
              <a:rPr lang="en-US" sz="3200" dirty="0">
                <a:solidFill>
                  <a:srgbClr val="2A201B"/>
                </a:solidFill>
                <a:latin typeface="Jost"/>
                <a:ea typeface="Jost"/>
                <a:cs typeface="Jost"/>
              </a:rPr>
              <a:t>That's the stuff you explain in your chair over and over.</a:t>
            </a:r>
            <a:endParaRPr lang="en-US" sz="3200" dirty="0"/>
          </a:p>
          <a:p>
            <a:pPr algn="l" indent="0" marL="0">
              <a:spcAft>
                <a:spcPts val="1100"/>
              </a:spcAft>
              <a:buNone/>
            </a:pPr>
            <a:r>
              <a:rPr lang="en-US" sz="3200" dirty="0">
                <a:solidFill>
                  <a:srgbClr val="2A201B"/>
                </a:solidFill>
                <a:latin typeface="Jost"/>
                <a:ea typeface="Jost"/>
                <a:cs typeface="Jost"/>
              </a:rPr>
              <a:t>Or what you're so skilled at that other pros would want to know how to do it.</a:t>
            </a:r>
            <a:endParaRPr lang="en-US" sz="32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Answer three questions.</a:t>
            </a:r>
            <a:endParaRPr lang="en-US" sz="5500" dirty="0"/>
          </a:p>
          <a:p>
            <a:pPr algn="l" indent="0" marL="0">
              <a:spcAft>
                <a:spcPts val="1700"/>
              </a:spcAft>
              <a:buNone/>
            </a:pPr>
            <a:r>
              <a:rPr lang="en-US" sz="4800" dirty="0">
                <a:solidFill>
                  <a:srgbClr val="FBF7F1"/>
                </a:solidFill>
                <a:latin typeface="Jost"/>
                <a:ea typeface="Jost"/>
                <a:cs typeface="Jost"/>
              </a:rPr>
              <a:t>Don't overthink these. Write whatever comes to mind.</a:t>
            </a:r>
            <a:endParaRPr lang="en-US" sz="4800" dirty="0"/>
          </a:p>
          <a:p>
            <a:pPr algn="l" indent="0" marL="0">
              <a:spcAft>
                <a:spcPts val="1700"/>
              </a:spcAft>
              <a:buNone/>
            </a:pPr>
            <a:r>
              <a:rPr lang="en-US" sz="4800" dirty="0">
                <a:solidFill>
                  <a:srgbClr val="FBF7F1"/>
                </a:solidFill>
                <a:latin typeface="Jost"/>
                <a:ea typeface="Jost"/>
                <a:cs typeface="Jost"/>
              </a:rPr>
              <a:t>1. What do clients ask you for that you don't offer yet?</a:t>
            </a:r>
            <a:endParaRPr lang="en-US" sz="48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Answer three questions.</a:t>
            </a:r>
            <a:endParaRPr lang="en-US" sz="5500" dirty="0"/>
          </a:p>
          <a:p>
            <a:pPr algn="l" indent="0" marL="0">
              <a:spcAft>
                <a:spcPts val="1700"/>
              </a:spcAft>
              <a:buNone/>
            </a:pPr>
            <a:r>
              <a:rPr lang="en-US" sz="4800" dirty="0">
                <a:solidFill>
                  <a:srgbClr val="2A201B"/>
                </a:solidFill>
                <a:latin typeface="Jost"/>
                <a:ea typeface="Jost"/>
                <a:cs typeface="Jost"/>
              </a:rPr>
              <a:t>Don't overthink these. Write whatever comes to mind.</a:t>
            </a:r>
            <a:endParaRPr lang="en-US" sz="4800" dirty="0"/>
          </a:p>
          <a:p>
            <a:pPr algn="l" indent="0" marL="0">
              <a:spcAft>
                <a:spcPts val="1700"/>
              </a:spcAft>
              <a:buNone/>
            </a:pPr>
            <a:r>
              <a:rPr lang="en-US" sz="4800" dirty="0">
                <a:solidFill>
                  <a:srgbClr val="FBF7F1"/>
                </a:solidFill>
                <a:latin typeface="Jost"/>
                <a:ea typeface="Jost"/>
                <a:cs typeface="Jost"/>
              </a:rPr>
              <a:t>1. What do clients ask you for that you don't offer yet?</a:t>
            </a:r>
            <a:endParaRPr lang="en-US" sz="48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Answer three questions.</a:t>
            </a:r>
            <a:endParaRPr lang="en-US" sz="5500" dirty="0"/>
          </a:p>
          <a:p>
            <a:pPr algn="l" indent="0" marL="0">
              <a:spcAft>
                <a:spcPts val="1700"/>
              </a:spcAft>
              <a:buNone/>
            </a:pPr>
            <a:r>
              <a:rPr lang="en-US" sz="4800" dirty="0">
                <a:solidFill>
                  <a:srgbClr val="2A201B"/>
                </a:solidFill>
                <a:latin typeface="Jost"/>
                <a:ea typeface="Jost"/>
                <a:cs typeface="Jost"/>
              </a:rPr>
              <a:t>Don't overthink these. Write whatever comes to mind.</a:t>
            </a:r>
            <a:endParaRPr lang="en-US" sz="4800" dirty="0"/>
          </a:p>
          <a:p>
            <a:pPr algn="l" indent="0" marL="0">
              <a:spcAft>
                <a:spcPts val="1700"/>
              </a:spcAft>
              <a:buNone/>
            </a:pPr>
            <a:r>
              <a:rPr lang="en-US" sz="4800" dirty="0">
                <a:solidFill>
                  <a:srgbClr val="2A201B"/>
                </a:solidFill>
                <a:latin typeface="Jost"/>
                <a:ea typeface="Jost"/>
                <a:cs typeface="Jost"/>
              </a:rPr>
              <a:t>1. What do clients ask you for that you don't offer yet?</a:t>
            </a:r>
            <a:endParaRPr lang="en-US" sz="48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2. What do other pros ask you how to do?</a:t>
            </a:r>
            <a:endParaRPr lang="en-US" sz="60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139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3. What do you find yourself explaining in your chair over and over?</a:t>
            </a:r>
            <a:endParaRPr lang="en-US" sz="60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Circle the one that came to you easiest.</a:t>
            </a:r>
            <a:endParaRPr lang="en-US" sz="69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Now I want to be real with you.</a:t>
            </a:r>
            <a:endParaRPr lang="en-US" sz="6200" dirty="0"/>
          </a:p>
          <a:p>
            <a:pPr algn="l" indent="0" marL="0">
              <a:spcAft>
                <a:spcPts val="1900"/>
              </a:spcAft>
              <a:buNone/>
            </a:pPr>
            <a:r>
              <a:rPr lang="en-US" sz="5400" dirty="0">
                <a:solidFill>
                  <a:srgbClr val="FBF7F1"/>
                </a:solidFill>
                <a:latin typeface="Jost"/>
                <a:ea typeface="Jost"/>
                <a:cs typeface="Jost"/>
              </a:rPr>
              <a:t>I don't want you leaving here and spending three months building something that doesn't pay you.</a:t>
            </a:r>
            <a:endParaRPr lang="en-US" sz="54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Now I want to be real with you.</a:t>
            </a:r>
            <a:endParaRPr lang="en-US" sz="6200" dirty="0"/>
          </a:p>
          <a:p>
            <a:pPr algn="l" indent="0" marL="0">
              <a:spcAft>
                <a:spcPts val="1900"/>
              </a:spcAft>
              <a:buNone/>
            </a:pPr>
            <a:r>
              <a:rPr lang="en-US" sz="5400" dirty="0">
                <a:solidFill>
                  <a:srgbClr val="2A201B"/>
                </a:solidFill>
                <a:latin typeface="Jost"/>
                <a:ea typeface="Jost"/>
                <a:cs typeface="Jost"/>
              </a:rPr>
              <a:t>I don't want you leaving here and spending three months building something that doesn't pay you.</a:t>
            </a:r>
            <a:endParaRPr lang="en-US" sz="54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Start closest to the chair.</a:t>
            </a:r>
            <a:endParaRPr lang="en-US" sz="69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you, Go Deeper is going to be your fastest money.</a:t>
            </a:r>
            <a:endParaRPr lang="en-US" sz="4600" dirty="0"/>
          </a:p>
          <a:p>
            <a:pPr algn="l" indent="0" marL="0">
              <a:spcAft>
                <a:spcPts val="1400"/>
              </a:spcAft>
              <a:buNone/>
            </a:pPr>
            <a:r>
              <a:rPr lang="en-US" sz="4000" dirty="0">
                <a:solidFill>
                  <a:srgbClr val="FBF7F1"/>
                </a:solidFill>
                <a:latin typeface="Jost"/>
                <a:ea typeface="Jost"/>
                <a:cs typeface="Jost"/>
              </a:rPr>
              <a:t>Those clients already know you, trust you, and pay you.</a:t>
            </a:r>
            <a:endParaRPr lang="en-US" sz="4000" dirty="0"/>
          </a:p>
          <a:p>
            <a:pPr algn="l" indent="0" marL="0">
              <a:spcAft>
                <a:spcPts val="1400"/>
              </a:spcAft>
              <a:buNone/>
            </a:pPr>
            <a:r>
              <a:rPr lang="en-US" sz="4000" dirty="0">
                <a:solidFill>
                  <a:srgbClr val="FBF7F1"/>
                </a:solidFill>
                <a:latin typeface="Jost"/>
                <a:ea typeface="Jost"/>
                <a:cs typeface="Jost"/>
              </a:rPr>
              <a:t>You're not convincing anybody. You're offering more value to people who already said yes.</a:t>
            </a:r>
            <a:endParaRPr lang="en-US" sz="40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you, Go Deeper is going to be your fastest money.</a:t>
            </a:r>
            <a:endParaRPr lang="en-US" sz="4600" dirty="0"/>
          </a:p>
          <a:p>
            <a:pPr algn="l" indent="0" marL="0">
              <a:spcAft>
                <a:spcPts val="1400"/>
              </a:spcAft>
              <a:buNone/>
            </a:pPr>
            <a:r>
              <a:rPr lang="en-US" sz="4000" dirty="0">
                <a:solidFill>
                  <a:srgbClr val="2A201B"/>
                </a:solidFill>
                <a:latin typeface="Jost"/>
                <a:ea typeface="Jost"/>
                <a:cs typeface="Jost"/>
              </a:rPr>
              <a:t>Those clients already know you, trust you, and pay you.</a:t>
            </a:r>
            <a:endParaRPr lang="en-US" sz="4000" dirty="0"/>
          </a:p>
          <a:p>
            <a:pPr algn="l" indent="0" marL="0">
              <a:spcAft>
                <a:spcPts val="1400"/>
              </a:spcAft>
              <a:buNone/>
            </a:pPr>
            <a:r>
              <a:rPr lang="en-US" sz="4000" dirty="0">
                <a:solidFill>
                  <a:srgbClr val="FBF7F1"/>
                </a:solidFill>
                <a:latin typeface="Jost"/>
                <a:ea typeface="Jost"/>
                <a:cs typeface="Jost"/>
              </a:rPr>
              <a:t>You're not convincing anybody. You're offering more value to people who already said yes.</a:t>
            </a:r>
            <a:endParaRPr lang="en-US" sz="40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For most of you, Go Deeper is going to be your fastest money.</a:t>
            </a:r>
            <a:endParaRPr lang="en-US" sz="4600" dirty="0"/>
          </a:p>
          <a:p>
            <a:pPr algn="l" indent="0" marL="0">
              <a:spcAft>
                <a:spcPts val="1400"/>
              </a:spcAft>
              <a:buNone/>
            </a:pPr>
            <a:r>
              <a:rPr lang="en-US" sz="4000" dirty="0">
                <a:solidFill>
                  <a:srgbClr val="2A201B"/>
                </a:solidFill>
                <a:latin typeface="Jost"/>
                <a:ea typeface="Jost"/>
                <a:cs typeface="Jost"/>
              </a:rPr>
              <a:t>Those clients already know you, trust you, and pay you.</a:t>
            </a:r>
            <a:endParaRPr lang="en-US" sz="4000" dirty="0"/>
          </a:p>
          <a:p>
            <a:pPr algn="l" indent="0" marL="0">
              <a:spcAft>
                <a:spcPts val="1400"/>
              </a:spcAft>
              <a:buNone/>
            </a:pPr>
            <a:r>
              <a:rPr lang="en-US" sz="4000" dirty="0">
                <a:solidFill>
                  <a:srgbClr val="2A201B"/>
                </a:solidFill>
                <a:latin typeface="Jost"/>
                <a:ea typeface="Jost"/>
                <a:cs typeface="Jost"/>
              </a:rPr>
              <a:t>You're not convincing anybody. You're offering more value to people who already said yes.</a:t>
            </a:r>
            <a:endParaRPr lang="en-US" sz="40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A digital product sounds exciting, and it is.</a:t>
            </a:r>
            <a:endParaRPr lang="en-US" sz="6200" dirty="0"/>
          </a:p>
          <a:p>
            <a:pPr algn="l" indent="0" marL="0">
              <a:spcAft>
                <a:spcPts val="1900"/>
              </a:spcAft>
              <a:buNone/>
            </a:pPr>
            <a:r>
              <a:rPr lang="en-US" sz="5400" dirty="0">
                <a:solidFill>
                  <a:srgbClr val="2A201B"/>
                </a:solidFill>
                <a:latin typeface="Jost"/>
                <a:ea typeface="Jost"/>
                <a:cs typeface="Jost"/>
              </a:rPr>
              <a:t>But it's usually the slowest to make money, because you have to build an audience for it first.</a:t>
            </a:r>
            <a:endParaRPr lang="en-US" sz="54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Not sure where to start?</a:t>
            </a:r>
            <a:endParaRPr lang="en-US" sz="6900" dirty="0"/>
          </a:p>
          <a:p>
            <a:pPr algn="l" indent="0" marL="0">
              <a:spcAft>
                <a:spcPts val="2100"/>
              </a:spcAft>
              <a:buNone/>
            </a:pPr>
            <a:r>
              <a:rPr lang="en-US" sz="6000" dirty="0">
                <a:solidFill>
                  <a:srgbClr val="2A201B"/>
                </a:solidFill>
                <a:latin typeface="Jost"/>
                <a:ea typeface="Jost"/>
                <a:cs typeface="Jost"/>
              </a:rPr>
              <a:t>Start with the person already sitting in front of you.</a:t>
            </a:r>
            <a:endParaRPr lang="en-US" sz="60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Imagine it's the 1st of the month.</a:t>
            </a:r>
            <a:endParaRPr lang="en-US" sz="4800" dirty="0"/>
          </a:p>
          <a:p>
            <a:pPr algn="l" indent="0" marL="0">
              <a:spcAft>
                <a:spcPts val="1700"/>
              </a:spcAft>
              <a:buNone/>
            </a:pPr>
            <a:r>
              <a:rPr lang="en-US" sz="4800" dirty="0">
                <a:solidFill>
                  <a:srgbClr val="FBF7F1"/>
                </a:solidFill>
                <a:latin typeface="Jost"/>
                <a:ea typeface="Jost"/>
                <a:cs typeface="Jost"/>
              </a:rPr>
              <a:t>You haven't opened your doors yet. You haven't done a single appointment.</a:t>
            </a:r>
            <a:endParaRPr lang="en-US" sz="4800" dirty="0"/>
          </a:p>
          <a:p>
            <a:pPr algn="l" indent="0" marL="0">
              <a:spcAft>
                <a:spcPts val="1700"/>
              </a:spcAft>
              <a:buNone/>
            </a:pPr>
            <a:r>
              <a:rPr lang="en-US" sz="4800" dirty="0">
                <a:solidFill>
                  <a:srgbClr val="FBF7F1"/>
                </a:solidFill>
                <a:latin typeface="Jost"/>
                <a:ea typeface="Jost"/>
                <a:cs typeface="Jost"/>
              </a:rPr>
              <a:t>And a chunk of your income is already in the bank.</a:t>
            </a:r>
            <a:endParaRPr lang="en-US" sz="48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Imagine it's the 1st of the month.</a:t>
            </a:r>
            <a:endParaRPr lang="en-US" sz="4800" dirty="0"/>
          </a:p>
          <a:p>
            <a:pPr algn="l" indent="0" marL="0">
              <a:spcAft>
                <a:spcPts val="1700"/>
              </a:spcAft>
              <a:buNone/>
            </a:pPr>
            <a:r>
              <a:rPr lang="en-US" sz="4800" dirty="0">
                <a:solidFill>
                  <a:srgbClr val="2A201B"/>
                </a:solidFill>
                <a:latin typeface="Jost"/>
                <a:ea typeface="Jost"/>
                <a:cs typeface="Jost"/>
              </a:rPr>
              <a:t>You haven't opened your doors yet. You haven't done a single appointment.</a:t>
            </a:r>
            <a:endParaRPr lang="en-US" sz="4800" dirty="0"/>
          </a:p>
          <a:p>
            <a:pPr algn="l" indent="0" marL="0">
              <a:spcAft>
                <a:spcPts val="1700"/>
              </a:spcAft>
              <a:buNone/>
            </a:pPr>
            <a:r>
              <a:rPr lang="en-US" sz="4800" dirty="0">
                <a:solidFill>
                  <a:srgbClr val="FBF7F1"/>
                </a:solidFill>
                <a:latin typeface="Jost"/>
                <a:ea typeface="Jost"/>
                <a:cs typeface="Jost"/>
              </a:rPr>
              <a:t>And a chunk of your income is already in the bank.</a:t>
            </a:r>
            <a:endParaRPr lang="en-US" sz="48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Imagine it's the 1st of the month.</a:t>
            </a:r>
            <a:endParaRPr lang="en-US" sz="4800" dirty="0"/>
          </a:p>
          <a:p>
            <a:pPr algn="l" indent="0" marL="0">
              <a:spcAft>
                <a:spcPts val="1700"/>
              </a:spcAft>
              <a:buNone/>
            </a:pPr>
            <a:r>
              <a:rPr lang="en-US" sz="4800" dirty="0">
                <a:solidFill>
                  <a:srgbClr val="2A201B"/>
                </a:solidFill>
                <a:latin typeface="Jost"/>
                <a:ea typeface="Jost"/>
                <a:cs typeface="Jost"/>
              </a:rPr>
              <a:t>You haven't opened your doors yet. You haven't done a single appointment.</a:t>
            </a:r>
            <a:endParaRPr lang="en-US" sz="4800" dirty="0"/>
          </a:p>
          <a:p>
            <a:pPr algn="l" indent="0" marL="0">
              <a:spcAft>
                <a:spcPts val="1700"/>
              </a:spcAft>
              <a:buNone/>
            </a:pPr>
            <a:r>
              <a:rPr lang="en-US" sz="4800" dirty="0">
                <a:solidFill>
                  <a:srgbClr val="2A201B"/>
                </a:solidFill>
                <a:latin typeface="Jost"/>
                <a:ea typeface="Jost"/>
                <a:cs typeface="Jost"/>
              </a:rPr>
              <a:t>And a chunk of your income is already in the bank.</a:t>
            </a:r>
            <a:endParaRPr lang="en-US" sz="48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That's what recurring revenue does.</a:t>
            </a:r>
            <a:endParaRPr lang="en-US" sz="4100" dirty="0"/>
          </a:p>
          <a:p>
            <a:pPr algn="l" indent="0" marL="0">
              <a:spcAft>
                <a:spcPts val="1300"/>
              </a:spcAft>
              <a:buNone/>
            </a:pPr>
            <a:r>
              <a:rPr lang="en-US" sz="3600" dirty="0">
                <a:solidFill>
                  <a:srgbClr val="FBF7F1"/>
                </a:solidFill>
                <a:latin typeface="Jost"/>
                <a:ea typeface="Jost"/>
                <a:cs typeface="Jost"/>
              </a:rPr>
              <a:t>Memberships, packages, and plans.</a:t>
            </a:r>
            <a:endParaRPr lang="en-US" sz="3600" dirty="0"/>
          </a:p>
          <a:p>
            <a:pPr algn="l" indent="0" marL="0">
              <a:spcAft>
                <a:spcPts val="1300"/>
              </a:spcAft>
              <a:buNone/>
            </a:pPr>
            <a:r>
              <a:rPr lang="en-US" sz="3600" dirty="0">
                <a:solidFill>
                  <a:srgbClr val="FBF7F1"/>
                </a:solidFill>
                <a:latin typeface="Jost"/>
                <a:ea typeface="Jost"/>
                <a:cs typeface="Jost"/>
              </a:rPr>
              <a:t>It's not passive. You're still doing the work.</a:t>
            </a:r>
            <a:endParaRPr lang="en-US" sz="3600" dirty="0"/>
          </a:p>
          <a:p>
            <a:pPr algn="l" indent="0" marL="0">
              <a:spcAft>
                <a:spcPts val="1300"/>
              </a:spcAft>
              <a:buNone/>
            </a:pPr>
            <a:r>
              <a:rPr lang="en-US" sz="3600" dirty="0">
                <a:solidFill>
                  <a:srgbClr val="FBF7F1"/>
                </a:solidFill>
                <a:latin typeface="Jost"/>
                <a:ea typeface="Jost"/>
                <a:cs typeface="Jost"/>
              </a:rPr>
              <a:t>But it's predictable. You know what's coming before the month even starts.</a:t>
            </a:r>
            <a:endParaRPr lang="en-US" sz="36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That's what recurring revenue does.</a:t>
            </a:r>
            <a:endParaRPr lang="en-US" sz="4100" dirty="0"/>
          </a:p>
          <a:p>
            <a:pPr algn="l" indent="0" marL="0">
              <a:spcAft>
                <a:spcPts val="1300"/>
              </a:spcAft>
              <a:buNone/>
            </a:pPr>
            <a:r>
              <a:rPr lang="en-US" sz="3600" dirty="0">
                <a:solidFill>
                  <a:srgbClr val="2A201B"/>
                </a:solidFill>
                <a:latin typeface="Jost"/>
                <a:ea typeface="Jost"/>
                <a:cs typeface="Jost"/>
              </a:rPr>
              <a:t>Memberships, packages, and plans.</a:t>
            </a:r>
            <a:endParaRPr lang="en-US" sz="3600" dirty="0"/>
          </a:p>
          <a:p>
            <a:pPr algn="l" indent="0" marL="0">
              <a:spcAft>
                <a:spcPts val="1300"/>
              </a:spcAft>
              <a:buNone/>
            </a:pPr>
            <a:r>
              <a:rPr lang="en-US" sz="3600" dirty="0">
                <a:solidFill>
                  <a:srgbClr val="FBF7F1"/>
                </a:solidFill>
                <a:latin typeface="Jost"/>
                <a:ea typeface="Jost"/>
                <a:cs typeface="Jost"/>
              </a:rPr>
              <a:t>It's not passive. You're still doing the work.</a:t>
            </a:r>
            <a:endParaRPr lang="en-US" sz="3600" dirty="0"/>
          </a:p>
          <a:p>
            <a:pPr algn="l" indent="0" marL="0">
              <a:spcAft>
                <a:spcPts val="1300"/>
              </a:spcAft>
              <a:buNone/>
            </a:pPr>
            <a:r>
              <a:rPr lang="en-US" sz="3600" dirty="0">
                <a:solidFill>
                  <a:srgbClr val="FBF7F1"/>
                </a:solidFill>
                <a:latin typeface="Jost"/>
                <a:ea typeface="Jost"/>
                <a:cs typeface="Jost"/>
              </a:rPr>
              <a:t>But it's predictable. You know what's coming before the month even starts.</a:t>
            </a:r>
            <a:endParaRPr lang="en-US" sz="36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That's what recurring revenue does.</a:t>
            </a:r>
            <a:endParaRPr lang="en-US" sz="4100" dirty="0"/>
          </a:p>
          <a:p>
            <a:pPr algn="l" indent="0" marL="0">
              <a:spcAft>
                <a:spcPts val="1300"/>
              </a:spcAft>
              <a:buNone/>
            </a:pPr>
            <a:r>
              <a:rPr lang="en-US" sz="3600" dirty="0">
                <a:solidFill>
                  <a:srgbClr val="2A201B"/>
                </a:solidFill>
                <a:latin typeface="Jost"/>
                <a:ea typeface="Jost"/>
                <a:cs typeface="Jost"/>
              </a:rPr>
              <a:t>Memberships, packages, and plans.</a:t>
            </a:r>
            <a:endParaRPr lang="en-US" sz="3600" dirty="0"/>
          </a:p>
          <a:p>
            <a:pPr algn="l" indent="0" marL="0">
              <a:spcAft>
                <a:spcPts val="1300"/>
              </a:spcAft>
              <a:buNone/>
            </a:pPr>
            <a:r>
              <a:rPr lang="en-US" sz="3600" dirty="0">
                <a:solidFill>
                  <a:srgbClr val="2A201B"/>
                </a:solidFill>
                <a:latin typeface="Jost"/>
                <a:ea typeface="Jost"/>
                <a:cs typeface="Jost"/>
              </a:rPr>
              <a:t>It's not passive. You're still doing the work.</a:t>
            </a:r>
            <a:endParaRPr lang="en-US" sz="3600" dirty="0"/>
          </a:p>
          <a:p>
            <a:pPr algn="l" indent="0" marL="0">
              <a:spcAft>
                <a:spcPts val="1300"/>
              </a:spcAft>
              <a:buNone/>
            </a:pPr>
            <a:r>
              <a:rPr lang="en-US" sz="3600" dirty="0">
                <a:solidFill>
                  <a:srgbClr val="FBF7F1"/>
                </a:solidFill>
                <a:latin typeface="Jost"/>
                <a:ea typeface="Jost"/>
                <a:cs typeface="Jost"/>
              </a:rPr>
              <a:t>But it's predictable. You know what's coming before the month even starts.</a:t>
            </a:r>
            <a:endParaRPr lang="en-US" sz="36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300"/>
              </a:spcAft>
              <a:buNone/>
            </a:pPr>
            <a:r>
              <a:rPr lang="en-US" sz="4100" b="1" dirty="0">
                <a:solidFill>
                  <a:srgbClr val="2A201B"/>
                </a:solidFill>
                <a:latin typeface="Cormorant Garamond"/>
                <a:ea typeface="Cormorant Garamond"/>
                <a:cs typeface="Cormorant Garamond"/>
              </a:rPr>
              <a:t>That's what recurring revenue does.</a:t>
            </a:r>
            <a:endParaRPr lang="en-US" sz="4100" dirty="0"/>
          </a:p>
          <a:p>
            <a:pPr algn="l" indent="0" marL="0">
              <a:spcAft>
                <a:spcPts val="1300"/>
              </a:spcAft>
              <a:buNone/>
            </a:pPr>
            <a:r>
              <a:rPr lang="en-US" sz="3600" dirty="0">
                <a:solidFill>
                  <a:srgbClr val="2A201B"/>
                </a:solidFill>
                <a:latin typeface="Jost"/>
                <a:ea typeface="Jost"/>
                <a:cs typeface="Jost"/>
              </a:rPr>
              <a:t>Memberships, packages, and plans.</a:t>
            </a:r>
            <a:endParaRPr lang="en-US" sz="3600" dirty="0"/>
          </a:p>
          <a:p>
            <a:pPr algn="l" indent="0" marL="0">
              <a:spcAft>
                <a:spcPts val="1300"/>
              </a:spcAft>
              <a:buNone/>
            </a:pPr>
            <a:r>
              <a:rPr lang="en-US" sz="3600" dirty="0">
                <a:solidFill>
                  <a:srgbClr val="2A201B"/>
                </a:solidFill>
                <a:latin typeface="Jost"/>
                <a:ea typeface="Jost"/>
                <a:cs typeface="Jost"/>
              </a:rPr>
              <a:t>It's not passive. You're still doing the work.</a:t>
            </a:r>
            <a:endParaRPr lang="en-US" sz="3600" dirty="0"/>
          </a:p>
          <a:p>
            <a:pPr algn="l" indent="0" marL="0">
              <a:spcAft>
                <a:spcPts val="1300"/>
              </a:spcAft>
              <a:buNone/>
            </a:pPr>
            <a:r>
              <a:rPr lang="en-US" sz="3600" dirty="0">
                <a:solidFill>
                  <a:srgbClr val="2A201B"/>
                </a:solidFill>
                <a:latin typeface="Jost"/>
                <a:ea typeface="Jost"/>
                <a:cs typeface="Jost"/>
              </a:rPr>
              <a:t>But it's predictable. You know what's coming before the month even starts.</a:t>
            </a:r>
            <a:endParaRPr lang="en-US" sz="36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In my studio, I have a Maintained Membership at </a:t>
            </a:r>
            <a:pPr algn="l" indent="0" marL="0">
              <a:spcAft>
                <a:spcPts val="2100"/>
              </a:spcAft>
              <a:buNone/>
            </a:pPr>
            <a:r>
              <a:rPr lang="en-US" sz="6000" b="1" dirty="0">
                <a:solidFill>
                  <a:srgbClr val="AD5A6E"/>
                </a:solidFill>
                <a:latin typeface="Jost"/>
                <a:ea typeface="Jost"/>
                <a:cs typeface="Jost"/>
              </a:rPr>
              <a:t>$190</a:t>
            </a:r>
            <a:pPr algn="l" indent="0" marL="0">
              <a:spcAft>
                <a:spcPts val="2100"/>
              </a:spcAft>
              <a:buNone/>
            </a:pPr>
            <a:r>
              <a:rPr lang="en-US" sz="6000" b="1" dirty="0">
                <a:solidFill>
                  <a:srgbClr val="2A201B"/>
                </a:solidFill>
                <a:latin typeface="Jost"/>
                <a:ea typeface="Jost"/>
                <a:cs typeface="Jost"/>
              </a:rPr>
              <a:t> a month.</a:t>
            </a:r>
            <a:endParaRPr lang="en-US" sz="6000" dirty="0"/>
          </a:p>
          <a:p>
            <a:pPr algn="l" indent="0" marL="0">
              <a:spcAft>
                <a:spcPts val="2100"/>
              </a:spcAft>
              <a:buNone/>
            </a:pPr>
            <a:r>
              <a:rPr lang="en-US" sz="6000" dirty="0">
                <a:solidFill>
                  <a:srgbClr val="2A201B"/>
                </a:solidFill>
                <a:latin typeface="Jost"/>
                <a:ea typeface="Jost"/>
                <a:cs typeface="Jost"/>
              </a:rPr>
              <a:t>11 clients are on it.</a:t>
            </a:r>
            <a:endParaRPr lang="en-US" sz="60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149</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That's </a:t>
            </a:r>
            <a:pPr algn="l" indent="0" marL="0">
              <a:spcAft>
                <a:spcPts val="2100"/>
              </a:spcAft>
              <a:buNone/>
            </a:pPr>
            <a:r>
              <a:rPr lang="en-US" sz="6000" b="1" dirty="0">
                <a:solidFill>
                  <a:srgbClr val="AD5A6E"/>
                </a:solidFill>
                <a:latin typeface="Jost"/>
                <a:ea typeface="Jost"/>
                <a:cs typeface="Jost"/>
              </a:rPr>
              <a:t>$2,090</a:t>
            </a:r>
            <a:pPr algn="l" indent="0" marL="0">
              <a:spcAft>
                <a:spcPts val="2100"/>
              </a:spcAft>
              <a:buNone/>
            </a:pPr>
            <a:r>
              <a:rPr lang="en-US" sz="6000" b="1" dirty="0">
                <a:solidFill>
                  <a:srgbClr val="2A201B"/>
                </a:solidFill>
                <a:latin typeface="Jost"/>
                <a:ea typeface="Jost"/>
                <a:cs typeface="Jost"/>
              </a:rPr>
              <a:t> before the month even starts.</a:t>
            </a:r>
            <a:endParaRPr lang="en-US" sz="60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11 × $190</a:t>
            </a:r>
            <a:endParaRPr lang="en-US" sz="22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That's the shift.</a:t>
            </a:r>
            <a:endParaRPr lang="en-US" sz="6900" dirty="0"/>
          </a:p>
          <a:p>
            <a:pPr algn="l" indent="0" marL="0">
              <a:spcAft>
                <a:spcPts val="2100"/>
              </a:spcAft>
              <a:buNone/>
            </a:pPr>
            <a:r>
              <a:rPr lang="en-US" sz="6000" dirty="0">
                <a:solidFill>
                  <a:srgbClr val="2A201B"/>
                </a:solidFill>
                <a:latin typeface="Jost"/>
                <a:ea typeface="Jost"/>
                <a:cs typeface="Jost"/>
              </a:rPr>
              <a:t>From hoping clients book to knowing what's coming in.</a:t>
            </a:r>
            <a:endParaRPr lang="en-US" sz="60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151</a:t>
            </a:r>
            <a:endParaRPr lang="en-US" sz="1000" dirty="0"/>
          </a:p>
        </p:txBody>
      </p:sp>
      <p:sp>
        <p:nvSpPr>
          <p:cNvPr id="4" name="Text 1"/>
          <p:cNvSpPr txBox="1"/>
          <p:nvPr/>
        </p:nvSpPr>
        <p:spPr>
          <a:xfrm>
            <a:off x="731520" y="731520"/>
            <a:ext cx="5669280" cy="4892040"/>
          </a:xfrm>
          <a:prstGeom prst="rect">
            <a:avLst/>
          </a:prstGeom>
          <a:noFill/>
          <a:ln/>
        </p:spPr>
        <p:txBody>
          <a:bodyPr wrap="square" lIns="0" tIns="0" rIns="0" bIns="0" rtlCol="0" anchor="ctr"/>
          <a:lstStyle/>
          <a:p>
            <a:pPr algn="l" indent="0" marL="0">
              <a:spcAft>
                <a:spcPts val="1100"/>
              </a:spcAft>
              <a:buNone/>
            </a:pPr>
            <a:r>
              <a:rPr lang="en-US" sz="3000" dirty="0">
                <a:solidFill>
                  <a:srgbClr val="2A201B"/>
                </a:solidFill>
                <a:latin typeface="Jost"/>
                <a:ea typeface="Jost"/>
                <a:cs typeface="Jost"/>
              </a:rPr>
              <a:t>"One of the biggest shifts for me was realizing that I don't need to add more in order to grow. Sometimes growth comes from simplifying, refining what I already have, and being intentional about what I want my business to be known for."</a:t>
            </a:r>
            <a:endParaRPr lang="en-US" sz="3000" dirty="0"/>
          </a:p>
        </p:txBody>
      </p:sp>
      <p:sp>
        <p:nvSpPr>
          <p:cNvPr id="5" name="Text 2"/>
          <p:cNvSpPr txBox="1"/>
          <p:nvPr/>
        </p:nvSpPr>
        <p:spPr>
          <a:xfrm>
            <a:off x="731520" y="58064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6" name="Image 0" descr="/home/claude/webinar/deck-img/testimonial-1.jpg">    </p:cNvPr>
          <p:cNvPicPr>
            <a:picLocks noChangeAspect="1"/>
          </p:cNvPicPr>
          <p:nvPr/>
        </p:nvPicPr>
        <p:blipFill>
          <a:blip r:embed="rId1"/>
          <a:stretch>
            <a:fillRect/>
          </a:stretch>
        </p:blipFill>
        <p:spPr>
          <a:xfrm>
            <a:off x="7762732" y="548640"/>
            <a:ext cx="2762535" cy="5806440"/>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Type the one opportunity you circled.</a:t>
            </a:r>
            <a:endParaRPr lang="en-US" sz="69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now know where your next dollar is coming from.</a:t>
            </a:r>
            <a:endParaRPr lang="en-US" sz="6900" dirty="0"/>
          </a:p>
          <a:p>
            <a:pPr algn="l" indent="0" marL="0">
              <a:spcAft>
                <a:spcPts val="2100"/>
              </a:spcAft>
              <a:buNone/>
            </a:pPr>
            <a:r>
              <a:rPr lang="en-US" sz="6000" dirty="0">
                <a:solidFill>
                  <a:srgbClr val="2A201B"/>
                </a:solidFill>
                <a:latin typeface="Jost"/>
                <a:ea typeface="Jost"/>
                <a:cs typeface="Jost"/>
              </a:rPr>
              <a:t>And it's already sitting in your chair.</a:t>
            </a:r>
            <a:endParaRPr lang="en-US" sz="60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154</a:t>
            </a:r>
            <a:endParaRPr lang="en-US" sz="1000" dirty="0"/>
          </a:p>
        </p:txBody>
      </p:sp>
      <p:sp>
        <p:nvSpPr>
          <p:cNvPr id="4" name="Shape 1"/>
          <p:cNvSpPr/>
          <p:nvPr/>
        </p:nvSpPr>
        <p:spPr>
          <a:xfrm>
            <a:off x="731520" y="822960"/>
            <a:ext cx="640080" cy="640080"/>
          </a:xfrm>
          <a:prstGeom prst="ellipse">
            <a:avLst/>
          </a:prstGeom>
          <a:solidFill>
            <a:srgbClr val="AD5A6E"/>
          </a:solidFill>
          <a:ln w="12700">
            <a:solidFill>
              <a:srgbClr val="AD5A6E"/>
            </a:solidFill>
            <a:prstDash val="solid"/>
          </a:ln>
        </p:spPr>
      </p:sp>
      <p:sp>
        <p:nvSpPr>
          <p:cNvPr id="5" name="Text 2"/>
          <p:cNvSpPr txBox="1"/>
          <p:nvPr/>
        </p:nvSpPr>
        <p:spPr>
          <a:xfrm>
            <a:off x="731520" y="82296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6" name="Text 3"/>
          <p:cNvSpPr txBox="1"/>
          <p:nvPr/>
        </p:nvSpPr>
        <p:spPr>
          <a:xfrm>
            <a:off x="1828800" y="73152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1: Position yourself so clients know why to choose you</a:t>
            </a:r>
            <a:endParaRPr lang="en-US" sz="2800" dirty="0"/>
          </a:p>
        </p:txBody>
      </p:sp>
      <p:sp>
        <p:nvSpPr>
          <p:cNvPr id="7" name="Shape 4"/>
          <p:cNvSpPr/>
          <p:nvPr/>
        </p:nvSpPr>
        <p:spPr>
          <a:xfrm>
            <a:off x="731520" y="2606040"/>
            <a:ext cx="640080" cy="640080"/>
          </a:xfrm>
          <a:prstGeom prst="ellipse">
            <a:avLst/>
          </a:prstGeom>
          <a:solidFill>
            <a:srgbClr val="AD5A6E"/>
          </a:solidFill>
          <a:ln w="12700">
            <a:solidFill>
              <a:srgbClr val="AD5A6E"/>
            </a:solidFill>
            <a:prstDash val="solid"/>
          </a:ln>
        </p:spPr>
      </p:sp>
      <p:sp>
        <p:nvSpPr>
          <p:cNvPr id="8" name="Text 5"/>
          <p:cNvSpPr txBox="1"/>
          <p:nvPr/>
        </p:nvSpPr>
        <p:spPr>
          <a:xfrm>
            <a:off x="731520" y="260604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9" name="Text 6"/>
          <p:cNvSpPr txBox="1"/>
          <p:nvPr/>
        </p:nvSpPr>
        <p:spPr>
          <a:xfrm>
            <a:off x="1828800" y="251460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2: Post the 3 kinds of content</a:t>
            </a:r>
            <a:endParaRPr lang="en-US" sz="2800" dirty="0"/>
          </a:p>
        </p:txBody>
      </p:sp>
      <p:sp>
        <p:nvSpPr>
          <p:cNvPr id="10" name="Shape 7"/>
          <p:cNvSpPr/>
          <p:nvPr/>
        </p:nvSpPr>
        <p:spPr>
          <a:xfrm>
            <a:off x="731520" y="4389120"/>
            <a:ext cx="640080" cy="640080"/>
          </a:xfrm>
          <a:prstGeom prst="ellipse">
            <a:avLst/>
          </a:prstGeom>
          <a:solidFill>
            <a:srgbClr val="AD5A6E"/>
          </a:solidFill>
          <a:ln w="12700">
            <a:solidFill>
              <a:srgbClr val="AD5A6E"/>
            </a:solidFill>
            <a:prstDash val="solid"/>
          </a:ln>
        </p:spPr>
      </p:sp>
      <p:sp>
        <p:nvSpPr>
          <p:cNvPr id="11" name="Text 8"/>
          <p:cNvSpPr txBox="1"/>
          <p:nvPr/>
        </p:nvSpPr>
        <p:spPr>
          <a:xfrm>
            <a:off x="731520" y="4389120"/>
            <a:ext cx="640080" cy="640080"/>
          </a:xfrm>
          <a:prstGeom prst="rect">
            <a:avLst/>
          </a:prstGeom>
          <a:noFill/>
          <a:ln/>
        </p:spPr>
        <p:txBody>
          <a:bodyPr wrap="square" lIns="0" tIns="0" rIns="0" bIns="0" rtlCol="0" anchor="ctr"/>
          <a:lstStyle/>
          <a:p>
            <a:pPr algn="ctr" indent="0" marL="0">
              <a:buNone/>
            </a:pPr>
            <a:r>
              <a:rPr lang="en-US" sz="2200" b="1" dirty="0">
                <a:solidFill>
                  <a:srgbClr val="FBF7F1"/>
                </a:solidFill>
                <a:latin typeface="Jost"/>
                <a:ea typeface="Jost"/>
                <a:cs typeface="Jost"/>
              </a:rPr>
              <a:t>✓</a:t>
            </a:r>
            <a:endParaRPr lang="en-US" sz="2200" dirty="0"/>
          </a:p>
        </p:txBody>
      </p:sp>
      <p:sp>
        <p:nvSpPr>
          <p:cNvPr id="12" name="Text 9"/>
          <p:cNvSpPr txBox="1"/>
          <p:nvPr/>
        </p:nvSpPr>
        <p:spPr>
          <a:xfrm>
            <a:off x="1828800" y="4297680"/>
            <a:ext cx="9631375" cy="822960"/>
          </a:xfrm>
          <a:prstGeom prst="rect">
            <a:avLst/>
          </a:prstGeom>
          <a:noFill/>
          <a:ln/>
        </p:spPr>
        <p:txBody>
          <a:bodyPr wrap="square" lIns="0" tIns="0" rIns="0" bIns="0" rtlCol="0" anchor="ctr"/>
          <a:lstStyle/>
          <a:p>
            <a:pPr indent="0" marL="0">
              <a:buNone/>
            </a:pPr>
            <a:r>
              <a:rPr lang="en-US" sz="2800" dirty="0">
                <a:solidFill>
                  <a:srgbClr val="5A4A42"/>
                </a:solidFill>
                <a:latin typeface="Jost"/>
                <a:ea typeface="Jost"/>
                <a:cs typeface="Jost"/>
              </a:rPr>
              <a:t>Step 3: Find your next revenue opportunity</a:t>
            </a:r>
            <a:endParaRPr lang="en-US" sz="28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Don't aim for a whole new business by January.</a:t>
            </a:r>
            <a:endParaRPr lang="en-US" sz="69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Aim for one add-on.</a:t>
            </a:r>
            <a:endParaRPr lang="en-US" sz="69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One </a:t>
            </a:r>
            <a:pPr algn="l" indent="0" marL="0">
              <a:spcAft>
                <a:spcPts val="2100"/>
              </a:spcAft>
              <a:buNone/>
            </a:pPr>
            <a:r>
              <a:rPr lang="en-US" sz="6000" b="1" dirty="0">
                <a:solidFill>
                  <a:srgbClr val="AD5A6E"/>
                </a:solidFill>
                <a:latin typeface="Jost"/>
                <a:ea typeface="Jost"/>
                <a:cs typeface="Jost"/>
              </a:rPr>
              <a:t>$30</a:t>
            </a:r>
            <a:pPr algn="l" indent="0" marL="0">
              <a:spcAft>
                <a:spcPts val="2100"/>
              </a:spcAft>
              <a:buNone/>
            </a:pPr>
            <a:r>
              <a:rPr lang="en-US" sz="6000" b="1" dirty="0">
                <a:solidFill>
                  <a:srgbClr val="2A201B"/>
                </a:solidFill>
                <a:latin typeface="Jost"/>
                <a:ea typeface="Jost"/>
                <a:cs typeface="Jost"/>
              </a:rPr>
              <a:t> add-on. 5 clients a week.</a:t>
            </a:r>
            <a:endParaRPr lang="en-US" sz="6000" dirty="0"/>
          </a:p>
          <a:p>
            <a:pPr algn="l" indent="0" marL="0">
              <a:spcAft>
                <a:spcPts val="2100"/>
              </a:spcAft>
              <a:buNone/>
            </a:pPr>
            <a:r>
              <a:rPr lang="en-US" sz="6000" dirty="0">
                <a:solidFill>
                  <a:srgbClr val="2A201B"/>
                </a:solidFill>
                <a:latin typeface="Jost"/>
                <a:ea typeface="Jost"/>
                <a:cs typeface="Jost"/>
              </a:rPr>
              <a:t>That's </a:t>
            </a:r>
            <a:pPr algn="l" indent="0" marL="0">
              <a:spcAft>
                <a:spcPts val="2100"/>
              </a:spcAft>
              <a:buNone/>
            </a:pPr>
            <a:r>
              <a:rPr lang="en-US" sz="6000" b="1" dirty="0">
                <a:solidFill>
                  <a:srgbClr val="AD5A6E"/>
                </a:solidFill>
                <a:latin typeface="Jost"/>
                <a:ea typeface="Jost"/>
                <a:cs typeface="Jost"/>
              </a:rPr>
              <a:t>$150</a:t>
            </a:r>
            <a:pPr algn="l" indent="0" marL="0">
              <a:spcAft>
                <a:spcPts val="2100"/>
              </a:spcAft>
              <a:buNone/>
            </a:pPr>
            <a:r>
              <a:rPr lang="en-US" sz="6000" dirty="0">
                <a:solidFill>
                  <a:srgbClr val="2A201B"/>
                </a:solidFill>
                <a:latin typeface="Jost"/>
                <a:ea typeface="Jost"/>
                <a:cs typeface="Jost"/>
              </a:rPr>
              <a:t> a week.</a:t>
            </a:r>
            <a:endParaRPr lang="en-US" sz="60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That's about </a:t>
            </a:r>
            <a:pPr algn="l" indent="0" marL="0">
              <a:spcAft>
                <a:spcPts val="2100"/>
              </a:spcAft>
              <a:buNone/>
            </a:pPr>
            <a:r>
              <a:rPr lang="en-US" sz="6000" b="1" dirty="0">
                <a:solidFill>
                  <a:srgbClr val="AD5A6E"/>
                </a:solidFill>
                <a:latin typeface="Jost"/>
                <a:ea typeface="Jost"/>
                <a:cs typeface="Jost"/>
              </a:rPr>
              <a:t>$600</a:t>
            </a:r>
            <a:pPr algn="l" indent="0" marL="0">
              <a:spcAft>
                <a:spcPts val="2100"/>
              </a:spcAft>
              <a:buNone/>
            </a:pPr>
            <a:r>
              <a:rPr lang="en-US" sz="6000" b="1" dirty="0">
                <a:solidFill>
                  <a:srgbClr val="2A201B"/>
                </a:solidFill>
                <a:latin typeface="Jost"/>
                <a:ea typeface="Jost"/>
                <a:cs typeface="Jost"/>
              </a:rPr>
              <a:t> a month.</a:t>
            </a:r>
            <a:endParaRPr lang="en-US" sz="6000" dirty="0"/>
          </a:p>
          <a:p>
            <a:pPr algn="l" indent="0" marL="0">
              <a:spcAft>
                <a:spcPts val="2100"/>
              </a:spcAft>
              <a:buNone/>
            </a:pPr>
            <a:r>
              <a:rPr lang="en-US" sz="6000" dirty="0">
                <a:solidFill>
                  <a:srgbClr val="2A201B"/>
                </a:solidFill>
                <a:latin typeface="Jost"/>
                <a:ea typeface="Jost"/>
                <a:cs typeface="Jost"/>
              </a:rPr>
              <a:t>From people already in your chair.</a:t>
            </a:r>
            <a:endParaRPr lang="en-US" sz="60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159</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500"/>
              </a:spcAft>
              <a:buNone/>
            </a:pPr>
            <a:r>
              <a:rPr lang="en-US" sz="5100" b="1" dirty="0">
                <a:solidFill>
                  <a:srgbClr val="2A201B"/>
                </a:solidFill>
                <a:latin typeface="Cormorant Garamond"/>
                <a:ea typeface="Cormorant Garamond"/>
                <a:cs typeface="Cormorant Garamond"/>
              </a:rPr>
              <a:t>If we stopped right now, would you feel you got more than any webinar you've been on?</a:t>
            </a:r>
            <a:endParaRPr lang="en-US" sz="51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YES or NO</a:t>
            </a:r>
            <a:endParaRPr lang="en-US" sz="40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Remember the moment I said changed everything?</a:t>
            </a:r>
            <a:endParaRPr lang="en-US" sz="69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I had spent months and thousands of dollars on trainings, mentorships, and consultation calls.</a:t>
            </a:r>
            <a:endParaRPr lang="en-US" sz="3700" dirty="0"/>
          </a:p>
          <a:p>
            <a:pPr algn="l" indent="0" marL="0">
              <a:spcAft>
                <a:spcPts val="1100"/>
              </a:spcAft>
              <a:buNone/>
            </a:pPr>
            <a:r>
              <a:rPr lang="en-US" sz="3200" dirty="0">
                <a:solidFill>
                  <a:srgbClr val="FBF7F1"/>
                </a:solidFill>
                <a:latin typeface="Jost"/>
                <a:ea typeface="Jost"/>
                <a:cs typeface="Jost"/>
              </a:rPr>
              <a:t>They weren't scams. But some weren't as valuable as I hoped.</a:t>
            </a:r>
            <a:endParaRPr lang="en-US" sz="3200" dirty="0"/>
          </a:p>
          <a:p>
            <a:pPr algn="l" indent="0" marL="0">
              <a:spcAft>
                <a:spcPts val="1100"/>
              </a:spcAft>
              <a:buNone/>
            </a:pPr>
            <a:r>
              <a:rPr lang="en-US" sz="3200" dirty="0">
                <a:solidFill>
                  <a:srgbClr val="FBF7F1"/>
                </a:solidFill>
                <a:latin typeface="Jost"/>
                <a:ea typeface="Jost"/>
                <a:cs typeface="Jost"/>
              </a:rPr>
              <a:t>I took one or two things from each one.</a:t>
            </a:r>
            <a:endParaRPr lang="en-US" sz="3200" dirty="0"/>
          </a:p>
          <a:p>
            <a:pPr algn="l" indent="0" marL="0">
              <a:spcAft>
                <a:spcPts val="1100"/>
              </a:spcAft>
              <a:buNone/>
            </a:pPr>
            <a:r>
              <a:rPr lang="en-US" sz="3200" dirty="0">
                <a:solidFill>
                  <a:srgbClr val="FBF7F1"/>
                </a:solidFill>
                <a:latin typeface="Jost"/>
                <a:ea typeface="Jost"/>
                <a:cs typeface="Jost"/>
              </a:rPr>
              <a:t>And some really showed me the power of investing in yourself with the right people, and how you can avoid years of stress.</a:t>
            </a:r>
            <a:endParaRPr lang="en-US" sz="32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I had spent months and thousands of dollars on trainings, mentorships, and consultation calls.</a:t>
            </a:r>
            <a:endParaRPr lang="en-US" sz="3700" dirty="0"/>
          </a:p>
          <a:p>
            <a:pPr algn="l" indent="0" marL="0">
              <a:spcAft>
                <a:spcPts val="1100"/>
              </a:spcAft>
              <a:buNone/>
            </a:pPr>
            <a:r>
              <a:rPr lang="en-US" sz="3200" dirty="0">
                <a:solidFill>
                  <a:srgbClr val="2A201B"/>
                </a:solidFill>
                <a:latin typeface="Jost"/>
                <a:ea typeface="Jost"/>
                <a:cs typeface="Jost"/>
              </a:rPr>
              <a:t>They weren't scams. But some weren't as valuable as I hoped.</a:t>
            </a:r>
            <a:endParaRPr lang="en-US" sz="3200" dirty="0"/>
          </a:p>
          <a:p>
            <a:pPr algn="l" indent="0" marL="0">
              <a:spcAft>
                <a:spcPts val="1100"/>
              </a:spcAft>
              <a:buNone/>
            </a:pPr>
            <a:r>
              <a:rPr lang="en-US" sz="3200" dirty="0">
                <a:solidFill>
                  <a:srgbClr val="FBF7F1"/>
                </a:solidFill>
                <a:latin typeface="Jost"/>
                <a:ea typeface="Jost"/>
                <a:cs typeface="Jost"/>
              </a:rPr>
              <a:t>I took one or two things from each one.</a:t>
            </a:r>
            <a:endParaRPr lang="en-US" sz="3200" dirty="0"/>
          </a:p>
          <a:p>
            <a:pPr algn="l" indent="0" marL="0">
              <a:spcAft>
                <a:spcPts val="1100"/>
              </a:spcAft>
              <a:buNone/>
            </a:pPr>
            <a:r>
              <a:rPr lang="en-US" sz="3200" dirty="0">
                <a:solidFill>
                  <a:srgbClr val="FBF7F1"/>
                </a:solidFill>
                <a:latin typeface="Jost"/>
                <a:ea typeface="Jost"/>
                <a:cs typeface="Jost"/>
              </a:rPr>
              <a:t>And some really showed me the power of investing in yourself with the right people, and how you can avoid years of stress.</a:t>
            </a:r>
            <a:endParaRPr lang="en-US" sz="32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I had spent months and thousands of dollars on trainings, mentorships, and consultation calls.</a:t>
            </a:r>
            <a:endParaRPr lang="en-US" sz="3700" dirty="0"/>
          </a:p>
          <a:p>
            <a:pPr algn="l" indent="0" marL="0">
              <a:spcAft>
                <a:spcPts val="1100"/>
              </a:spcAft>
              <a:buNone/>
            </a:pPr>
            <a:r>
              <a:rPr lang="en-US" sz="3200" dirty="0">
                <a:solidFill>
                  <a:srgbClr val="2A201B"/>
                </a:solidFill>
                <a:latin typeface="Jost"/>
                <a:ea typeface="Jost"/>
                <a:cs typeface="Jost"/>
              </a:rPr>
              <a:t>They weren't scams. But some weren't as valuable as I hoped.</a:t>
            </a:r>
            <a:endParaRPr lang="en-US" sz="3200" dirty="0"/>
          </a:p>
          <a:p>
            <a:pPr algn="l" indent="0" marL="0">
              <a:spcAft>
                <a:spcPts val="1100"/>
              </a:spcAft>
              <a:buNone/>
            </a:pPr>
            <a:r>
              <a:rPr lang="en-US" sz="3200" dirty="0">
                <a:solidFill>
                  <a:srgbClr val="2A201B"/>
                </a:solidFill>
                <a:latin typeface="Jost"/>
                <a:ea typeface="Jost"/>
                <a:cs typeface="Jost"/>
              </a:rPr>
              <a:t>I took one or two things from each one.</a:t>
            </a:r>
            <a:endParaRPr lang="en-US" sz="3200" dirty="0"/>
          </a:p>
          <a:p>
            <a:pPr algn="l" indent="0" marL="0">
              <a:spcAft>
                <a:spcPts val="1100"/>
              </a:spcAft>
              <a:buNone/>
            </a:pPr>
            <a:r>
              <a:rPr lang="en-US" sz="3200" dirty="0">
                <a:solidFill>
                  <a:srgbClr val="FBF7F1"/>
                </a:solidFill>
                <a:latin typeface="Jost"/>
                <a:ea typeface="Jost"/>
                <a:cs typeface="Jost"/>
              </a:rPr>
              <a:t>And some really showed me the power of investing in yourself with the right people, and how you can avoid years of stress.</a:t>
            </a:r>
            <a:endParaRPr lang="en-US" sz="32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100"/>
              </a:spcAft>
              <a:buNone/>
            </a:pPr>
            <a:r>
              <a:rPr lang="en-US" sz="3700" b="1" dirty="0">
                <a:solidFill>
                  <a:srgbClr val="2A201B"/>
                </a:solidFill>
                <a:latin typeface="Cormorant Garamond"/>
                <a:ea typeface="Cormorant Garamond"/>
                <a:cs typeface="Cormorant Garamond"/>
              </a:rPr>
              <a:t>I had spent months and thousands of dollars on trainings, mentorships, and consultation calls.</a:t>
            </a:r>
            <a:endParaRPr lang="en-US" sz="3700" dirty="0"/>
          </a:p>
          <a:p>
            <a:pPr algn="l" indent="0" marL="0">
              <a:spcAft>
                <a:spcPts val="1100"/>
              </a:spcAft>
              <a:buNone/>
            </a:pPr>
            <a:r>
              <a:rPr lang="en-US" sz="3200" dirty="0">
                <a:solidFill>
                  <a:srgbClr val="2A201B"/>
                </a:solidFill>
                <a:latin typeface="Jost"/>
                <a:ea typeface="Jost"/>
                <a:cs typeface="Jost"/>
              </a:rPr>
              <a:t>They weren't scams. But some weren't as valuable as I hoped.</a:t>
            </a:r>
            <a:endParaRPr lang="en-US" sz="3200" dirty="0"/>
          </a:p>
          <a:p>
            <a:pPr algn="l" indent="0" marL="0">
              <a:spcAft>
                <a:spcPts val="1100"/>
              </a:spcAft>
              <a:buNone/>
            </a:pPr>
            <a:r>
              <a:rPr lang="en-US" sz="3200" dirty="0">
                <a:solidFill>
                  <a:srgbClr val="2A201B"/>
                </a:solidFill>
                <a:latin typeface="Jost"/>
                <a:ea typeface="Jost"/>
                <a:cs typeface="Jost"/>
              </a:rPr>
              <a:t>I took one or two things from each one.</a:t>
            </a:r>
            <a:endParaRPr lang="en-US" sz="3200" dirty="0"/>
          </a:p>
          <a:p>
            <a:pPr algn="l" indent="0" marL="0">
              <a:spcAft>
                <a:spcPts val="1100"/>
              </a:spcAft>
              <a:buNone/>
            </a:pPr>
            <a:r>
              <a:rPr lang="en-US" sz="3200" dirty="0">
                <a:solidFill>
                  <a:srgbClr val="2A201B"/>
                </a:solidFill>
                <a:latin typeface="Jost"/>
                <a:ea typeface="Jost"/>
                <a:cs typeface="Jost"/>
              </a:rPr>
              <a:t>And some really showed me the power of investing in yourself with the right people, and how you can avoid years of stress.</a:t>
            </a:r>
            <a:endParaRPr lang="en-US" sz="32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162</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Then I mixed those pieces with my own research, learning, and experience.</a:t>
            </a:r>
            <a:endParaRPr lang="en-US" sz="5100" dirty="0"/>
          </a:p>
          <a:p>
            <a:pPr algn="l" indent="0" marL="0">
              <a:spcAft>
                <a:spcPts val="1500"/>
              </a:spcAft>
              <a:buNone/>
            </a:pPr>
            <a:r>
              <a:rPr lang="en-US" sz="4400" dirty="0">
                <a:solidFill>
                  <a:srgbClr val="FBF7F1"/>
                </a:solidFill>
                <a:latin typeface="Jost"/>
                <a:ea typeface="Jost"/>
                <a:cs typeface="Jost"/>
              </a:rPr>
              <a:t>And everything clicked.</a:t>
            </a:r>
            <a:endParaRPr lang="en-US" sz="4400" dirty="0"/>
          </a:p>
        </p:txBody>
      </p:sp>
      <p:pic>
        <p:nvPicPr>
          <p:cNvPr id="5" name="Image 0" descr="/home/claude/webinar/deck-img/cherie-mentoring-at-desk.jpg">    </p:cNvPr>
          <p:cNvPicPr>
            <a:picLocks noChangeAspect="1"/>
          </p:cNvPicPr>
          <p:nvPr/>
        </p:nvPicPr>
        <p:blipFill>
          <a:blip r:embed="rId1"/>
          <a:stretch>
            <a:fillRect/>
          </a:stretch>
        </p:blipFill>
        <p:spPr>
          <a:xfrm>
            <a:off x="6617056" y="457200"/>
            <a:ext cx="4718304" cy="5897880"/>
          </a:xfrm>
          <a:prstGeom prst="rect">
            <a:avLst/>
          </a:prstGeom>
        </p:spPr>
      </p:pic>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162</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Then I mixed those pieces with my own research, learning, and experience.</a:t>
            </a:r>
            <a:endParaRPr lang="en-US" sz="5100" dirty="0"/>
          </a:p>
          <a:p>
            <a:pPr algn="l" indent="0" marL="0">
              <a:spcAft>
                <a:spcPts val="1500"/>
              </a:spcAft>
              <a:buNone/>
            </a:pPr>
            <a:r>
              <a:rPr lang="en-US" sz="4400" dirty="0">
                <a:solidFill>
                  <a:srgbClr val="2A201B"/>
                </a:solidFill>
                <a:latin typeface="Jost"/>
                <a:ea typeface="Jost"/>
                <a:cs typeface="Jost"/>
              </a:rPr>
              <a:t>And everything clicked.</a:t>
            </a:r>
            <a:endParaRPr lang="en-US" sz="4400" dirty="0"/>
          </a:p>
        </p:txBody>
      </p:sp>
      <p:pic>
        <p:nvPicPr>
          <p:cNvPr id="5" name="Image 0" descr="/home/claude/webinar/deck-img/cherie-mentoring-at-desk.jpg">    </p:cNvPr>
          <p:cNvPicPr>
            <a:picLocks noChangeAspect="1"/>
          </p:cNvPicPr>
          <p:nvPr/>
        </p:nvPicPr>
        <p:blipFill>
          <a:blip r:embed="rId1"/>
          <a:stretch>
            <a:fillRect/>
          </a:stretch>
        </p:blipFill>
        <p:spPr>
          <a:xfrm>
            <a:off x="6617056" y="457200"/>
            <a:ext cx="4718304" cy="5897880"/>
          </a:xfrm>
          <a:prstGeom prst="rect">
            <a:avLst/>
          </a:prstGeom>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163</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got so booked I had to restructure my hours, limit my appointments, and turn away clients I couldn't take.</a:t>
            </a:r>
            <a:endParaRPr lang="en-US" sz="5100" dirty="0"/>
          </a:p>
        </p:txBody>
      </p:sp>
      <p:pic>
        <p:nvPicPr>
          <p:cNvPr id="5" name="Image 0" descr="/home/claude/webinar/deck-img/booked-calendar.jpg">    </p:cNvPr>
          <p:cNvPicPr>
            <a:picLocks noChangeAspect="1"/>
          </p:cNvPicPr>
          <p:nvPr/>
        </p:nvPicPr>
        <p:blipFill>
          <a:blip r:embed="rId1"/>
          <a:stretch>
            <a:fillRect/>
          </a:stretch>
        </p:blipFill>
        <p:spPr>
          <a:xfrm>
            <a:off x="6617056" y="457200"/>
            <a:ext cx="4718304" cy="5897880"/>
          </a:xfrm>
          <a:prstGeom prst="rect">
            <a:avLst/>
          </a:prstGeom>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Working wasn't a survival need anymore.</a:t>
            </a:r>
            <a:endParaRPr lang="en-US" sz="6900" dirty="0"/>
          </a:p>
          <a:p>
            <a:pPr algn="l" indent="0" marL="0">
              <a:spcAft>
                <a:spcPts val="2100"/>
              </a:spcAft>
              <a:buNone/>
            </a:pPr>
            <a:r>
              <a:rPr lang="en-US" sz="6000" dirty="0">
                <a:solidFill>
                  <a:srgbClr val="2A201B"/>
                </a:solidFill>
                <a:latin typeface="Jost"/>
                <a:ea typeface="Jost"/>
                <a:cs typeface="Jost"/>
              </a:rPr>
              <a:t>It became a choice.</a:t>
            </a:r>
            <a:endParaRPr lang="en-US" sz="60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165</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Then other pros started asking me how.</a:t>
            </a:r>
            <a:endParaRPr lang="en-US" sz="5500" dirty="0"/>
          </a:p>
        </p:txBody>
      </p:sp>
      <p:pic>
        <p:nvPicPr>
          <p:cNvPr id="5" name="Image 0" descr="/home/claude/webinar/deck-img/pro-text-whats-the-blueprint.jpg">    </p:cNvPr>
          <p:cNvPicPr>
            <a:picLocks noChangeAspect="1"/>
          </p:cNvPicPr>
          <p:nvPr/>
        </p:nvPicPr>
        <p:blipFill>
          <a:blip r:embed="rId1"/>
          <a:stretch>
            <a:fillRect/>
          </a:stretch>
        </p:blipFill>
        <p:spPr>
          <a:xfrm>
            <a:off x="6309360" y="2094782"/>
            <a:ext cx="5333695" cy="2622715"/>
          </a:xfrm>
          <a:prstGeom prst="rect">
            <a:avLst/>
          </a:prstGeom>
        </p:spPr>
      </p:pic>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 know what it's like to struggle, try different things, and get generic information that doesn't change your business.</a:t>
            </a:r>
            <a:endParaRPr lang="en-US" sz="69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I promised myself I'd share the information and resources I wish I had when I was figuring it out alone.</a:t>
            </a:r>
            <a:endParaRPr lang="en-US" sz="69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168</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Tonight, I want to be that for you.</a:t>
            </a:r>
            <a:endParaRPr lang="en-US" sz="5500" dirty="0"/>
          </a:p>
        </p:txBody>
      </p:sp>
      <p:pic>
        <p:nvPicPr>
          <p:cNvPr id="5" name="Image 0" descr="/home/claude/webinar/deck-img/cherie-mentoring-at-desk.jpg">    </p:cNvPr>
          <p:cNvPicPr>
            <a:picLocks noChangeAspect="1"/>
          </p:cNvPicPr>
          <p:nvPr/>
        </p:nvPicPr>
        <p:blipFill>
          <a:blip r:embed="rId1"/>
          <a:stretch>
            <a:fillRect/>
          </a:stretch>
        </p:blipFill>
        <p:spPr>
          <a:xfrm>
            <a:off x="6617056" y="457200"/>
            <a:ext cx="4718304" cy="5897880"/>
          </a:xfrm>
          <a:prstGeom prst="rect">
            <a:avLst/>
          </a:prstGeom>
        </p:spPr>
      </p:pic>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169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far tonight...</a:t>
            </a:r>
            <a:endParaRPr lang="en-US" sz="69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found your positioning.</a:t>
            </a:r>
            <a:endParaRPr lang="en-US" sz="69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You learned the 3 kinds of posts and the proof ladder.</a:t>
            </a:r>
            <a:endParaRPr lang="en-US" sz="60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found the money already sitting in your chair.</a:t>
            </a:r>
            <a:endParaRPr lang="en-US" sz="69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173</a:t>
            </a:r>
            <a:endParaRPr lang="en-US" sz="1000" dirty="0"/>
          </a:p>
        </p:txBody>
      </p:sp>
      <p:sp>
        <p:nvSpPr>
          <p:cNvPr id="4" name="Text 1"/>
          <p:cNvSpPr txBox="1"/>
          <p:nvPr/>
        </p:nvSpPr>
        <p:spPr>
          <a:xfrm>
            <a:off x="731520" y="640080"/>
            <a:ext cx="10728655" cy="2857500"/>
          </a:xfrm>
          <a:prstGeom prst="rect">
            <a:avLst/>
          </a:prstGeom>
          <a:noFill/>
          <a:ln/>
        </p:spPr>
        <p:txBody>
          <a:bodyPr wrap="square" lIns="0" tIns="0" rIns="0" bIns="0" rtlCol="0" anchor="b"/>
          <a:lstStyle/>
          <a:p>
            <a:pPr algn="l" indent="0" marL="0">
              <a:spcAft>
                <a:spcPts val="1900"/>
              </a:spcAft>
              <a:buNone/>
            </a:pPr>
            <a:r>
              <a:rPr lang="en-US" sz="6200" b="1" dirty="0">
                <a:solidFill>
                  <a:srgbClr val="2A201B"/>
                </a:solidFill>
                <a:latin typeface="Cormorant Garamond"/>
                <a:ea typeface="Cormorant Garamond"/>
                <a:cs typeface="Cormorant Garamond"/>
              </a:rPr>
              <a:t>Do you see why clients need a reason to choose you, not just good work?</a:t>
            </a:r>
            <a:endParaRPr lang="en-US" sz="6200" dirty="0"/>
          </a:p>
        </p:txBody>
      </p:sp>
      <p:sp>
        <p:nvSpPr>
          <p:cNvPr id="5" name="Text 2"/>
          <p:cNvSpPr txBox="1"/>
          <p:nvPr/>
        </p:nvSpPr>
        <p:spPr>
          <a:xfrm>
            <a:off x="731520" y="3783330"/>
            <a:ext cx="10728655" cy="2286000"/>
          </a:xfrm>
          <a:prstGeom prst="rect">
            <a:avLst/>
          </a:prstGeom>
          <a:noFill/>
          <a:ln/>
        </p:spPr>
        <p:txBody>
          <a:bodyPr wrap="square" lIns="0" tIns="0" rIns="0" bIns="0" rtlCol="0" anchor="t"/>
          <a:lstStyle/>
          <a:p>
            <a:pPr indent="0" marL="0">
              <a:buNone/>
            </a:pPr>
            <a:r>
              <a:rPr lang="en-US" sz="4000" dirty="0">
                <a:solidFill>
                  <a:srgbClr val="5A4A42"/>
                </a:solidFill>
                <a:latin typeface="Jost"/>
                <a:ea typeface="Jost"/>
                <a:cs typeface="Jost"/>
              </a:rPr>
              <a:t>Type  </a:t>
            </a:r>
            <a:pPr indent="0" marL="0">
              <a:buNone/>
            </a:pPr>
            <a:r>
              <a:rPr lang="en-US" sz="9600" b="1" dirty="0">
                <a:solidFill>
                  <a:srgbClr val="AD5A6E"/>
                </a:solidFill>
                <a:latin typeface="Jost"/>
                <a:ea typeface="Jost"/>
                <a:cs typeface="Jost"/>
              </a:rPr>
              <a:t>YES</a:t>
            </a:r>
            <a:endParaRPr lang="en-US" sz="40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Do you see how 3 kinds of posts move a stranger to a booking?</a:t>
            </a:r>
            <a:endParaRPr lang="en-US" sz="60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Do you believe there's money sitting in the clients you already have?</a:t>
            </a:r>
            <a:endParaRPr lang="en-US" sz="69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Do you want a business that pays more and costs your body less?</a:t>
            </a:r>
            <a:endParaRPr lang="en-US" sz="69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Would it help to have someone look at your business and tell you exactly what to fix first?</a:t>
            </a:r>
            <a:endParaRPr lang="en-US" sz="69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If we could package everything you learned tonight, with me building it with you week by week, would you want to move forward?</a:t>
            </a:r>
            <a:endParaRPr lang="en-US" sz="69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179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Remember my two agendas?</a:t>
            </a:r>
            <a:endParaRPr lang="en-US" sz="6900" dirty="0"/>
          </a:p>
          <a:p>
            <a:pPr algn="l" indent="0" marL="0">
              <a:spcAft>
                <a:spcPts val="2100"/>
              </a:spcAft>
              <a:buNone/>
            </a:pPr>
            <a:r>
              <a:rPr lang="en-US" sz="6000" dirty="0">
                <a:solidFill>
                  <a:srgbClr val="2A201B"/>
                </a:solidFill>
                <a:latin typeface="Jost"/>
                <a:ea typeface="Jost"/>
                <a:cs typeface="Jost"/>
              </a:rPr>
              <a:t>#1: The best training you've had on growing your beauty business.</a:t>
            </a:r>
            <a:endParaRPr lang="en-US" sz="60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If I delivered on #1, let's talk about #2.</a:t>
            </a:r>
            <a:endParaRPr lang="en-US" sz="60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have two choices.</a:t>
            </a:r>
            <a:endParaRPr lang="en-US" sz="69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Choice 1: Take what you learned tonight and do it on your own.</a:t>
            </a:r>
            <a:endParaRPr lang="en-US" sz="6000" dirty="0"/>
          </a:p>
          <a:p>
            <a:pPr algn="l" indent="0" marL="0">
              <a:spcAft>
                <a:spcPts val="2100"/>
              </a:spcAft>
              <a:buNone/>
            </a:pPr>
            <a:r>
              <a:rPr lang="en-US" sz="6000" dirty="0">
                <a:solidFill>
                  <a:srgbClr val="2A201B"/>
                </a:solidFill>
                <a:latin typeface="Jost"/>
                <a:ea typeface="Jost"/>
                <a:cs typeface="Jost"/>
              </a:rPr>
              <a:t>I'll be cheering for you.</a:t>
            </a:r>
            <a:endParaRPr lang="en-US" sz="60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Choice 2: Build it with me, for 8 weeks, with a small group of pros who get it.</a:t>
            </a:r>
            <a:endParaRPr lang="en-US" sz="60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So I built something for exactly this.</a:t>
            </a:r>
            <a:endParaRPr lang="en-US" sz="69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185</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Remember this?</a:t>
            </a:r>
            <a:endParaRPr lang="en-US" sz="5500" dirty="0"/>
          </a:p>
        </p:txBody>
      </p:sp>
      <p:pic>
        <p:nvPicPr>
          <p:cNvPr id="5" name="Image 0" descr="/home/claude/webinar/deck-img/pro-text-whats-the-blueprint.jpg">    </p:cNvPr>
          <p:cNvPicPr>
            <a:picLocks noChangeAspect="1"/>
          </p:cNvPicPr>
          <p:nvPr/>
        </p:nvPicPr>
        <p:blipFill>
          <a:blip r:embed="rId1"/>
          <a:stretch>
            <a:fillRect/>
          </a:stretch>
        </p:blipFill>
        <p:spPr>
          <a:xfrm>
            <a:off x="6309360" y="2094782"/>
            <a:ext cx="5333695" cy="2622715"/>
          </a:xfrm>
          <a:prstGeom prst="rect">
            <a:avLst/>
          </a:prstGeom>
        </p:spPr>
      </p:pic>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186</a:t>
            </a:r>
            <a:endParaRPr lang="en-US" sz="1000" dirty="0"/>
          </a:p>
        </p:txBody>
      </p:sp>
      <p:sp>
        <p:nvSpPr>
          <p:cNvPr id="4" name="Text 1"/>
          <p:cNvSpPr txBox="1"/>
          <p:nvPr/>
        </p:nvSpPr>
        <p:spPr>
          <a:xfrm>
            <a:off x="731520" y="731520"/>
            <a:ext cx="10728655" cy="4846320"/>
          </a:xfrm>
          <a:prstGeom prst="rect">
            <a:avLst/>
          </a:prstGeom>
          <a:noFill/>
          <a:ln/>
        </p:spPr>
        <p:txBody>
          <a:bodyPr wrap="square" lIns="0" tIns="0" rIns="0" bIns="0" rtlCol="0" anchor="ctr"/>
          <a:lstStyle/>
          <a:p>
            <a:pPr algn="ctr" indent="0" marL="0">
              <a:buNone/>
            </a:pPr>
            <a:r>
              <a:rPr lang="en-US" sz="8300" b="1" dirty="0">
                <a:solidFill>
                  <a:srgbClr val="F5C6D2"/>
                </a:solidFill>
                <a:latin typeface="Cormorant Garamond"/>
                <a:ea typeface="Cormorant Garamond"/>
                <a:cs typeface="Cormorant Garamond"/>
              </a:rPr>
              <a:t>The Beauty Business Blueprint</a:t>
            </a:r>
            <a:endParaRPr lang="en-US" sz="830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An 8-week group mentorship where you build a beauty business that pays more and costs your body less.</a:t>
            </a:r>
            <a:endParaRPr lang="en-US" sz="600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It's not another course you buy and never finish.</a:t>
            </a:r>
            <a:endParaRPr lang="en-US" sz="5500" dirty="0"/>
          </a:p>
          <a:p>
            <a:pPr algn="l" indent="0" marL="0">
              <a:spcAft>
                <a:spcPts val="1700"/>
              </a:spcAft>
              <a:buNone/>
            </a:pPr>
            <a:r>
              <a:rPr lang="en-US" sz="4800" dirty="0">
                <a:solidFill>
                  <a:srgbClr val="FBF7F1"/>
                </a:solidFill>
                <a:latin typeface="Jost"/>
                <a:ea typeface="Jost"/>
                <a:cs typeface="Jost"/>
              </a:rPr>
              <a:t>It's 8 weeks of building your business, live, with me and a small group of pros who get it.</a:t>
            </a:r>
            <a:endParaRPr lang="en-US" sz="480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188</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It's not another course you buy and never finish.</a:t>
            </a:r>
            <a:endParaRPr lang="en-US" sz="5500" dirty="0"/>
          </a:p>
          <a:p>
            <a:pPr algn="l" indent="0" marL="0">
              <a:spcAft>
                <a:spcPts val="1700"/>
              </a:spcAft>
              <a:buNone/>
            </a:pPr>
            <a:r>
              <a:rPr lang="en-US" sz="4800" dirty="0">
                <a:solidFill>
                  <a:srgbClr val="2A201B"/>
                </a:solidFill>
                <a:latin typeface="Jost"/>
                <a:ea typeface="Jost"/>
                <a:cs typeface="Jost"/>
              </a:rPr>
              <a:t>It's 8 weeks of building your business, live, with me and a small group of pros who get it.</a:t>
            </a:r>
            <a:endParaRPr lang="en-US" sz="480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189</a:t>
            </a:r>
            <a:endParaRPr lang="en-US" sz="1000" dirty="0"/>
          </a:p>
        </p:txBody>
      </p:sp>
      <p:sp>
        <p:nvSpPr>
          <p:cNvPr id="4" name="Shape 1"/>
          <p:cNvSpPr/>
          <p:nvPr/>
        </p:nvSpPr>
        <p:spPr>
          <a:xfrm>
            <a:off x="731520" y="822960"/>
            <a:ext cx="5090008" cy="5257800"/>
          </a:xfrm>
          <a:prstGeom prst="rect">
            <a:avLst/>
          </a:prstGeom>
          <a:solidFill>
            <a:srgbClr val="FBE6EB"/>
          </a:solidFill>
          <a:ln w="12700">
            <a:solidFill>
              <a:srgbClr val="F2C9D3"/>
            </a:solidFill>
            <a:prstDash val="solid"/>
          </a:ln>
        </p:spPr>
      </p:sp>
      <p:sp>
        <p:nvSpPr>
          <p:cNvPr id="5" name="Text 2"/>
          <p:cNvSpPr txBox="1"/>
          <p:nvPr/>
        </p:nvSpPr>
        <p:spPr>
          <a:xfrm>
            <a:off x="1143000" y="1097280"/>
            <a:ext cx="4267048" cy="731520"/>
          </a:xfrm>
          <a:prstGeom prst="rect">
            <a:avLst/>
          </a:prstGeom>
          <a:noFill/>
          <a:ln/>
        </p:spPr>
        <p:txBody>
          <a:bodyPr wrap="square" lIns="0" tIns="0" rIns="0" bIns="0" rtlCol="0" anchor="ctr"/>
          <a:lstStyle/>
          <a:p>
            <a:pPr indent="0" marL="0">
              <a:buNone/>
            </a:pPr>
            <a:r>
              <a:rPr lang="en-US" sz="3700" b="1" dirty="0">
                <a:solidFill>
                  <a:srgbClr val="AD5A6E"/>
                </a:solidFill>
                <a:latin typeface="Cormorant Garamond"/>
                <a:ea typeface="Cormorant Garamond"/>
                <a:cs typeface="Cormorant Garamond"/>
              </a:rPr>
              <a:t>What I do:</a:t>
            </a:r>
            <a:endParaRPr lang="en-US" sz="3700" dirty="0"/>
          </a:p>
        </p:txBody>
      </p:sp>
      <p:sp>
        <p:nvSpPr>
          <p:cNvPr id="6" name="Text 3"/>
          <p:cNvSpPr txBox="1"/>
          <p:nvPr/>
        </p:nvSpPr>
        <p:spPr>
          <a:xfrm>
            <a:off x="1143000" y="1920240"/>
            <a:ext cx="4267048" cy="3977640"/>
          </a:xfrm>
          <a:prstGeom prst="rect">
            <a:avLst/>
          </a:prstGeom>
          <a:noFill/>
          <a:ln/>
        </p:spPr>
        <p:txBody>
          <a:bodyPr wrap="square" lIns="0" tIns="0" rIns="0" bIns="0" rtlCol="0" anchor="t"/>
          <a:lstStyle/>
          <a:p>
            <a:pPr indent="0" marL="0">
              <a:spcAft>
                <a:spcPts val="1400"/>
              </a:spcAft>
              <a:buNone/>
            </a:pPr>
            <a:r>
              <a:rPr lang="en-US" sz="3000" dirty="0">
                <a:solidFill>
                  <a:srgbClr val="2A201B"/>
                </a:solidFill>
                <a:latin typeface="Jost"/>
                <a:ea typeface="Jost"/>
                <a:cs typeface="Jost"/>
              </a:rPr>
              <a:t>Teach you live every week.</a:t>
            </a:r>
            <a:endParaRPr lang="en-US" sz="3000" dirty="0"/>
          </a:p>
          <a:p>
            <a:pPr indent="0" marL="0">
              <a:spcAft>
                <a:spcPts val="1400"/>
              </a:spcAft>
              <a:buNone/>
            </a:pPr>
            <a:r>
              <a:rPr lang="en-US" sz="3000" dirty="0">
                <a:solidFill>
                  <a:srgbClr val="2A201B"/>
                </a:solidFill>
                <a:latin typeface="Jost"/>
                <a:ea typeface="Jost"/>
                <a:cs typeface="Jost"/>
              </a:rPr>
              <a:t>Give you feedback.</a:t>
            </a:r>
            <a:endParaRPr lang="en-US" sz="3000" dirty="0"/>
          </a:p>
          <a:p>
            <a:pPr indent="0" marL="0">
              <a:spcAft>
                <a:spcPts val="1400"/>
              </a:spcAft>
              <a:buNone/>
            </a:pPr>
            <a:r>
              <a:rPr lang="en-US" sz="3000" dirty="0">
                <a:solidFill>
                  <a:srgbClr val="2A201B"/>
                </a:solidFill>
                <a:latin typeface="Jost"/>
                <a:ea typeface="Jost"/>
                <a:cs typeface="Jost"/>
              </a:rPr>
              <a:t>Hold you accountable.</a:t>
            </a:r>
            <a:endParaRPr lang="en-US" sz="3000" dirty="0"/>
          </a:p>
        </p:txBody>
      </p:sp>
      <p:sp>
        <p:nvSpPr>
          <p:cNvPr id="7" name="Shape 4"/>
          <p:cNvSpPr/>
          <p:nvPr/>
        </p:nvSpPr>
        <p:spPr>
          <a:xfrm>
            <a:off x="6370168" y="822960"/>
            <a:ext cx="5090008" cy="5257800"/>
          </a:xfrm>
          <a:prstGeom prst="rect">
            <a:avLst/>
          </a:prstGeom>
          <a:solidFill>
            <a:srgbClr val="FBE6EB"/>
          </a:solidFill>
          <a:ln w="12700">
            <a:solidFill>
              <a:srgbClr val="F2C9D3"/>
            </a:solidFill>
            <a:prstDash val="solid"/>
          </a:ln>
        </p:spPr>
      </p:sp>
      <p:sp>
        <p:nvSpPr>
          <p:cNvPr id="8" name="Text 5"/>
          <p:cNvSpPr txBox="1"/>
          <p:nvPr/>
        </p:nvSpPr>
        <p:spPr>
          <a:xfrm>
            <a:off x="6781648" y="1097280"/>
            <a:ext cx="4267048" cy="731520"/>
          </a:xfrm>
          <a:prstGeom prst="rect">
            <a:avLst/>
          </a:prstGeom>
          <a:noFill/>
          <a:ln/>
        </p:spPr>
        <p:txBody>
          <a:bodyPr wrap="square" lIns="0" tIns="0" rIns="0" bIns="0" rtlCol="0" anchor="ctr"/>
          <a:lstStyle/>
          <a:p>
            <a:pPr indent="0" marL="0">
              <a:buNone/>
            </a:pPr>
            <a:r>
              <a:rPr lang="en-US" sz="3700" b="1" dirty="0">
                <a:solidFill>
                  <a:srgbClr val="AD5A6E"/>
                </a:solidFill>
                <a:latin typeface="Cormorant Garamond"/>
                <a:ea typeface="Cormorant Garamond"/>
                <a:cs typeface="Cormorant Garamond"/>
              </a:rPr>
              <a:t>What you do:</a:t>
            </a:r>
            <a:endParaRPr lang="en-US" sz="3700" dirty="0"/>
          </a:p>
        </p:txBody>
      </p:sp>
      <p:sp>
        <p:nvSpPr>
          <p:cNvPr id="9" name="Text 6"/>
          <p:cNvSpPr txBox="1"/>
          <p:nvPr/>
        </p:nvSpPr>
        <p:spPr>
          <a:xfrm>
            <a:off x="6781648" y="1920240"/>
            <a:ext cx="4267048" cy="3977640"/>
          </a:xfrm>
          <a:prstGeom prst="rect">
            <a:avLst/>
          </a:prstGeom>
          <a:noFill/>
          <a:ln/>
        </p:spPr>
        <p:txBody>
          <a:bodyPr wrap="square" lIns="0" tIns="0" rIns="0" bIns="0" rtlCol="0" anchor="t"/>
          <a:lstStyle/>
          <a:p>
            <a:pPr indent="0" marL="0">
              <a:spcAft>
                <a:spcPts val="1400"/>
              </a:spcAft>
              <a:buNone/>
            </a:pPr>
            <a:r>
              <a:rPr lang="en-US" sz="3000" dirty="0">
                <a:solidFill>
                  <a:srgbClr val="2A201B"/>
                </a:solidFill>
                <a:latin typeface="Jost"/>
                <a:ea typeface="Jost"/>
                <a:cs typeface="Jost"/>
              </a:rPr>
              <a:t>Show up, live or on replay.</a:t>
            </a:r>
            <a:endParaRPr lang="en-US" sz="3000" dirty="0"/>
          </a:p>
          <a:p>
            <a:pPr indent="0" marL="0">
              <a:spcAft>
                <a:spcPts val="1400"/>
              </a:spcAft>
              <a:buNone/>
            </a:pPr>
            <a:r>
              <a:rPr lang="en-US" sz="3000" dirty="0">
                <a:solidFill>
                  <a:srgbClr val="2A201B"/>
                </a:solidFill>
                <a:latin typeface="Jost"/>
                <a:ea typeface="Jost"/>
                <a:cs typeface="Jost"/>
              </a:rPr>
              <a:t>Do the weekly homework.</a:t>
            </a:r>
            <a:endParaRPr lang="en-US" sz="3000" dirty="0"/>
          </a:p>
          <a:p>
            <a:pPr indent="0" marL="0">
              <a:spcAft>
                <a:spcPts val="1400"/>
              </a:spcAft>
              <a:buNone/>
            </a:pPr>
            <a:r>
              <a:rPr lang="en-US" sz="3000" dirty="0">
                <a:solidFill>
                  <a:srgbClr val="2A201B"/>
                </a:solidFill>
                <a:latin typeface="Jost"/>
                <a:ea typeface="Jost"/>
                <a:cs typeface="Jost"/>
              </a:rPr>
              <a:t>Put it into your business.</a:t>
            </a:r>
            <a:endParaRPr lang="en-US" sz="300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5029200"/>
          </a:xfrm>
          <a:prstGeom prst="rect">
            <a:avLst/>
          </a:prstGeom>
          <a:noFill/>
          <a:ln/>
        </p:spPr>
        <p:txBody>
          <a:bodyPr wrap="square" lIns="0" tIns="0" rIns="0" bIns="0" rtlCol="0" anchor="ctr"/>
          <a:lstStyle/>
          <a:p>
            <a:pPr algn="l" indent="0" marL="0">
              <a:spcAft>
                <a:spcPts val="2300"/>
              </a:spcAft>
              <a:buNone/>
            </a:pPr>
            <a:r>
              <a:rPr lang="en-US" sz="7600" b="1" dirty="0">
                <a:solidFill>
                  <a:srgbClr val="2A201B"/>
                </a:solidFill>
                <a:latin typeface="Cormorant Garamond"/>
                <a:ea typeface="Cormorant Garamond"/>
                <a:cs typeface="Cormorant Garamond"/>
              </a:rPr>
              <a:t>Founding cohort is open.</a:t>
            </a:r>
            <a:endParaRPr lang="en-US" sz="7600" dirty="0"/>
          </a:p>
          <a:p>
            <a:pPr algn="l" indent="0" marL="0">
              <a:spcAft>
                <a:spcPts val="2300"/>
              </a:spcAft>
              <a:buNone/>
            </a:pPr>
            <a:r>
              <a:rPr lang="en-US" sz="6600" dirty="0">
                <a:solidFill>
                  <a:srgbClr val="2A201B"/>
                </a:solidFill>
                <a:latin typeface="Jost"/>
                <a:ea typeface="Jost"/>
                <a:cs typeface="Jost"/>
              </a:rPr>
              <a:t>The link is in the chat.</a:t>
            </a:r>
            <a:endParaRPr lang="en-US" sz="660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191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10728655" cy="4480560"/>
          </a:xfrm>
          <a:prstGeom prst="rect">
            <a:avLst/>
          </a:prstGeom>
          <a:noFill/>
          <a:ln/>
        </p:spPr>
        <p:txBody>
          <a:bodyPr wrap="square" lIns="0" tIns="0" rIns="0" bIns="0" rtlCol="0" anchor="ctr"/>
          <a:lstStyle/>
          <a:p>
            <a:pPr indent="0" marL="0">
              <a:buNone/>
            </a:pPr>
            <a:r>
              <a:rPr lang="en-US" sz="6000" b="1" dirty="0">
                <a:solidFill>
                  <a:srgbClr val="F7EEE5"/>
                </a:solidFill>
                <a:latin typeface="Jost"/>
                <a:ea typeface="Jost"/>
                <a:cs typeface="Jost"/>
              </a:rPr>
              <a:t>Part 1: Fix the foundation</a:t>
            </a:r>
            <a:endParaRPr lang="en-US" sz="6000" dirty="0"/>
          </a:p>
          <a:p>
            <a:pPr indent="0" marL="0">
              <a:buNone/>
            </a:pPr>
            <a:r>
              <a:rPr lang="en-US" sz="3000" b="1" dirty="0">
                <a:solidFill>
                  <a:srgbClr val="F5C6D2"/>
                </a:solidFill>
                <a:latin typeface="Jost"/>
                <a:ea typeface="Jost"/>
                <a:cs typeface="Jost"/>
              </a:rPr>
              <a:t>Weeks 1 and 2</a:t>
            </a:r>
            <a:endParaRPr lang="en-US" sz="600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Audit your revenue, pricing, schedule, and bottlenecks, so you know exactly what to fix first.</a:t>
            </a:r>
            <a:endParaRPr lang="en-US" sz="3600" dirty="0"/>
          </a:p>
          <a:p>
            <a:pPr algn="l" indent="0" marL="0">
              <a:spcAft>
                <a:spcPts val="1300"/>
              </a:spcAft>
              <a:buNone/>
            </a:pPr>
            <a:r>
              <a:rPr lang="en-US" sz="3600" dirty="0">
                <a:solidFill>
                  <a:srgbClr val="FBF7F1"/>
                </a:solidFill>
                <a:latin typeface="Jost"/>
                <a:ea typeface="Jost"/>
                <a:cs typeface="Jost"/>
              </a:rPr>
              <a:t>A 60-day action plan, so you're not guessing what to do next.</a:t>
            </a:r>
            <a:endParaRPr lang="en-US" sz="3600" dirty="0"/>
          </a:p>
          <a:p>
            <a:pPr algn="l" indent="0" marL="0">
              <a:spcAft>
                <a:spcPts val="1300"/>
              </a:spcAft>
              <a:buNone/>
            </a:pPr>
            <a:r>
              <a:rPr lang="en-US" sz="3600" dirty="0">
                <a:solidFill>
                  <a:srgbClr val="FBF7F1"/>
                </a:solidFill>
                <a:latin typeface="Jost"/>
                <a:ea typeface="Jost"/>
                <a:cs typeface="Jost"/>
              </a:rPr>
              <a:t>Streamline your service from setup to cleanup, so it takes less time and less out of your body.</a:t>
            </a:r>
            <a:endParaRPr lang="en-US" sz="360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Audit your revenue, pricing, schedule, and bottlenecks, so you know exactly what to fix first.</a:t>
            </a:r>
            <a:endParaRPr lang="en-US" sz="3600" dirty="0"/>
          </a:p>
          <a:p>
            <a:pPr algn="l" indent="0" marL="0">
              <a:spcAft>
                <a:spcPts val="1300"/>
              </a:spcAft>
              <a:buNone/>
            </a:pPr>
            <a:r>
              <a:rPr lang="en-US" sz="3600" dirty="0">
                <a:solidFill>
                  <a:srgbClr val="2A201B"/>
                </a:solidFill>
                <a:latin typeface="Jost"/>
                <a:ea typeface="Jost"/>
                <a:cs typeface="Jost"/>
              </a:rPr>
              <a:t>A 60-day action plan, so you're not guessing what to do next.</a:t>
            </a:r>
            <a:endParaRPr lang="en-US" sz="3600" dirty="0"/>
          </a:p>
          <a:p>
            <a:pPr algn="l" indent="0" marL="0">
              <a:spcAft>
                <a:spcPts val="1300"/>
              </a:spcAft>
              <a:buNone/>
            </a:pPr>
            <a:r>
              <a:rPr lang="en-US" sz="3600" dirty="0">
                <a:solidFill>
                  <a:srgbClr val="FBF7F1"/>
                </a:solidFill>
                <a:latin typeface="Jost"/>
                <a:ea typeface="Jost"/>
                <a:cs typeface="Jost"/>
              </a:rPr>
              <a:t>Streamline your service from setup to cleanup, so it takes less time and less out of your body.</a:t>
            </a:r>
            <a:endParaRPr lang="en-US" sz="360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300"/>
              </a:spcAft>
              <a:buNone/>
            </a:pPr>
            <a:r>
              <a:rPr lang="en-US" sz="3600" dirty="0">
                <a:solidFill>
                  <a:srgbClr val="2A201B"/>
                </a:solidFill>
                <a:latin typeface="Jost"/>
                <a:ea typeface="Jost"/>
                <a:cs typeface="Jost"/>
              </a:rPr>
              <a:t>Audit your revenue, pricing, schedule, and bottlenecks, so you know exactly what to fix first.</a:t>
            </a:r>
            <a:endParaRPr lang="en-US" sz="3600" dirty="0"/>
          </a:p>
          <a:p>
            <a:pPr algn="l" indent="0" marL="0">
              <a:spcAft>
                <a:spcPts val="1300"/>
              </a:spcAft>
              <a:buNone/>
            </a:pPr>
            <a:r>
              <a:rPr lang="en-US" sz="3600" dirty="0">
                <a:solidFill>
                  <a:srgbClr val="2A201B"/>
                </a:solidFill>
                <a:latin typeface="Jost"/>
                <a:ea typeface="Jost"/>
                <a:cs typeface="Jost"/>
              </a:rPr>
              <a:t>A 60-day action plan, so you're not guessing what to do next.</a:t>
            </a:r>
            <a:endParaRPr lang="en-US" sz="3600" dirty="0"/>
          </a:p>
          <a:p>
            <a:pPr algn="l" indent="0" marL="0">
              <a:spcAft>
                <a:spcPts val="1300"/>
              </a:spcAft>
              <a:buNone/>
            </a:pPr>
            <a:r>
              <a:rPr lang="en-US" sz="3600" dirty="0">
                <a:solidFill>
                  <a:srgbClr val="2A201B"/>
                </a:solidFill>
                <a:latin typeface="Jost"/>
                <a:ea typeface="Jost"/>
                <a:cs typeface="Jost"/>
              </a:rPr>
              <a:t>Streamline your service from setup to cleanup, so it takes less time and less out of your body.</a:t>
            </a:r>
            <a:endParaRPr lang="en-US" sz="360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193</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Picture finishing your last client and still having energy left for your life.</a:t>
            </a:r>
            <a:endParaRPr lang="en-US" sz="690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5669280" cy="4206240"/>
          </a:xfrm>
          <a:prstGeom prst="rect">
            <a:avLst/>
          </a:prstGeom>
          <a:noFill/>
          <a:ln/>
        </p:spPr>
        <p:txBody>
          <a:bodyPr wrap="square" lIns="0" tIns="0" rIns="0" bIns="0" rtlCol="0" anchor="ctr"/>
          <a:lstStyle/>
          <a:p>
            <a:pPr algn="l" indent="0" marL="0">
              <a:spcAft>
                <a:spcPts val="800"/>
              </a:spcAft>
              <a:buNone/>
            </a:pPr>
            <a:r>
              <a:rPr lang="en-US" sz="2400" dirty="0">
                <a:solidFill>
                  <a:srgbClr val="2A201B"/>
                </a:solidFill>
                <a:latin typeface="Jost"/>
                <a:ea typeface="Jost"/>
                <a:cs typeface="Jost"/>
              </a:rPr>
              <a:t>"I'm not just looking at my business as something I'm operating day to day. I'm thinking more intentionally about the bigger picture, how I want to position myself, and how I can build a business that is aligned with where I'm ultimately trying to go."</a:t>
            </a:r>
            <a:endParaRPr lang="en-US" sz="2400" dirty="0"/>
          </a:p>
        </p:txBody>
      </p:sp>
      <p:sp>
        <p:nvSpPr>
          <p:cNvPr id="7" name="Text 4"/>
          <p:cNvSpPr txBox="1"/>
          <p:nvPr/>
        </p:nvSpPr>
        <p:spPr>
          <a:xfrm>
            <a:off x="731520" y="51206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8" name="Image 0" descr="/home/claude/webinar/deck-img/testimonial-3.jpg">    </p:cNvPr>
          <p:cNvPicPr>
            <a:picLocks noChangeAspect="1"/>
          </p:cNvPicPr>
          <p:nvPr/>
        </p:nvPicPr>
        <p:blipFill>
          <a:blip r:embed="rId1"/>
          <a:stretch>
            <a:fillRect/>
          </a:stretch>
        </p:blipFill>
        <p:spPr>
          <a:xfrm>
            <a:off x="7223760" y="548640"/>
            <a:ext cx="3840480" cy="5120640"/>
          </a:xfrm>
          <a:prstGeom prst="rect">
            <a:avLst/>
          </a:prstGeom>
        </p:spPr>
      </p:pic>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195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10728655" cy="4480560"/>
          </a:xfrm>
          <a:prstGeom prst="rect">
            <a:avLst/>
          </a:prstGeom>
          <a:noFill/>
          <a:ln/>
        </p:spPr>
        <p:txBody>
          <a:bodyPr wrap="square" lIns="0" tIns="0" rIns="0" bIns="0" rtlCol="0" anchor="ctr"/>
          <a:lstStyle/>
          <a:p>
            <a:pPr indent="0" marL="0">
              <a:buNone/>
            </a:pPr>
            <a:r>
              <a:rPr lang="en-US" sz="6000" b="1" dirty="0">
                <a:solidFill>
                  <a:srgbClr val="F7EEE5"/>
                </a:solidFill>
                <a:latin typeface="Jost"/>
                <a:ea typeface="Jost"/>
                <a:cs typeface="Jost"/>
              </a:rPr>
              <a:t>Part 2: Become the obvious choice</a:t>
            </a:r>
            <a:endParaRPr lang="en-US" sz="6000" dirty="0"/>
          </a:p>
          <a:p>
            <a:pPr indent="0" marL="0">
              <a:buNone/>
            </a:pPr>
            <a:r>
              <a:rPr lang="en-US" sz="3000" b="1" dirty="0">
                <a:solidFill>
                  <a:srgbClr val="F5C6D2"/>
                </a:solidFill>
                <a:latin typeface="Jost"/>
                <a:ea typeface="Jost"/>
                <a:cs typeface="Jost"/>
              </a:rPr>
              <a:t>Weeks 3 and 4</a:t>
            </a:r>
            <a:endParaRPr lang="en-US" sz="600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Nail your positioning, ideal client, signature service, and pricing, so the right people choose you on purpose.</a:t>
            </a:r>
            <a:endParaRPr lang="en-US" sz="3200" dirty="0"/>
          </a:p>
          <a:p>
            <a:pPr algn="l" indent="0" marL="0">
              <a:spcAft>
                <a:spcPts val="1100"/>
              </a:spcAft>
              <a:buNone/>
            </a:pPr>
            <a:r>
              <a:rPr lang="en-US" sz="3200" dirty="0">
                <a:solidFill>
                  <a:srgbClr val="FBF7F1"/>
                </a:solidFill>
                <a:latin typeface="Jost"/>
                <a:ea typeface="Jost"/>
                <a:cs typeface="Jost"/>
              </a:rPr>
              <a:t>An Instagram audit and content strategy, so your posts turn into bookings.</a:t>
            </a:r>
            <a:endParaRPr lang="en-US" sz="3200" dirty="0"/>
          </a:p>
          <a:p>
            <a:pPr algn="l" indent="0" marL="0">
              <a:spcAft>
                <a:spcPts val="1100"/>
              </a:spcAft>
              <a:buNone/>
            </a:pPr>
            <a:r>
              <a:rPr lang="en-US" sz="3200" dirty="0">
                <a:solidFill>
                  <a:srgbClr val="FBF7F1"/>
                </a:solidFill>
                <a:latin typeface="Jost"/>
                <a:ea typeface="Jost"/>
                <a:cs typeface="Jost"/>
              </a:rPr>
              <a:t>A booking path that turns followers into clients.</a:t>
            </a:r>
            <a:endParaRPr lang="en-US" sz="320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Nail your positioning, ideal client, signature service, and pricing, so the right people choose you on purpose.</a:t>
            </a:r>
            <a:endParaRPr lang="en-US" sz="3200" dirty="0"/>
          </a:p>
          <a:p>
            <a:pPr algn="l" indent="0" marL="0">
              <a:spcAft>
                <a:spcPts val="1100"/>
              </a:spcAft>
              <a:buNone/>
            </a:pPr>
            <a:r>
              <a:rPr lang="en-US" sz="3200" dirty="0">
                <a:solidFill>
                  <a:srgbClr val="2A201B"/>
                </a:solidFill>
                <a:latin typeface="Jost"/>
                <a:ea typeface="Jost"/>
                <a:cs typeface="Jost"/>
              </a:rPr>
              <a:t>An Instagram audit and content strategy, so your posts turn into bookings.</a:t>
            </a:r>
            <a:endParaRPr lang="en-US" sz="3200" dirty="0"/>
          </a:p>
          <a:p>
            <a:pPr algn="l" indent="0" marL="0">
              <a:spcAft>
                <a:spcPts val="1100"/>
              </a:spcAft>
              <a:buNone/>
            </a:pPr>
            <a:r>
              <a:rPr lang="en-US" sz="3200" dirty="0">
                <a:solidFill>
                  <a:srgbClr val="FBF7F1"/>
                </a:solidFill>
                <a:latin typeface="Jost"/>
                <a:ea typeface="Jost"/>
                <a:cs typeface="Jost"/>
              </a:rPr>
              <a:t>A booking path that turns followers into clients.</a:t>
            </a:r>
            <a:endParaRPr lang="en-US" sz="320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Nail your positioning, ideal client, signature service, and pricing, so the right people choose you on purpose.</a:t>
            </a:r>
            <a:endParaRPr lang="en-US" sz="3200" dirty="0"/>
          </a:p>
          <a:p>
            <a:pPr algn="l" indent="0" marL="0">
              <a:spcAft>
                <a:spcPts val="1100"/>
              </a:spcAft>
              <a:buNone/>
            </a:pPr>
            <a:r>
              <a:rPr lang="en-US" sz="3200" dirty="0">
                <a:solidFill>
                  <a:srgbClr val="2A201B"/>
                </a:solidFill>
                <a:latin typeface="Jost"/>
                <a:ea typeface="Jost"/>
                <a:cs typeface="Jost"/>
              </a:rPr>
              <a:t>An Instagram audit and content strategy, so your posts turn into bookings.</a:t>
            </a:r>
            <a:endParaRPr lang="en-US" sz="3200" dirty="0"/>
          </a:p>
          <a:p>
            <a:pPr algn="l" indent="0" marL="0">
              <a:spcAft>
                <a:spcPts val="1100"/>
              </a:spcAft>
              <a:buNone/>
            </a:pPr>
            <a:r>
              <a:rPr lang="en-US" sz="3200" dirty="0">
                <a:solidFill>
                  <a:srgbClr val="2A201B"/>
                </a:solidFill>
                <a:latin typeface="Jost"/>
                <a:ea typeface="Jost"/>
                <a:cs typeface="Jost"/>
              </a:rPr>
              <a:t>A booking path that turns followers into clients.</a:t>
            </a:r>
            <a:endParaRPr lang="en-US" sz="3200"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Picture raising your prices and watching your best clients stay.</a:t>
            </a:r>
            <a:endParaRPr lang="en-US" sz="690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198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5669280" cy="4206240"/>
          </a:xfrm>
          <a:prstGeom prst="rect">
            <a:avLst/>
          </a:prstGeom>
          <a:noFill/>
          <a:ln/>
        </p:spPr>
        <p:txBody>
          <a:bodyPr wrap="square" lIns="0" tIns="0" rIns="0" bIns="0" rtlCol="0" anchor="ctr"/>
          <a:lstStyle/>
          <a:p>
            <a:pPr algn="l" indent="0" marL="0">
              <a:spcAft>
                <a:spcPts val="1100"/>
              </a:spcAft>
              <a:buNone/>
            </a:pPr>
            <a:r>
              <a:rPr lang="en-US" sz="3000" dirty="0">
                <a:solidFill>
                  <a:srgbClr val="2A201B"/>
                </a:solidFill>
                <a:latin typeface="Jost"/>
                <a:ea typeface="Jost"/>
                <a:cs typeface="Jost"/>
              </a:rPr>
              <a:t>"It truly provided me with so much clarity and pushed me to execute on things that needed to get done to position myself and my business on the path toward its purpose and goals."</a:t>
            </a:r>
            <a:endParaRPr lang="en-US" sz="3000" dirty="0"/>
          </a:p>
        </p:txBody>
      </p:sp>
      <p:sp>
        <p:nvSpPr>
          <p:cNvPr id="7" name="Text 4"/>
          <p:cNvSpPr txBox="1"/>
          <p:nvPr/>
        </p:nvSpPr>
        <p:spPr>
          <a:xfrm>
            <a:off x="731520" y="51206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8" name="Image 0" descr="/home/claude/webinar/deck-img/testimonial-1.jpg">    </p:cNvPr>
          <p:cNvPicPr>
            <a:picLocks noChangeAspect="1"/>
          </p:cNvPicPr>
          <p:nvPr/>
        </p:nvPicPr>
        <p:blipFill>
          <a:blip r:embed="rId1"/>
          <a:stretch>
            <a:fillRect/>
          </a:stretch>
        </p:blipFill>
        <p:spPr>
          <a:xfrm>
            <a:off x="7925874" y="548640"/>
            <a:ext cx="2436252" cy="5120640"/>
          </a:xfrm>
          <a:prstGeom prst="rect">
            <a:avLst/>
          </a:prstGeom>
        </p:spPr>
      </p:pic>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199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10728655" cy="4480560"/>
          </a:xfrm>
          <a:prstGeom prst="rect">
            <a:avLst/>
          </a:prstGeom>
          <a:noFill/>
          <a:ln/>
        </p:spPr>
        <p:txBody>
          <a:bodyPr wrap="square" lIns="0" tIns="0" rIns="0" bIns="0" rtlCol="0" anchor="ctr"/>
          <a:lstStyle/>
          <a:p>
            <a:pPr indent="0" marL="0">
              <a:buNone/>
            </a:pPr>
            <a:r>
              <a:rPr lang="en-US" sz="6000" b="1" dirty="0">
                <a:solidFill>
                  <a:srgbClr val="F7EEE5"/>
                </a:solidFill>
                <a:latin typeface="Jost"/>
                <a:ea typeface="Jost"/>
                <a:cs typeface="Jost"/>
              </a:rPr>
              <a:t>Part 3: Build income beyond your hours</a:t>
            </a:r>
            <a:endParaRPr lang="en-US" sz="6000" dirty="0"/>
          </a:p>
          <a:p>
            <a:pPr indent="0" marL="0">
              <a:buNone/>
            </a:pPr>
            <a:r>
              <a:rPr lang="en-US" sz="3000" b="1" dirty="0">
                <a:solidFill>
                  <a:srgbClr val="F5C6D2"/>
                </a:solidFill>
                <a:latin typeface="Jost"/>
                <a:ea typeface="Jost"/>
                <a:cs typeface="Jost"/>
              </a:rPr>
              <a:t>Weeks 5 to 8</a:t>
            </a:r>
            <a:endParaRPr lang="en-US" sz="600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000" b="1" dirty="0">
                <a:solidFill>
                  <a:srgbClr val="AD5A6E"/>
                </a:solidFill>
                <a:latin typeface="Jost"/>
                <a:ea typeface="Jost"/>
                <a:cs typeface="Jost"/>
              </a:rPr>
              <a:t>Systems: </a:t>
            </a:r>
            <a:pPr algn="l" indent="0" marL="0">
              <a:spcAft>
                <a:spcPts val="1100"/>
              </a:spcAft>
              <a:buNone/>
            </a:pPr>
            <a:r>
              <a:rPr lang="en-US" sz="3000" dirty="0">
                <a:solidFill>
                  <a:srgbClr val="2A201B"/>
                </a:solidFill>
                <a:latin typeface="Jost"/>
                <a:ea typeface="Jost"/>
                <a:cs typeface="Jost"/>
              </a:rPr>
              <a:t>Acuity, rebooking, policies, and paying yourself, so your business runs smoother.</a:t>
            </a:r>
            <a:endParaRPr lang="en-US" sz="3000" dirty="0"/>
          </a:p>
          <a:p>
            <a:pPr algn="l" indent="0" marL="0">
              <a:spcAft>
                <a:spcPts val="1100"/>
              </a:spcAft>
              <a:buNone/>
            </a:pPr>
            <a:r>
              <a:rPr lang="en-US" sz="3000" b="1" dirty="0">
                <a:solidFill>
                  <a:srgbClr val="FBF7F1"/>
                </a:solidFill>
                <a:latin typeface="Jost"/>
                <a:ea typeface="Jost"/>
                <a:cs typeface="Jost"/>
              </a:rPr>
              <a:t>Revenue expansion: </a:t>
            </a:r>
            <a:pPr algn="l" indent="0" marL="0">
              <a:spcAft>
                <a:spcPts val="1100"/>
              </a:spcAft>
              <a:buNone/>
            </a:pPr>
            <a:r>
              <a:rPr lang="en-US" sz="3000" dirty="0">
                <a:solidFill>
                  <a:srgbClr val="FBF7F1"/>
                </a:solidFill>
                <a:latin typeface="Jost"/>
                <a:ea typeface="Jost"/>
                <a:cs typeface="Jost"/>
              </a:rPr>
              <a:t>brows, retail, memberships, trainings, and digital products.</a:t>
            </a:r>
            <a:endParaRPr lang="en-US" sz="3000" dirty="0"/>
          </a:p>
          <a:p>
            <a:pPr algn="l" indent="0" marL="0">
              <a:spcAft>
                <a:spcPts val="1100"/>
              </a:spcAft>
              <a:buNone/>
            </a:pPr>
            <a:r>
              <a:rPr lang="en-US" sz="3000" dirty="0">
                <a:solidFill>
                  <a:srgbClr val="FBF7F1"/>
                </a:solidFill>
                <a:latin typeface="Jost"/>
                <a:ea typeface="Jost"/>
                <a:cs typeface="Jost"/>
              </a:rPr>
              <a:t>You'll build your first additional offer.</a:t>
            </a:r>
            <a:endParaRPr lang="en-US" sz="3000" dirty="0"/>
          </a:p>
          <a:p>
            <a:pPr algn="l" indent="0" marL="0">
              <a:spcAft>
                <a:spcPts val="1100"/>
              </a:spcAft>
              <a:buNone/>
            </a:pPr>
            <a:r>
              <a:rPr lang="en-US" sz="3000" b="1" dirty="0">
                <a:solidFill>
                  <a:srgbClr val="FBF7F1"/>
                </a:solidFill>
                <a:latin typeface="Jost"/>
                <a:ea typeface="Jost"/>
                <a:cs typeface="Jost"/>
              </a:rPr>
              <a:t>The CEO mindset: </a:t>
            </a:r>
            <a:pPr algn="l" indent="0" marL="0">
              <a:spcAft>
                <a:spcPts val="1100"/>
              </a:spcAft>
              <a:buNone/>
            </a:pPr>
            <a:r>
              <a:rPr lang="en-US" sz="3000" dirty="0">
                <a:solidFill>
                  <a:srgbClr val="FBF7F1"/>
                </a:solidFill>
                <a:latin typeface="Jost"/>
                <a:ea typeface="Jost"/>
                <a:cs typeface="Jost"/>
              </a:rPr>
              <a:t>confidence, boundaries, and premium pricing.</a:t>
            </a:r>
            <a:endParaRPr lang="en-US" sz="3000" dirty="0"/>
          </a:p>
          <a:p>
            <a:pPr algn="l" indent="0" marL="0">
              <a:spcAft>
                <a:spcPts val="1100"/>
              </a:spcAft>
              <a:buNone/>
            </a:pPr>
            <a:r>
              <a:rPr lang="en-US" sz="3000" dirty="0">
                <a:solidFill>
                  <a:srgbClr val="FBF7F1"/>
                </a:solidFill>
                <a:latin typeface="Jost"/>
                <a:ea typeface="Jost"/>
                <a:cs typeface="Jost"/>
              </a:rPr>
              <a:t>Plus a 90-day growth plan, so you keep growing after we're done.</a:t>
            </a:r>
            <a:endParaRPr lang="en-US" sz="300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000" b="1" dirty="0">
                <a:solidFill>
                  <a:srgbClr val="AD5A6E"/>
                </a:solidFill>
                <a:latin typeface="Jost"/>
                <a:ea typeface="Jost"/>
                <a:cs typeface="Jost"/>
              </a:rPr>
              <a:t>Systems: </a:t>
            </a:r>
            <a:pPr algn="l" indent="0" marL="0">
              <a:spcAft>
                <a:spcPts val="1100"/>
              </a:spcAft>
              <a:buNone/>
            </a:pPr>
            <a:r>
              <a:rPr lang="en-US" sz="3000" dirty="0">
                <a:solidFill>
                  <a:srgbClr val="2A201B"/>
                </a:solidFill>
                <a:latin typeface="Jost"/>
                <a:ea typeface="Jost"/>
                <a:cs typeface="Jost"/>
              </a:rPr>
              <a:t>Acuity, rebooking, policies, and paying yourself, so your business runs smoother.</a:t>
            </a:r>
            <a:endParaRPr lang="en-US" sz="3000" dirty="0"/>
          </a:p>
          <a:p>
            <a:pPr algn="l" indent="0" marL="0">
              <a:spcAft>
                <a:spcPts val="1100"/>
              </a:spcAft>
              <a:buNone/>
            </a:pPr>
            <a:r>
              <a:rPr lang="en-US" sz="3000" b="1" dirty="0">
                <a:solidFill>
                  <a:srgbClr val="AD5A6E"/>
                </a:solidFill>
                <a:latin typeface="Jost"/>
                <a:ea typeface="Jost"/>
                <a:cs typeface="Jost"/>
              </a:rPr>
              <a:t>Revenue expansion: </a:t>
            </a:r>
            <a:pPr algn="l" indent="0" marL="0">
              <a:spcAft>
                <a:spcPts val="1100"/>
              </a:spcAft>
              <a:buNone/>
            </a:pPr>
            <a:r>
              <a:rPr lang="en-US" sz="3000" dirty="0">
                <a:solidFill>
                  <a:srgbClr val="2A201B"/>
                </a:solidFill>
                <a:latin typeface="Jost"/>
                <a:ea typeface="Jost"/>
                <a:cs typeface="Jost"/>
              </a:rPr>
              <a:t>brows, retail, memberships, trainings, and digital products.</a:t>
            </a:r>
            <a:endParaRPr lang="en-US" sz="3000" dirty="0"/>
          </a:p>
          <a:p>
            <a:pPr algn="l" indent="0" marL="0">
              <a:spcAft>
                <a:spcPts val="1100"/>
              </a:spcAft>
              <a:buNone/>
            </a:pPr>
            <a:r>
              <a:rPr lang="en-US" sz="3000" dirty="0">
                <a:solidFill>
                  <a:srgbClr val="FBF7F1"/>
                </a:solidFill>
                <a:latin typeface="Jost"/>
                <a:ea typeface="Jost"/>
                <a:cs typeface="Jost"/>
              </a:rPr>
              <a:t>You'll build your first additional offer.</a:t>
            </a:r>
            <a:endParaRPr lang="en-US" sz="3000" dirty="0"/>
          </a:p>
          <a:p>
            <a:pPr algn="l" indent="0" marL="0">
              <a:spcAft>
                <a:spcPts val="1100"/>
              </a:spcAft>
              <a:buNone/>
            </a:pPr>
            <a:r>
              <a:rPr lang="en-US" sz="3000" b="1" dirty="0">
                <a:solidFill>
                  <a:srgbClr val="FBF7F1"/>
                </a:solidFill>
                <a:latin typeface="Jost"/>
                <a:ea typeface="Jost"/>
                <a:cs typeface="Jost"/>
              </a:rPr>
              <a:t>The CEO mindset: </a:t>
            </a:r>
            <a:pPr algn="l" indent="0" marL="0">
              <a:spcAft>
                <a:spcPts val="1100"/>
              </a:spcAft>
              <a:buNone/>
            </a:pPr>
            <a:r>
              <a:rPr lang="en-US" sz="3000" dirty="0">
                <a:solidFill>
                  <a:srgbClr val="FBF7F1"/>
                </a:solidFill>
                <a:latin typeface="Jost"/>
                <a:ea typeface="Jost"/>
                <a:cs typeface="Jost"/>
              </a:rPr>
              <a:t>confidence, boundaries, and premium pricing.</a:t>
            </a:r>
            <a:endParaRPr lang="en-US" sz="3000" dirty="0"/>
          </a:p>
          <a:p>
            <a:pPr algn="l" indent="0" marL="0">
              <a:spcAft>
                <a:spcPts val="1100"/>
              </a:spcAft>
              <a:buNone/>
            </a:pPr>
            <a:r>
              <a:rPr lang="en-US" sz="3000" dirty="0">
                <a:solidFill>
                  <a:srgbClr val="FBF7F1"/>
                </a:solidFill>
                <a:latin typeface="Jost"/>
                <a:ea typeface="Jost"/>
                <a:cs typeface="Jost"/>
              </a:rPr>
              <a:t>Plus a 90-day growth plan, so you keep growing after we're done.</a:t>
            </a:r>
            <a:endParaRPr lang="en-US" sz="300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000" b="1" dirty="0">
                <a:solidFill>
                  <a:srgbClr val="AD5A6E"/>
                </a:solidFill>
                <a:latin typeface="Jost"/>
                <a:ea typeface="Jost"/>
                <a:cs typeface="Jost"/>
              </a:rPr>
              <a:t>Systems: </a:t>
            </a:r>
            <a:pPr algn="l" indent="0" marL="0">
              <a:spcAft>
                <a:spcPts val="1100"/>
              </a:spcAft>
              <a:buNone/>
            </a:pPr>
            <a:r>
              <a:rPr lang="en-US" sz="3000" dirty="0">
                <a:solidFill>
                  <a:srgbClr val="2A201B"/>
                </a:solidFill>
                <a:latin typeface="Jost"/>
                <a:ea typeface="Jost"/>
                <a:cs typeface="Jost"/>
              </a:rPr>
              <a:t>Acuity, rebooking, policies, and paying yourself, so your business runs smoother.</a:t>
            </a:r>
            <a:endParaRPr lang="en-US" sz="3000" dirty="0"/>
          </a:p>
          <a:p>
            <a:pPr algn="l" indent="0" marL="0">
              <a:spcAft>
                <a:spcPts val="1100"/>
              </a:spcAft>
              <a:buNone/>
            </a:pPr>
            <a:r>
              <a:rPr lang="en-US" sz="3000" b="1" dirty="0">
                <a:solidFill>
                  <a:srgbClr val="AD5A6E"/>
                </a:solidFill>
                <a:latin typeface="Jost"/>
                <a:ea typeface="Jost"/>
                <a:cs typeface="Jost"/>
              </a:rPr>
              <a:t>Revenue expansion: </a:t>
            </a:r>
            <a:pPr algn="l" indent="0" marL="0">
              <a:spcAft>
                <a:spcPts val="1100"/>
              </a:spcAft>
              <a:buNone/>
            </a:pPr>
            <a:r>
              <a:rPr lang="en-US" sz="3000" dirty="0">
                <a:solidFill>
                  <a:srgbClr val="2A201B"/>
                </a:solidFill>
                <a:latin typeface="Jost"/>
                <a:ea typeface="Jost"/>
                <a:cs typeface="Jost"/>
              </a:rPr>
              <a:t>brows, retail, memberships, trainings, and digital products.</a:t>
            </a:r>
            <a:endParaRPr lang="en-US" sz="3000" dirty="0"/>
          </a:p>
          <a:p>
            <a:pPr algn="l" indent="0" marL="0">
              <a:spcAft>
                <a:spcPts val="1100"/>
              </a:spcAft>
              <a:buNone/>
            </a:pPr>
            <a:r>
              <a:rPr lang="en-US" sz="3000" dirty="0">
                <a:solidFill>
                  <a:srgbClr val="2A201B"/>
                </a:solidFill>
                <a:latin typeface="Jost"/>
                <a:ea typeface="Jost"/>
                <a:cs typeface="Jost"/>
              </a:rPr>
              <a:t>You'll build your first additional offer.</a:t>
            </a:r>
            <a:endParaRPr lang="en-US" sz="3000" dirty="0"/>
          </a:p>
          <a:p>
            <a:pPr algn="l" indent="0" marL="0">
              <a:spcAft>
                <a:spcPts val="1100"/>
              </a:spcAft>
              <a:buNone/>
            </a:pPr>
            <a:r>
              <a:rPr lang="en-US" sz="3000" b="1" dirty="0">
                <a:solidFill>
                  <a:srgbClr val="FBF7F1"/>
                </a:solidFill>
                <a:latin typeface="Jost"/>
                <a:ea typeface="Jost"/>
                <a:cs typeface="Jost"/>
              </a:rPr>
              <a:t>The CEO mindset: </a:t>
            </a:r>
            <a:pPr algn="l" indent="0" marL="0">
              <a:spcAft>
                <a:spcPts val="1100"/>
              </a:spcAft>
              <a:buNone/>
            </a:pPr>
            <a:r>
              <a:rPr lang="en-US" sz="3000" dirty="0">
                <a:solidFill>
                  <a:srgbClr val="FBF7F1"/>
                </a:solidFill>
                <a:latin typeface="Jost"/>
                <a:ea typeface="Jost"/>
                <a:cs typeface="Jost"/>
              </a:rPr>
              <a:t>confidence, boundaries, and premium pricing.</a:t>
            </a:r>
            <a:endParaRPr lang="en-US" sz="3000" dirty="0"/>
          </a:p>
          <a:p>
            <a:pPr algn="l" indent="0" marL="0">
              <a:spcAft>
                <a:spcPts val="1100"/>
              </a:spcAft>
              <a:buNone/>
            </a:pPr>
            <a:r>
              <a:rPr lang="en-US" sz="3000" dirty="0">
                <a:solidFill>
                  <a:srgbClr val="FBF7F1"/>
                </a:solidFill>
                <a:latin typeface="Jost"/>
                <a:ea typeface="Jost"/>
                <a:cs typeface="Jost"/>
              </a:rPr>
              <a:t>Plus a 90-day growth plan, so you keep growing after we're done.</a:t>
            </a:r>
            <a:endParaRPr lang="en-US" sz="300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000" b="1" dirty="0">
                <a:solidFill>
                  <a:srgbClr val="AD5A6E"/>
                </a:solidFill>
                <a:latin typeface="Jost"/>
                <a:ea typeface="Jost"/>
                <a:cs typeface="Jost"/>
              </a:rPr>
              <a:t>Systems: </a:t>
            </a:r>
            <a:pPr algn="l" indent="0" marL="0">
              <a:spcAft>
                <a:spcPts val="1100"/>
              </a:spcAft>
              <a:buNone/>
            </a:pPr>
            <a:r>
              <a:rPr lang="en-US" sz="3000" dirty="0">
                <a:solidFill>
                  <a:srgbClr val="2A201B"/>
                </a:solidFill>
                <a:latin typeface="Jost"/>
                <a:ea typeface="Jost"/>
                <a:cs typeface="Jost"/>
              </a:rPr>
              <a:t>Acuity, rebooking, policies, and paying yourself, so your business runs smoother.</a:t>
            </a:r>
            <a:endParaRPr lang="en-US" sz="3000" dirty="0"/>
          </a:p>
          <a:p>
            <a:pPr algn="l" indent="0" marL="0">
              <a:spcAft>
                <a:spcPts val="1100"/>
              </a:spcAft>
              <a:buNone/>
            </a:pPr>
            <a:r>
              <a:rPr lang="en-US" sz="3000" b="1" dirty="0">
                <a:solidFill>
                  <a:srgbClr val="AD5A6E"/>
                </a:solidFill>
                <a:latin typeface="Jost"/>
                <a:ea typeface="Jost"/>
                <a:cs typeface="Jost"/>
              </a:rPr>
              <a:t>Revenue expansion: </a:t>
            </a:r>
            <a:pPr algn="l" indent="0" marL="0">
              <a:spcAft>
                <a:spcPts val="1100"/>
              </a:spcAft>
              <a:buNone/>
            </a:pPr>
            <a:r>
              <a:rPr lang="en-US" sz="3000" dirty="0">
                <a:solidFill>
                  <a:srgbClr val="2A201B"/>
                </a:solidFill>
                <a:latin typeface="Jost"/>
                <a:ea typeface="Jost"/>
                <a:cs typeface="Jost"/>
              </a:rPr>
              <a:t>brows, retail, memberships, trainings, and digital products.</a:t>
            </a:r>
            <a:endParaRPr lang="en-US" sz="3000" dirty="0"/>
          </a:p>
          <a:p>
            <a:pPr algn="l" indent="0" marL="0">
              <a:spcAft>
                <a:spcPts val="1100"/>
              </a:spcAft>
              <a:buNone/>
            </a:pPr>
            <a:r>
              <a:rPr lang="en-US" sz="3000" dirty="0">
                <a:solidFill>
                  <a:srgbClr val="2A201B"/>
                </a:solidFill>
                <a:latin typeface="Jost"/>
                <a:ea typeface="Jost"/>
                <a:cs typeface="Jost"/>
              </a:rPr>
              <a:t>You'll build your first additional offer.</a:t>
            </a:r>
            <a:endParaRPr lang="en-US" sz="3000" dirty="0"/>
          </a:p>
          <a:p>
            <a:pPr algn="l" indent="0" marL="0">
              <a:spcAft>
                <a:spcPts val="1100"/>
              </a:spcAft>
              <a:buNone/>
            </a:pPr>
            <a:r>
              <a:rPr lang="en-US" sz="3000" b="1" dirty="0">
                <a:solidFill>
                  <a:srgbClr val="AD5A6E"/>
                </a:solidFill>
                <a:latin typeface="Jost"/>
                <a:ea typeface="Jost"/>
                <a:cs typeface="Jost"/>
              </a:rPr>
              <a:t>The CEO mindset: </a:t>
            </a:r>
            <a:pPr algn="l" indent="0" marL="0">
              <a:spcAft>
                <a:spcPts val="1100"/>
              </a:spcAft>
              <a:buNone/>
            </a:pPr>
            <a:r>
              <a:rPr lang="en-US" sz="3000" dirty="0">
                <a:solidFill>
                  <a:srgbClr val="2A201B"/>
                </a:solidFill>
                <a:latin typeface="Jost"/>
                <a:ea typeface="Jost"/>
                <a:cs typeface="Jost"/>
              </a:rPr>
              <a:t>confidence, boundaries, and premium pricing.</a:t>
            </a:r>
            <a:endParaRPr lang="en-US" sz="3000" dirty="0"/>
          </a:p>
          <a:p>
            <a:pPr algn="l" indent="0" marL="0">
              <a:spcAft>
                <a:spcPts val="1100"/>
              </a:spcAft>
              <a:buNone/>
            </a:pPr>
            <a:r>
              <a:rPr lang="en-US" sz="3000" dirty="0">
                <a:solidFill>
                  <a:srgbClr val="FBF7F1"/>
                </a:solidFill>
                <a:latin typeface="Jost"/>
                <a:ea typeface="Jost"/>
                <a:cs typeface="Jost"/>
              </a:rPr>
              <a:t>Plus a 90-day growth plan, so you keep growing after we're done.</a:t>
            </a:r>
            <a:endParaRPr lang="en-US" sz="3000"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100"/>
              </a:spcAft>
              <a:buNone/>
            </a:pPr>
            <a:r>
              <a:rPr lang="en-US" sz="3000" b="1" dirty="0">
                <a:solidFill>
                  <a:srgbClr val="AD5A6E"/>
                </a:solidFill>
                <a:latin typeface="Jost"/>
                <a:ea typeface="Jost"/>
                <a:cs typeface="Jost"/>
              </a:rPr>
              <a:t>Systems: </a:t>
            </a:r>
            <a:pPr algn="l" indent="0" marL="0">
              <a:spcAft>
                <a:spcPts val="1100"/>
              </a:spcAft>
              <a:buNone/>
            </a:pPr>
            <a:r>
              <a:rPr lang="en-US" sz="3000" dirty="0">
                <a:solidFill>
                  <a:srgbClr val="2A201B"/>
                </a:solidFill>
                <a:latin typeface="Jost"/>
                <a:ea typeface="Jost"/>
                <a:cs typeface="Jost"/>
              </a:rPr>
              <a:t>Acuity, rebooking, policies, and paying yourself, so your business runs smoother.</a:t>
            </a:r>
            <a:endParaRPr lang="en-US" sz="3000" dirty="0"/>
          </a:p>
          <a:p>
            <a:pPr algn="l" indent="0" marL="0">
              <a:spcAft>
                <a:spcPts val="1100"/>
              </a:spcAft>
              <a:buNone/>
            </a:pPr>
            <a:r>
              <a:rPr lang="en-US" sz="3000" b="1" dirty="0">
                <a:solidFill>
                  <a:srgbClr val="AD5A6E"/>
                </a:solidFill>
                <a:latin typeface="Jost"/>
                <a:ea typeface="Jost"/>
                <a:cs typeface="Jost"/>
              </a:rPr>
              <a:t>Revenue expansion: </a:t>
            </a:r>
            <a:pPr algn="l" indent="0" marL="0">
              <a:spcAft>
                <a:spcPts val="1100"/>
              </a:spcAft>
              <a:buNone/>
            </a:pPr>
            <a:r>
              <a:rPr lang="en-US" sz="3000" dirty="0">
                <a:solidFill>
                  <a:srgbClr val="2A201B"/>
                </a:solidFill>
                <a:latin typeface="Jost"/>
                <a:ea typeface="Jost"/>
                <a:cs typeface="Jost"/>
              </a:rPr>
              <a:t>brows, retail, memberships, trainings, and digital products.</a:t>
            </a:r>
            <a:endParaRPr lang="en-US" sz="3000" dirty="0"/>
          </a:p>
          <a:p>
            <a:pPr algn="l" indent="0" marL="0">
              <a:spcAft>
                <a:spcPts val="1100"/>
              </a:spcAft>
              <a:buNone/>
            </a:pPr>
            <a:r>
              <a:rPr lang="en-US" sz="3000" dirty="0">
                <a:solidFill>
                  <a:srgbClr val="2A201B"/>
                </a:solidFill>
                <a:latin typeface="Jost"/>
                <a:ea typeface="Jost"/>
                <a:cs typeface="Jost"/>
              </a:rPr>
              <a:t>You'll build your first additional offer.</a:t>
            </a:r>
            <a:endParaRPr lang="en-US" sz="3000" dirty="0"/>
          </a:p>
          <a:p>
            <a:pPr algn="l" indent="0" marL="0">
              <a:spcAft>
                <a:spcPts val="1100"/>
              </a:spcAft>
              <a:buNone/>
            </a:pPr>
            <a:r>
              <a:rPr lang="en-US" sz="3000" b="1" dirty="0">
                <a:solidFill>
                  <a:srgbClr val="AD5A6E"/>
                </a:solidFill>
                <a:latin typeface="Jost"/>
                <a:ea typeface="Jost"/>
                <a:cs typeface="Jost"/>
              </a:rPr>
              <a:t>The CEO mindset: </a:t>
            </a:r>
            <a:pPr algn="l" indent="0" marL="0">
              <a:spcAft>
                <a:spcPts val="1100"/>
              </a:spcAft>
              <a:buNone/>
            </a:pPr>
            <a:r>
              <a:rPr lang="en-US" sz="3000" dirty="0">
                <a:solidFill>
                  <a:srgbClr val="2A201B"/>
                </a:solidFill>
                <a:latin typeface="Jost"/>
                <a:ea typeface="Jost"/>
                <a:cs typeface="Jost"/>
              </a:rPr>
              <a:t>confidence, boundaries, and premium pricing.</a:t>
            </a:r>
            <a:endParaRPr lang="en-US" sz="3000" dirty="0"/>
          </a:p>
          <a:p>
            <a:pPr algn="l" indent="0" marL="0">
              <a:spcAft>
                <a:spcPts val="1100"/>
              </a:spcAft>
              <a:buNone/>
            </a:pPr>
            <a:r>
              <a:rPr lang="en-US" sz="3000" dirty="0">
                <a:solidFill>
                  <a:srgbClr val="2A201B"/>
                </a:solidFill>
                <a:latin typeface="Jost"/>
                <a:ea typeface="Jost"/>
                <a:cs typeface="Jost"/>
              </a:rPr>
              <a:t>Plus a 90-day growth plan, so you keep growing after we're done.</a:t>
            </a:r>
            <a:endParaRPr lang="en-US" sz="300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201</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Picture the 1st of the month, with part of your income already in.</a:t>
            </a:r>
            <a:endParaRPr lang="en-US" sz="600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5669280" cy="42062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"Your wisdom and guidance have completely transformed the way I structure my business."</a:t>
            </a:r>
            <a:endParaRPr lang="en-US" sz="3200" dirty="0"/>
          </a:p>
          <a:p>
            <a:pPr algn="l" indent="0" marL="0">
              <a:spcAft>
                <a:spcPts val="1100"/>
              </a:spcAft>
              <a:buNone/>
            </a:pPr>
            <a:r>
              <a:rPr lang="en-US" sz="3200" dirty="0">
                <a:solidFill>
                  <a:srgbClr val="2A201B"/>
                </a:solidFill>
                <a:latin typeface="Jost"/>
                <a:ea typeface="Jost"/>
                <a:cs typeface="Jost"/>
              </a:rPr>
              <a:t>"Your program gave me the clarity, systems, and direction I needed to grow."</a:t>
            </a:r>
            <a:endParaRPr lang="en-US" sz="3200" dirty="0"/>
          </a:p>
        </p:txBody>
      </p:sp>
      <p:sp>
        <p:nvSpPr>
          <p:cNvPr id="7" name="Text 4"/>
          <p:cNvSpPr txBox="1"/>
          <p:nvPr/>
        </p:nvSpPr>
        <p:spPr>
          <a:xfrm>
            <a:off x="731520" y="51206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8" name="Image 0" descr="/home/claude/webinar/deck-img/testimonial-2.jpg">    </p:cNvPr>
          <p:cNvPicPr>
            <a:picLocks noChangeAspect="1"/>
          </p:cNvPicPr>
          <p:nvPr/>
        </p:nvPicPr>
        <p:blipFill>
          <a:blip r:embed="rId1"/>
          <a:stretch>
            <a:fillRect/>
          </a:stretch>
        </p:blipFill>
        <p:spPr>
          <a:xfrm>
            <a:off x="7204719" y="548640"/>
            <a:ext cx="3878563" cy="5120640"/>
          </a:xfrm>
          <a:prstGeom prst="rect">
            <a:avLst/>
          </a:prstGeom>
        </p:spPr>
      </p:pic>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8 live calls, 90 minutes each.</a:t>
            </a:r>
            <a:endParaRPr lang="en-US" sz="4800" dirty="0"/>
          </a:p>
          <a:p>
            <a:pPr algn="l" indent="0" marL="0">
              <a:spcAft>
                <a:spcPts val="1700"/>
              </a:spcAft>
              <a:buNone/>
            </a:pPr>
            <a:r>
              <a:rPr lang="en-US" sz="4800" dirty="0">
                <a:solidFill>
                  <a:srgbClr val="FBF7F1"/>
                </a:solidFill>
                <a:latin typeface="Jost"/>
                <a:ea typeface="Jost"/>
                <a:cs typeface="Jost"/>
              </a:rPr>
              <a:t>Mondays at 7:30 PM Eastern, starting November 2.</a:t>
            </a:r>
            <a:endParaRPr lang="en-US" sz="4800" dirty="0"/>
          </a:p>
          <a:p>
            <a:pPr algn="l" indent="0" marL="0">
              <a:spcAft>
                <a:spcPts val="1700"/>
              </a:spcAft>
              <a:buNone/>
            </a:pPr>
            <a:r>
              <a:rPr lang="en-US" sz="4800" dirty="0">
                <a:solidFill>
                  <a:srgbClr val="FBF7F1"/>
                </a:solidFill>
                <a:latin typeface="Jost"/>
                <a:ea typeface="Jost"/>
                <a:cs typeface="Jost"/>
              </a:rPr>
              <a:t>Can't make it live? Every call is recorded.</a:t>
            </a:r>
            <a:endParaRPr lang="en-US" sz="4800" dirty="0"/>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8 live calls, 90 minutes each.</a:t>
            </a:r>
            <a:endParaRPr lang="en-US" sz="4800" dirty="0"/>
          </a:p>
          <a:p>
            <a:pPr algn="l" indent="0" marL="0">
              <a:spcAft>
                <a:spcPts val="1700"/>
              </a:spcAft>
              <a:buNone/>
            </a:pPr>
            <a:r>
              <a:rPr lang="en-US" sz="4800" dirty="0">
                <a:solidFill>
                  <a:srgbClr val="2A201B"/>
                </a:solidFill>
                <a:latin typeface="Jost"/>
                <a:ea typeface="Jost"/>
                <a:cs typeface="Jost"/>
              </a:rPr>
              <a:t>Mondays at 7:30 PM Eastern, starting November 2.</a:t>
            </a:r>
            <a:endParaRPr lang="en-US" sz="4800" dirty="0"/>
          </a:p>
          <a:p>
            <a:pPr algn="l" indent="0" marL="0">
              <a:spcAft>
                <a:spcPts val="1700"/>
              </a:spcAft>
              <a:buNone/>
            </a:pPr>
            <a:r>
              <a:rPr lang="en-US" sz="4800" dirty="0">
                <a:solidFill>
                  <a:srgbClr val="FBF7F1"/>
                </a:solidFill>
                <a:latin typeface="Jost"/>
                <a:ea typeface="Jost"/>
                <a:cs typeface="Jost"/>
              </a:rPr>
              <a:t>Can't make it live? Every call is recorded.</a:t>
            </a:r>
            <a:endParaRPr lang="en-US" sz="4800" dirty="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8 live calls, 90 minutes each.</a:t>
            </a:r>
            <a:endParaRPr lang="en-US" sz="4800" dirty="0"/>
          </a:p>
          <a:p>
            <a:pPr algn="l" indent="0" marL="0">
              <a:spcAft>
                <a:spcPts val="1700"/>
              </a:spcAft>
              <a:buNone/>
            </a:pPr>
            <a:r>
              <a:rPr lang="en-US" sz="4800" dirty="0">
                <a:solidFill>
                  <a:srgbClr val="2A201B"/>
                </a:solidFill>
                <a:latin typeface="Jost"/>
                <a:ea typeface="Jost"/>
                <a:cs typeface="Jost"/>
              </a:rPr>
              <a:t>Mondays at 7:30 PM Eastern, starting November 2.</a:t>
            </a:r>
            <a:endParaRPr lang="en-US" sz="4800" dirty="0"/>
          </a:p>
          <a:p>
            <a:pPr algn="l" indent="0" marL="0">
              <a:spcAft>
                <a:spcPts val="1700"/>
              </a:spcAft>
              <a:buNone/>
            </a:pPr>
            <a:r>
              <a:rPr lang="en-US" sz="4800" dirty="0">
                <a:solidFill>
                  <a:srgbClr val="2A201B"/>
                </a:solidFill>
                <a:latin typeface="Jost"/>
                <a:ea typeface="Jost"/>
                <a:cs typeface="Jost"/>
              </a:rPr>
              <a:t>Can't make it live? Every call is recorded.</a:t>
            </a:r>
            <a:endParaRPr lang="en-US" sz="4800"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Plus a private Telegram group for support between calls.</a:t>
            </a:r>
            <a:endParaRPr lang="en-US" sz="6900" dirty="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Want me looking directly at your business?</a:t>
            </a:r>
            <a:endParaRPr lang="en-US" sz="6900"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206</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AD5A6E"/>
                </a:solidFill>
                <a:latin typeface="Jost"/>
                <a:ea typeface="Jost"/>
                <a:cs typeface="Jost"/>
              </a:rPr>
              <a:t>VIP: </a:t>
            </a:r>
            <a:pPr algn="l" indent="0" marL="0">
              <a:spcAft>
                <a:spcPts val="2100"/>
              </a:spcAft>
              <a:buNone/>
            </a:pPr>
            <a:r>
              <a:rPr lang="en-US" sz="6000" dirty="0">
                <a:solidFill>
                  <a:srgbClr val="2A201B"/>
                </a:solidFill>
                <a:latin typeface="Jost"/>
                <a:ea typeface="Jost"/>
                <a:cs typeface="Jost"/>
              </a:rPr>
              <a:t>Everything in the cohort, plus 3 private 1:1 sessions with me.</a:t>
            </a:r>
            <a:endParaRPr lang="en-US" sz="600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FBF7F1"/>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FBF7F1"/>
                </a:solidFill>
                <a:latin typeface="Jost"/>
                <a:ea typeface="Jost"/>
                <a:cs typeface="Jost"/>
              </a:rPr>
              <a:t>Week 4: </a:t>
            </a:r>
            <a:pPr algn="l" indent="0" marL="0">
              <a:spcAft>
                <a:spcPts val="1000"/>
              </a:spcAft>
              <a:buNone/>
            </a:pPr>
            <a:r>
              <a:rPr lang="en-US" sz="2800" dirty="0">
                <a:solidFill>
                  <a:srgbClr val="FBF7F1"/>
                </a:solidFill>
                <a:latin typeface="Jost"/>
                <a:ea typeface="Jost"/>
                <a:cs typeface="Jost"/>
              </a:rPr>
              <a:t>Private check-in</a:t>
            </a:r>
            <a:endParaRPr lang="en-US" sz="2800" dirty="0"/>
          </a:p>
          <a:p>
            <a:pPr algn="l" indent="0" marL="0">
              <a:spcAft>
                <a:spcPts val="1000"/>
              </a:spcAft>
              <a:buNone/>
            </a:pPr>
            <a:r>
              <a:rPr lang="en-US" sz="2800" dirty="0">
                <a:solidFill>
                  <a:srgbClr val="FBF7F1"/>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FBF7F1"/>
                </a:solidFill>
                <a:latin typeface="Jost"/>
                <a:ea typeface="Jost"/>
                <a:cs typeface="Jost"/>
              </a:rPr>
              <a:t>Week 8: </a:t>
            </a:r>
            <a:pPr algn="l" indent="0" marL="0">
              <a:spcAft>
                <a:spcPts val="1000"/>
              </a:spcAft>
              <a:buNone/>
            </a:pPr>
            <a:r>
              <a:rPr lang="en-US" sz="2800" dirty="0">
                <a:solidFill>
                  <a:srgbClr val="FBF7F1"/>
                </a:solidFill>
                <a:latin typeface="Jost"/>
                <a:ea typeface="Jost"/>
                <a:cs typeface="Jost"/>
              </a:rPr>
              <a:t>Your personal growth plan</a:t>
            </a:r>
            <a:endParaRPr lang="en-US" sz="2800" dirty="0"/>
          </a:p>
          <a:p>
            <a:pPr algn="l" indent="0" marL="0">
              <a:spcAft>
                <a:spcPts val="1000"/>
              </a:spcAft>
              <a:buNone/>
            </a:pPr>
            <a:r>
              <a:rPr lang="en-US" sz="2800" dirty="0">
                <a:solidFill>
                  <a:srgbClr val="FBF7F1"/>
                </a:solidFill>
                <a:latin typeface="Jost"/>
                <a:ea typeface="Jost"/>
                <a:cs typeface="Jost"/>
              </a:rPr>
              <a:t>Your customized strategy for the next 90 days.</a:t>
            </a:r>
            <a:endParaRPr lang="en-US" sz="2800"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2A201B"/>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FBF7F1"/>
                </a:solidFill>
                <a:latin typeface="Jost"/>
                <a:ea typeface="Jost"/>
                <a:cs typeface="Jost"/>
              </a:rPr>
              <a:t>Week 4: </a:t>
            </a:r>
            <a:pPr algn="l" indent="0" marL="0">
              <a:spcAft>
                <a:spcPts val="1000"/>
              </a:spcAft>
              <a:buNone/>
            </a:pPr>
            <a:r>
              <a:rPr lang="en-US" sz="2800" dirty="0">
                <a:solidFill>
                  <a:srgbClr val="FBF7F1"/>
                </a:solidFill>
                <a:latin typeface="Jost"/>
                <a:ea typeface="Jost"/>
                <a:cs typeface="Jost"/>
              </a:rPr>
              <a:t>Private check-in</a:t>
            </a:r>
            <a:endParaRPr lang="en-US" sz="2800" dirty="0"/>
          </a:p>
          <a:p>
            <a:pPr algn="l" indent="0" marL="0">
              <a:spcAft>
                <a:spcPts val="1000"/>
              </a:spcAft>
              <a:buNone/>
            </a:pPr>
            <a:r>
              <a:rPr lang="en-US" sz="2800" dirty="0">
                <a:solidFill>
                  <a:srgbClr val="FBF7F1"/>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FBF7F1"/>
                </a:solidFill>
                <a:latin typeface="Jost"/>
                <a:ea typeface="Jost"/>
                <a:cs typeface="Jost"/>
              </a:rPr>
              <a:t>Week 8: </a:t>
            </a:r>
            <a:pPr algn="l" indent="0" marL="0">
              <a:spcAft>
                <a:spcPts val="1000"/>
              </a:spcAft>
              <a:buNone/>
            </a:pPr>
            <a:r>
              <a:rPr lang="en-US" sz="2800" dirty="0">
                <a:solidFill>
                  <a:srgbClr val="FBF7F1"/>
                </a:solidFill>
                <a:latin typeface="Jost"/>
                <a:ea typeface="Jost"/>
                <a:cs typeface="Jost"/>
              </a:rPr>
              <a:t>Your personal growth plan</a:t>
            </a:r>
            <a:endParaRPr lang="en-US" sz="2800" dirty="0"/>
          </a:p>
          <a:p>
            <a:pPr algn="l" indent="0" marL="0">
              <a:spcAft>
                <a:spcPts val="1000"/>
              </a:spcAft>
              <a:buNone/>
            </a:pPr>
            <a:r>
              <a:rPr lang="en-US" sz="2800" dirty="0">
                <a:solidFill>
                  <a:srgbClr val="FBF7F1"/>
                </a:solidFill>
                <a:latin typeface="Jost"/>
                <a:ea typeface="Jost"/>
                <a:cs typeface="Jost"/>
              </a:rPr>
              <a:t>Your customized strategy for the next 90 days.</a:t>
            </a:r>
            <a:endParaRPr lang="en-US" sz="2800"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2A201B"/>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AD5A6E"/>
                </a:solidFill>
                <a:latin typeface="Jost"/>
                <a:ea typeface="Jost"/>
                <a:cs typeface="Jost"/>
              </a:rPr>
              <a:t>Week 4: </a:t>
            </a:r>
            <a:pPr algn="l" indent="0" marL="0">
              <a:spcAft>
                <a:spcPts val="1000"/>
              </a:spcAft>
              <a:buNone/>
            </a:pPr>
            <a:r>
              <a:rPr lang="en-US" sz="2800" dirty="0">
                <a:solidFill>
                  <a:srgbClr val="2A201B"/>
                </a:solidFill>
                <a:latin typeface="Jost"/>
                <a:ea typeface="Jost"/>
                <a:cs typeface="Jost"/>
              </a:rPr>
              <a:t>Private check-in</a:t>
            </a:r>
            <a:endParaRPr lang="en-US" sz="2800" dirty="0"/>
          </a:p>
          <a:p>
            <a:pPr algn="l" indent="0" marL="0">
              <a:spcAft>
                <a:spcPts val="1000"/>
              </a:spcAft>
              <a:buNone/>
            </a:pPr>
            <a:r>
              <a:rPr lang="en-US" sz="2800" dirty="0">
                <a:solidFill>
                  <a:srgbClr val="FBF7F1"/>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FBF7F1"/>
                </a:solidFill>
                <a:latin typeface="Jost"/>
                <a:ea typeface="Jost"/>
                <a:cs typeface="Jost"/>
              </a:rPr>
              <a:t>Week 8: </a:t>
            </a:r>
            <a:pPr algn="l" indent="0" marL="0">
              <a:spcAft>
                <a:spcPts val="1000"/>
              </a:spcAft>
              <a:buNone/>
            </a:pPr>
            <a:r>
              <a:rPr lang="en-US" sz="2800" dirty="0">
                <a:solidFill>
                  <a:srgbClr val="FBF7F1"/>
                </a:solidFill>
                <a:latin typeface="Jost"/>
                <a:ea typeface="Jost"/>
                <a:cs typeface="Jost"/>
              </a:rPr>
              <a:t>Your personal growth plan</a:t>
            </a:r>
            <a:endParaRPr lang="en-US" sz="2800" dirty="0"/>
          </a:p>
          <a:p>
            <a:pPr algn="l" indent="0" marL="0">
              <a:spcAft>
                <a:spcPts val="1000"/>
              </a:spcAft>
              <a:buNone/>
            </a:pPr>
            <a:r>
              <a:rPr lang="en-US" sz="2800" dirty="0">
                <a:solidFill>
                  <a:srgbClr val="FBF7F1"/>
                </a:solidFill>
                <a:latin typeface="Jost"/>
                <a:ea typeface="Jost"/>
                <a:cs typeface="Jost"/>
              </a:rPr>
              <a:t>Your customized strategy for the next 90 days.</a:t>
            </a:r>
            <a:endParaRPr lang="en-US" sz="2800" dirty="0"/>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2A201B"/>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AD5A6E"/>
                </a:solidFill>
                <a:latin typeface="Jost"/>
                <a:ea typeface="Jost"/>
                <a:cs typeface="Jost"/>
              </a:rPr>
              <a:t>Week 4: </a:t>
            </a:r>
            <a:pPr algn="l" indent="0" marL="0">
              <a:spcAft>
                <a:spcPts val="1000"/>
              </a:spcAft>
              <a:buNone/>
            </a:pPr>
            <a:r>
              <a:rPr lang="en-US" sz="2800" dirty="0">
                <a:solidFill>
                  <a:srgbClr val="2A201B"/>
                </a:solidFill>
                <a:latin typeface="Jost"/>
                <a:ea typeface="Jost"/>
                <a:cs typeface="Jost"/>
              </a:rPr>
              <a:t>Private check-in</a:t>
            </a:r>
            <a:endParaRPr lang="en-US" sz="2800" dirty="0"/>
          </a:p>
          <a:p>
            <a:pPr algn="l" indent="0" marL="0">
              <a:spcAft>
                <a:spcPts val="1000"/>
              </a:spcAft>
              <a:buNone/>
            </a:pPr>
            <a:r>
              <a:rPr lang="en-US" sz="2800" dirty="0">
                <a:solidFill>
                  <a:srgbClr val="2A201B"/>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FBF7F1"/>
                </a:solidFill>
                <a:latin typeface="Jost"/>
                <a:ea typeface="Jost"/>
                <a:cs typeface="Jost"/>
              </a:rPr>
              <a:t>Week 8: </a:t>
            </a:r>
            <a:pPr algn="l" indent="0" marL="0">
              <a:spcAft>
                <a:spcPts val="1000"/>
              </a:spcAft>
              <a:buNone/>
            </a:pPr>
            <a:r>
              <a:rPr lang="en-US" sz="2800" dirty="0">
                <a:solidFill>
                  <a:srgbClr val="FBF7F1"/>
                </a:solidFill>
                <a:latin typeface="Jost"/>
                <a:ea typeface="Jost"/>
                <a:cs typeface="Jost"/>
              </a:rPr>
              <a:t>Your personal growth plan</a:t>
            </a:r>
            <a:endParaRPr lang="en-US" sz="2800" dirty="0"/>
          </a:p>
          <a:p>
            <a:pPr algn="l" indent="0" marL="0">
              <a:spcAft>
                <a:spcPts val="1000"/>
              </a:spcAft>
              <a:buNone/>
            </a:pPr>
            <a:r>
              <a:rPr lang="en-US" sz="2800" dirty="0">
                <a:solidFill>
                  <a:srgbClr val="FBF7F1"/>
                </a:solidFill>
                <a:latin typeface="Jost"/>
                <a:ea typeface="Jost"/>
                <a:cs typeface="Jost"/>
              </a:rPr>
              <a:t>Your customized strategy for the next 90 days.</a:t>
            </a:r>
            <a:endParaRPr lang="en-US" sz="2800" dirty="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2A201B"/>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AD5A6E"/>
                </a:solidFill>
                <a:latin typeface="Jost"/>
                <a:ea typeface="Jost"/>
                <a:cs typeface="Jost"/>
              </a:rPr>
              <a:t>Week 4: </a:t>
            </a:r>
            <a:pPr algn="l" indent="0" marL="0">
              <a:spcAft>
                <a:spcPts val="1000"/>
              </a:spcAft>
              <a:buNone/>
            </a:pPr>
            <a:r>
              <a:rPr lang="en-US" sz="2800" dirty="0">
                <a:solidFill>
                  <a:srgbClr val="2A201B"/>
                </a:solidFill>
                <a:latin typeface="Jost"/>
                <a:ea typeface="Jost"/>
                <a:cs typeface="Jost"/>
              </a:rPr>
              <a:t>Private check-in</a:t>
            </a:r>
            <a:endParaRPr lang="en-US" sz="2800" dirty="0"/>
          </a:p>
          <a:p>
            <a:pPr algn="l" indent="0" marL="0">
              <a:spcAft>
                <a:spcPts val="1000"/>
              </a:spcAft>
              <a:buNone/>
            </a:pPr>
            <a:r>
              <a:rPr lang="en-US" sz="2800" dirty="0">
                <a:solidFill>
                  <a:srgbClr val="2A201B"/>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AD5A6E"/>
                </a:solidFill>
                <a:latin typeface="Jost"/>
                <a:ea typeface="Jost"/>
                <a:cs typeface="Jost"/>
              </a:rPr>
              <a:t>Week 8: </a:t>
            </a:r>
            <a:pPr algn="l" indent="0" marL="0">
              <a:spcAft>
                <a:spcPts val="1000"/>
              </a:spcAft>
              <a:buNone/>
            </a:pPr>
            <a:r>
              <a:rPr lang="en-US" sz="2800" dirty="0">
                <a:solidFill>
                  <a:srgbClr val="2A201B"/>
                </a:solidFill>
                <a:latin typeface="Jost"/>
                <a:ea typeface="Jost"/>
                <a:cs typeface="Jost"/>
              </a:rPr>
              <a:t>Your personal growth plan</a:t>
            </a:r>
            <a:endParaRPr lang="en-US" sz="2800" dirty="0"/>
          </a:p>
          <a:p>
            <a:pPr algn="l" indent="0" marL="0">
              <a:spcAft>
                <a:spcPts val="1000"/>
              </a:spcAft>
              <a:buNone/>
            </a:pPr>
            <a:r>
              <a:rPr lang="en-US" sz="2800" dirty="0">
                <a:solidFill>
                  <a:srgbClr val="FBF7F1"/>
                </a:solidFill>
                <a:latin typeface="Jost"/>
                <a:ea typeface="Jost"/>
                <a:cs typeface="Jost"/>
              </a:rPr>
              <a:t>Your customized strategy for the next 90 days.</a:t>
            </a:r>
            <a:endParaRPr lang="en-US" sz="2800"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000"/>
              </a:spcAft>
              <a:buNone/>
            </a:pPr>
            <a:r>
              <a:rPr lang="en-US" sz="2800" b="1" dirty="0">
                <a:solidFill>
                  <a:srgbClr val="AD5A6E"/>
                </a:solidFill>
                <a:latin typeface="Jost"/>
                <a:ea typeface="Jost"/>
                <a:cs typeface="Jost"/>
              </a:rPr>
              <a:t>Week 1: </a:t>
            </a:r>
            <a:pPr algn="l" indent="0" marL="0">
              <a:spcAft>
                <a:spcPts val="1000"/>
              </a:spcAft>
              <a:buNone/>
            </a:pPr>
            <a:r>
              <a:rPr lang="en-US" sz="2800" dirty="0">
                <a:solidFill>
                  <a:srgbClr val="2A201B"/>
                </a:solidFill>
                <a:latin typeface="Jost"/>
                <a:ea typeface="Jost"/>
                <a:cs typeface="Jost"/>
              </a:rPr>
              <a:t>Private business diagnostic</a:t>
            </a:r>
            <a:endParaRPr lang="en-US" sz="2800" dirty="0"/>
          </a:p>
          <a:p>
            <a:pPr algn="l" indent="0" marL="0">
              <a:spcAft>
                <a:spcPts val="1000"/>
              </a:spcAft>
              <a:buNone/>
            </a:pPr>
            <a:r>
              <a:rPr lang="en-US" sz="2800" dirty="0">
                <a:solidFill>
                  <a:srgbClr val="2A201B"/>
                </a:solidFill>
                <a:latin typeface="Jost"/>
                <a:ea typeface="Jost"/>
                <a:cs typeface="Jost"/>
              </a:rPr>
              <a:t>I look at your business, Instagram, offers, pricing, positioning, and schedule, and tell you what needs to change.</a:t>
            </a:r>
            <a:endParaRPr lang="en-US" sz="2800" dirty="0"/>
          </a:p>
          <a:p>
            <a:pPr algn="l" indent="0" marL="0">
              <a:spcAft>
                <a:spcPts val="1000"/>
              </a:spcAft>
              <a:buNone/>
            </a:pPr>
            <a:r>
              <a:rPr lang="en-US" sz="2800" b="1" dirty="0">
                <a:solidFill>
                  <a:srgbClr val="AD5A6E"/>
                </a:solidFill>
                <a:latin typeface="Jost"/>
                <a:ea typeface="Jost"/>
                <a:cs typeface="Jost"/>
              </a:rPr>
              <a:t>Week 4: </a:t>
            </a:r>
            <a:pPr algn="l" indent="0" marL="0">
              <a:spcAft>
                <a:spcPts val="1000"/>
              </a:spcAft>
              <a:buNone/>
            </a:pPr>
            <a:r>
              <a:rPr lang="en-US" sz="2800" dirty="0">
                <a:solidFill>
                  <a:srgbClr val="2A201B"/>
                </a:solidFill>
                <a:latin typeface="Jost"/>
                <a:ea typeface="Jost"/>
                <a:cs typeface="Jost"/>
              </a:rPr>
              <a:t>Private check-in</a:t>
            </a:r>
            <a:endParaRPr lang="en-US" sz="2800" dirty="0"/>
          </a:p>
          <a:p>
            <a:pPr algn="l" indent="0" marL="0">
              <a:spcAft>
                <a:spcPts val="1000"/>
              </a:spcAft>
              <a:buNone/>
            </a:pPr>
            <a:r>
              <a:rPr lang="en-US" sz="2800" dirty="0">
                <a:solidFill>
                  <a:srgbClr val="2A201B"/>
                </a:solidFill>
                <a:latin typeface="Jost"/>
                <a:ea typeface="Jost"/>
                <a:cs typeface="Jost"/>
              </a:rPr>
              <a:t>What's working? Where are you stuck? What needs adjusting?</a:t>
            </a:r>
            <a:endParaRPr lang="en-US" sz="2800" dirty="0"/>
          </a:p>
          <a:p>
            <a:pPr algn="l" indent="0" marL="0">
              <a:spcAft>
                <a:spcPts val="1000"/>
              </a:spcAft>
              <a:buNone/>
            </a:pPr>
            <a:r>
              <a:rPr lang="en-US" sz="2800" b="1" dirty="0">
                <a:solidFill>
                  <a:srgbClr val="AD5A6E"/>
                </a:solidFill>
                <a:latin typeface="Jost"/>
                <a:ea typeface="Jost"/>
                <a:cs typeface="Jost"/>
              </a:rPr>
              <a:t>Week 8: </a:t>
            </a:r>
            <a:pPr algn="l" indent="0" marL="0">
              <a:spcAft>
                <a:spcPts val="1000"/>
              </a:spcAft>
              <a:buNone/>
            </a:pPr>
            <a:r>
              <a:rPr lang="en-US" sz="2800" dirty="0">
                <a:solidFill>
                  <a:srgbClr val="2A201B"/>
                </a:solidFill>
                <a:latin typeface="Jost"/>
                <a:ea typeface="Jost"/>
                <a:cs typeface="Jost"/>
              </a:rPr>
              <a:t>Your personal growth plan</a:t>
            </a:r>
            <a:endParaRPr lang="en-US" sz="2800" dirty="0"/>
          </a:p>
          <a:p>
            <a:pPr algn="l" indent="0" marL="0">
              <a:spcAft>
                <a:spcPts val="1000"/>
              </a:spcAft>
              <a:buNone/>
            </a:pPr>
            <a:r>
              <a:rPr lang="en-US" sz="2800" dirty="0">
                <a:solidFill>
                  <a:srgbClr val="2A201B"/>
                </a:solidFill>
                <a:latin typeface="Jost"/>
                <a:ea typeface="Jost"/>
                <a:cs typeface="Jost"/>
              </a:rPr>
              <a:t>Your customized strategy for the next 90 days.</a:t>
            </a:r>
            <a:endParaRPr lang="en-US" sz="2800"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5669280" cy="42062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"You're a great listener, but you're also going to tell me things straight forward. There's no beating around the bush in this mentorship! 😂 And honestly, I needed that."</a:t>
            </a:r>
            <a:endParaRPr lang="en-US" sz="3200" dirty="0"/>
          </a:p>
        </p:txBody>
      </p:sp>
      <p:sp>
        <p:nvSpPr>
          <p:cNvPr id="7" name="Text 4"/>
          <p:cNvSpPr txBox="1"/>
          <p:nvPr/>
        </p:nvSpPr>
        <p:spPr>
          <a:xfrm>
            <a:off x="731520" y="51206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8" name="Image 0" descr="/home/claude/webinar/deck-img/testimonial-1.jpg">    </p:cNvPr>
          <p:cNvPicPr>
            <a:picLocks noChangeAspect="1"/>
          </p:cNvPicPr>
          <p:nvPr/>
        </p:nvPicPr>
        <p:blipFill>
          <a:blip r:embed="rId1"/>
          <a:stretch>
            <a:fillRect/>
          </a:stretch>
        </p:blipFill>
        <p:spPr>
          <a:xfrm>
            <a:off x="7925874" y="548640"/>
            <a:ext cx="2436252" cy="5120640"/>
          </a:xfrm>
          <a:prstGeom prst="rect">
            <a:avLst/>
          </a:prstGeom>
        </p:spPr>
      </p:pic>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209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Only 5 VIP seats.</a:t>
            </a:r>
            <a:endParaRPr lang="en-US" sz="6000"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210</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Let's talk about what this is worth.</a:t>
            </a:r>
            <a:endParaRPr lang="en-US" sz="6900" dirty="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Go back to your ceiling number.</a:t>
            </a:r>
            <a:endParaRPr lang="en-US" sz="5100" dirty="0"/>
          </a:p>
          <a:p>
            <a:pPr algn="l" indent="0" marL="0">
              <a:spcAft>
                <a:spcPts val="1500"/>
              </a:spcAft>
              <a:buNone/>
            </a:pPr>
            <a:r>
              <a:rPr lang="en-US" sz="4400" dirty="0">
                <a:solidFill>
                  <a:srgbClr val="FBF7F1"/>
                </a:solidFill>
                <a:latin typeface="Jost"/>
                <a:ea typeface="Jost"/>
                <a:cs typeface="Jost"/>
              </a:rPr>
              <a:t>If nothing changes, that's your income a year from now.</a:t>
            </a:r>
            <a:endParaRPr lang="en-US" sz="4400" dirty="0"/>
          </a:p>
          <a:p>
            <a:pPr algn="l" indent="0" marL="0">
              <a:spcAft>
                <a:spcPts val="1500"/>
              </a:spcAft>
              <a:buNone/>
            </a:pPr>
            <a:r>
              <a:rPr lang="en-US" sz="4400" dirty="0">
                <a:solidFill>
                  <a:srgbClr val="FBF7F1"/>
                </a:solidFill>
                <a:latin typeface="Jost"/>
                <a:ea typeface="Jost"/>
                <a:cs typeface="Jost"/>
              </a:rPr>
              <a:t>Same hours. Same body aches. Same slow weeks.</a:t>
            </a:r>
            <a:endParaRPr lang="en-US" sz="4400"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Go back to your ceiling number.</a:t>
            </a:r>
            <a:endParaRPr lang="en-US" sz="5100" dirty="0"/>
          </a:p>
          <a:p>
            <a:pPr algn="l" indent="0" marL="0">
              <a:spcAft>
                <a:spcPts val="1500"/>
              </a:spcAft>
              <a:buNone/>
            </a:pPr>
            <a:r>
              <a:rPr lang="en-US" sz="4400" dirty="0">
                <a:solidFill>
                  <a:srgbClr val="2A201B"/>
                </a:solidFill>
                <a:latin typeface="Jost"/>
                <a:ea typeface="Jost"/>
                <a:cs typeface="Jost"/>
              </a:rPr>
              <a:t>If nothing changes, that's your income a year from now.</a:t>
            </a:r>
            <a:endParaRPr lang="en-US" sz="4400" dirty="0"/>
          </a:p>
          <a:p>
            <a:pPr algn="l" indent="0" marL="0">
              <a:spcAft>
                <a:spcPts val="1500"/>
              </a:spcAft>
              <a:buNone/>
            </a:pPr>
            <a:r>
              <a:rPr lang="en-US" sz="4400" dirty="0">
                <a:solidFill>
                  <a:srgbClr val="FBF7F1"/>
                </a:solidFill>
                <a:latin typeface="Jost"/>
                <a:ea typeface="Jost"/>
                <a:cs typeface="Jost"/>
              </a:rPr>
              <a:t>Same hours. Same body aches. Same slow weeks.</a:t>
            </a:r>
            <a:endParaRPr lang="en-US" sz="4400" dirty="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Go back to your ceiling number.</a:t>
            </a:r>
            <a:endParaRPr lang="en-US" sz="5100" dirty="0"/>
          </a:p>
          <a:p>
            <a:pPr algn="l" indent="0" marL="0">
              <a:spcAft>
                <a:spcPts val="1500"/>
              </a:spcAft>
              <a:buNone/>
            </a:pPr>
            <a:r>
              <a:rPr lang="en-US" sz="4400" dirty="0">
                <a:solidFill>
                  <a:srgbClr val="2A201B"/>
                </a:solidFill>
                <a:latin typeface="Jost"/>
                <a:ea typeface="Jost"/>
                <a:cs typeface="Jost"/>
              </a:rPr>
              <a:t>If nothing changes, that's your income a year from now.</a:t>
            </a:r>
            <a:endParaRPr lang="en-US" sz="4400" dirty="0"/>
          </a:p>
          <a:p>
            <a:pPr algn="l" indent="0" marL="0">
              <a:spcAft>
                <a:spcPts val="1500"/>
              </a:spcAft>
              <a:buNone/>
            </a:pPr>
            <a:r>
              <a:rPr lang="en-US" sz="4400" dirty="0">
                <a:solidFill>
                  <a:srgbClr val="2A201B"/>
                </a:solidFill>
                <a:latin typeface="Jost"/>
                <a:ea typeface="Jost"/>
                <a:cs typeface="Jost"/>
              </a:rPr>
              <a:t>Same hours. Same body aches. Same slow weeks.</a:t>
            </a:r>
            <a:endParaRPr lang="en-US" sz="4400"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212</a:t>
            </a:r>
            <a:endParaRPr lang="en-US" sz="1000" dirty="0"/>
          </a:p>
        </p:txBody>
      </p:sp>
      <p:sp>
        <p:nvSpPr>
          <p:cNvPr id="4" name="Text 1"/>
          <p:cNvSpPr txBox="1"/>
          <p:nvPr/>
        </p:nvSpPr>
        <p:spPr>
          <a:xfrm>
            <a:off x="731520" y="548640"/>
            <a:ext cx="10362895" cy="516636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Now look at the Invisible Leak.</a:t>
            </a:r>
            <a:endParaRPr lang="en-US" sz="6200" dirty="0"/>
          </a:p>
          <a:p>
            <a:pPr algn="l" indent="0" marL="0">
              <a:spcAft>
                <a:spcPts val="1900"/>
              </a:spcAft>
              <a:buNone/>
            </a:pPr>
            <a:r>
              <a:rPr lang="en-US" sz="5400" dirty="0">
                <a:solidFill>
                  <a:srgbClr val="2A201B"/>
                </a:solidFill>
                <a:latin typeface="Jost"/>
                <a:ea typeface="Jost"/>
                <a:cs typeface="Jost"/>
              </a:rPr>
              <a:t>In my own studio, if half my clients added it, the gap was over </a:t>
            </a:r>
            <a:pPr algn="l" indent="0" marL="0">
              <a:spcAft>
                <a:spcPts val="1900"/>
              </a:spcAft>
              <a:buNone/>
            </a:pPr>
            <a:r>
              <a:rPr lang="en-US" sz="5400" b="1" dirty="0">
                <a:solidFill>
                  <a:srgbClr val="AD5A6E"/>
                </a:solidFill>
                <a:latin typeface="Jost"/>
                <a:ea typeface="Jost"/>
                <a:cs typeface="Jost"/>
              </a:rPr>
              <a:t>$11,000</a:t>
            </a:r>
            <a:pPr algn="l" indent="0" marL="0">
              <a:spcAft>
                <a:spcPts val="1900"/>
              </a:spcAft>
              <a:buNone/>
            </a:pPr>
            <a:r>
              <a:rPr lang="en-US" sz="5400" dirty="0">
                <a:solidFill>
                  <a:srgbClr val="2A201B"/>
                </a:solidFill>
                <a:latin typeface="Jost"/>
                <a:ea typeface="Jost"/>
                <a:cs typeface="Jost"/>
              </a:rPr>
              <a:t> a year.</a:t>
            </a:r>
            <a:endParaRPr lang="en-US" sz="5400" dirty="0"/>
          </a:p>
        </p:txBody>
      </p:sp>
      <p:sp>
        <p:nvSpPr>
          <p:cNvPr id="5" name="Text 2"/>
          <p:cNvSpPr txBox="1"/>
          <p:nvPr/>
        </p:nvSpPr>
        <p:spPr>
          <a:xfrm>
            <a:off x="731520" y="5852160"/>
            <a:ext cx="10362895"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$19,380 possible minus $7,680 made = $11,700</a:t>
            </a:r>
            <a:endParaRPr lang="en-US" sz="2200"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promise you a specific number. Your results depend on what you put in.</a:t>
            </a:r>
            <a:endParaRPr lang="en-US" sz="5100" dirty="0"/>
          </a:p>
          <a:p>
            <a:pPr algn="l" indent="0" marL="0">
              <a:spcAft>
                <a:spcPts val="1500"/>
              </a:spcAft>
              <a:buNone/>
            </a:pPr>
            <a:r>
              <a:rPr lang="en-US" sz="4400" dirty="0">
                <a:solidFill>
                  <a:srgbClr val="FBF7F1"/>
                </a:solidFill>
                <a:latin typeface="Jost"/>
                <a:ea typeface="Jost"/>
                <a:cs typeface="Jost"/>
              </a:rPr>
              <a:t>But staying where you are has a cost too.</a:t>
            </a:r>
            <a:endParaRPr lang="en-US" sz="4400" dirty="0"/>
          </a:p>
          <a:p>
            <a:pPr algn="l" indent="0" marL="0">
              <a:spcAft>
                <a:spcPts val="1500"/>
              </a:spcAft>
              <a:buNone/>
            </a:pPr>
            <a:r>
              <a:rPr lang="en-US" sz="4400" dirty="0">
                <a:solidFill>
                  <a:srgbClr val="FBF7F1"/>
                </a:solidFill>
                <a:latin typeface="Jost"/>
                <a:ea typeface="Jost"/>
                <a:cs typeface="Jost"/>
              </a:rPr>
              <a:t>You're already paying it, in your body and in your time.</a:t>
            </a:r>
            <a:endParaRPr lang="en-US" sz="4400" dirty="0"/>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promise you a specific number. Your results depend on what you put in.</a:t>
            </a:r>
            <a:endParaRPr lang="en-US" sz="5100" dirty="0"/>
          </a:p>
          <a:p>
            <a:pPr algn="l" indent="0" marL="0">
              <a:spcAft>
                <a:spcPts val="1500"/>
              </a:spcAft>
              <a:buNone/>
            </a:pPr>
            <a:r>
              <a:rPr lang="en-US" sz="4400" dirty="0">
                <a:solidFill>
                  <a:srgbClr val="2A201B"/>
                </a:solidFill>
                <a:latin typeface="Jost"/>
                <a:ea typeface="Jost"/>
                <a:cs typeface="Jost"/>
              </a:rPr>
              <a:t>But staying where you are has a cost too.</a:t>
            </a:r>
            <a:endParaRPr lang="en-US" sz="4400" dirty="0"/>
          </a:p>
          <a:p>
            <a:pPr algn="l" indent="0" marL="0">
              <a:spcAft>
                <a:spcPts val="1500"/>
              </a:spcAft>
              <a:buNone/>
            </a:pPr>
            <a:r>
              <a:rPr lang="en-US" sz="4400" dirty="0">
                <a:solidFill>
                  <a:srgbClr val="FBF7F1"/>
                </a:solidFill>
                <a:latin typeface="Jost"/>
                <a:ea typeface="Jost"/>
                <a:cs typeface="Jost"/>
              </a:rPr>
              <a:t>You're already paying it, in your body and in your time.</a:t>
            </a:r>
            <a:endParaRPr lang="en-US" sz="4400"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promise you a specific number. Your results depend on what you put in.</a:t>
            </a:r>
            <a:endParaRPr lang="en-US" sz="5100" dirty="0"/>
          </a:p>
          <a:p>
            <a:pPr algn="l" indent="0" marL="0">
              <a:spcAft>
                <a:spcPts val="1500"/>
              </a:spcAft>
              <a:buNone/>
            </a:pPr>
            <a:r>
              <a:rPr lang="en-US" sz="4400" dirty="0">
                <a:solidFill>
                  <a:srgbClr val="2A201B"/>
                </a:solidFill>
                <a:latin typeface="Jost"/>
                <a:ea typeface="Jost"/>
                <a:cs typeface="Jost"/>
              </a:rPr>
              <a:t>But staying where you are has a cost too.</a:t>
            </a:r>
            <a:endParaRPr lang="en-US" sz="4400" dirty="0"/>
          </a:p>
          <a:p>
            <a:pPr algn="l" indent="0" marL="0">
              <a:spcAft>
                <a:spcPts val="1500"/>
              </a:spcAft>
              <a:buNone/>
            </a:pPr>
            <a:r>
              <a:rPr lang="en-US" sz="4400" dirty="0">
                <a:solidFill>
                  <a:srgbClr val="2A201B"/>
                </a:solidFill>
                <a:latin typeface="Jost"/>
                <a:ea typeface="Jost"/>
                <a:cs typeface="Jost"/>
              </a:rPr>
              <a:t>You're already paying it, in your body and in your time.</a:t>
            </a:r>
            <a:endParaRPr lang="en-US" sz="440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214</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After this founding cohort, the Blueprint will be </a:t>
            </a:r>
            <a:pPr algn="l" indent="0" marL="0">
              <a:spcAft>
                <a:spcPts val="2100"/>
              </a:spcAft>
              <a:buNone/>
            </a:pPr>
            <a:r>
              <a:rPr lang="en-US" sz="6000" b="1" dirty="0">
                <a:solidFill>
                  <a:srgbClr val="AD5A6E"/>
                </a:solidFill>
                <a:latin typeface="Jost"/>
                <a:ea typeface="Jost"/>
                <a:cs typeface="Jost"/>
              </a:rPr>
              <a:t>$1,497</a:t>
            </a:r>
            <a:pPr algn="l" indent="0" marL="0">
              <a:spcAft>
                <a:spcPts val="2100"/>
              </a:spcAft>
              <a:buNone/>
            </a:pPr>
            <a:r>
              <a:rPr lang="en-US" sz="6000" b="1" dirty="0">
                <a:solidFill>
                  <a:srgbClr val="2A201B"/>
                </a:solidFill>
                <a:latin typeface="Jost"/>
                <a:ea typeface="Jost"/>
                <a:cs typeface="Jost"/>
              </a:rPr>
              <a:t>.</a:t>
            </a:r>
            <a:endParaRPr lang="en-US" sz="6000"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1005840"/>
            <a:ext cx="5486400" cy="822960"/>
          </a:xfrm>
          <a:prstGeom prst="rect">
            <a:avLst/>
          </a:prstGeom>
          <a:noFill/>
          <a:ln/>
        </p:spPr>
        <p:txBody>
          <a:bodyPr wrap="square" lIns="0" tIns="0" rIns="0" bIns="0" rtlCol="0" anchor="ctr"/>
          <a:lstStyle/>
          <a:p>
            <a:pPr indent="0" marL="0">
              <a:buNone/>
            </a:pPr>
            <a:r>
              <a:rPr lang="en-US" sz="4400" strike="sngStrike" dirty="0">
                <a:solidFill>
                  <a:srgbClr val="5A4A42"/>
                </a:solidFill>
                <a:latin typeface="Jost"/>
                <a:ea typeface="Jost"/>
                <a:cs typeface="Jost"/>
              </a:rPr>
              <a:t>$1,497</a:t>
            </a:r>
            <a:endParaRPr lang="en-US" sz="4400" dirty="0"/>
          </a:p>
        </p:txBody>
      </p:sp>
      <p:sp>
        <p:nvSpPr>
          <p:cNvPr id="7" name="Text 4"/>
          <p:cNvSpPr txBox="1"/>
          <p:nvPr/>
        </p:nvSpPr>
        <p:spPr>
          <a:xfrm>
            <a:off x="731520" y="1920240"/>
            <a:ext cx="10728655" cy="3566160"/>
          </a:xfrm>
          <a:prstGeom prst="rect">
            <a:avLst/>
          </a:prstGeom>
          <a:noFill/>
          <a:ln/>
        </p:spPr>
        <p:txBody>
          <a:bodyPr wrap="square" lIns="0" tIns="0" rIns="0" bIns="0" rtlCol="0" anchor="t"/>
          <a:lstStyle/>
          <a:p>
            <a:pPr indent="0" marL="0">
              <a:buNone/>
            </a:pPr>
            <a:r>
              <a:rPr lang="en-US" sz="4100" b="1" dirty="0">
                <a:solidFill>
                  <a:srgbClr val="2A201B"/>
                </a:solidFill>
                <a:latin typeface="Cormorant Garamond"/>
                <a:ea typeface="Cormorant Garamond"/>
                <a:cs typeface="Cormorant Garamond"/>
              </a:rPr>
              <a:t>Standard, founding price tonight</a:t>
            </a:r>
            <a:endParaRPr lang="en-US" sz="4100" dirty="0"/>
          </a:p>
          <a:p>
            <a:pPr indent="0" marL="0">
              <a:buNone/>
            </a:pPr>
            <a:r>
              <a:rPr lang="en-US" sz="12000" b="1" dirty="0">
                <a:solidFill>
                  <a:srgbClr val="AD5A6E"/>
                </a:solidFill>
                <a:latin typeface="Jost"/>
                <a:ea typeface="Jost"/>
                <a:cs typeface="Jost"/>
              </a:rPr>
              <a:t>$997</a:t>
            </a:r>
            <a:endParaRPr lang="en-US" sz="3600" dirty="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822960"/>
            <a:ext cx="10728655" cy="731520"/>
          </a:xfrm>
          <a:prstGeom prst="rect">
            <a:avLst/>
          </a:prstGeom>
          <a:noFill/>
          <a:ln/>
        </p:spPr>
        <p:txBody>
          <a:bodyPr wrap="square" lIns="0" tIns="0" rIns="0" bIns="0" rtlCol="0" anchor="ctr"/>
          <a:lstStyle/>
          <a:p>
            <a:pPr indent="0" marL="0">
              <a:buNone/>
            </a:pPr>
            <a:r>
              <a:rPr lang="en-US" sz="3600" strike="sngStrike" dirty="0">
                <a:solidFill>
                  <a:srgbClr val="5A4A42"/>
                </a:solidFill>
                <a:latin typeface="Jost"/>
                <a:ea typeface="Jost"/>
                <a:cs typeface="Jost"/>
              </a:rPr>
              <a:t>VIP after this cohort: $1,997</a:t>
            </a:r>
            <a:endParaRPr lang="en-US" sz="3600" dirty="0"/>
          </a:p>
        </p:txBody>
      </p:sp>
      <p:sp>
        <p:nvSpPr>
          <p:cNvPr id="7" name="Text 4"/>
          <p:cNvSpPr txBox="1"/>
          <p:nvPr/>
        </p:nvSpPr>
        <p:spPr>
          <a:xfrm>
            <a:off x="731520" y="1737360"/>
            <a:ext cx="10728655" cy="2377440"/>
          </a:xfrm>
          <a:prstGeom prst="rect">
            <a:avLst/>
          </a:prstGeom>
          <a:noFill/>
          <a:ln/>
        </p:spPr>
        <p:txBody>
          <a:bodyPr wrap="square" lIns="0" tIns="0" rIns="0" bIns="0" rtlCol="0" anchor="t"/>
          <a:lstStyle/>
          <a:p>
            <a:pPr indent="0" marL="0">
              <a:buNone/>
            </a:pPr>
            <a:r>
              <a:rPr lang="en-US" sz="4100" b="1" dirty="0">
                <a:solidFill>
                  <a:srgbClr val="FBF7F1"/>
                </a:solidFill>
                <a:latin typeface="Cormorant Garamond"/>
                <a:ea typeface="Cormorant Garamond"/>
                <a:cs typeface="Cormorant Garamond"/>
              </a:rPr>
              <a:t>VIP, founding price tonight</a:t>
            </a:r>
            <a:endParaRPr lang="en-US" sz="4100" dirty="0"/>
          </a:p>
          <a:p>
            <a:pPr indent="0" marL="0">
              <a:buNone/>
            </a:pPr>
            <a:r>
              <a:rPr lang="en-US" sz="11000" b="1" dirty="0">
                <a:solidFill>
                  <a:srgbClr val="FBF7F1"/>
                </a:solidFill>
                <a:latin typeface="Jost"/>
                <a:ea typeface="Jost"/>
                <a:cs typeface="Jost"/>
              </a:rPr>
              <a:t>$1,497</a:t>
            </a:r>
            <a:endParaRPr lang="en-US" sz="3600" dirty="0"/>
          </a:p>
        </p:txBody>
      </p:sp>
      <p:sp>
        <p:nvSpPr>
          <p:cNvPr id="8" name="Text 5"/>
          <p:cNvSpPr txBox="1"/>
          <p:nvPr/>
        </p:nvSpPr>
        <p:spPr>
          <a:xfrm>
            <a:off x="731520" y="4206240"/>
            <a:ext cx="10728655" cy="1463040"/>
          </a:xfrm>
          <a:prstGeom prst="rect">
            <a:avLst/>
          </a:prstGeom>
          <a:noFill/>
          <a:ln/>
        </p:spPr>
        <p:txBody>
          <a:bodyPr wrap="square" lIns="0" tIns="0" rIns="0" bIns="0" rtlCol="0" anchor="t"/>
          <a:lstStyle/>
          <a:p>
            <a:pPr indent="0" marL="0">
              <a:buNone/>
            </a:pPr>
            <a:r>
              <a:rPr lang="en-US" sz="3200" dirty="0">
                <a:solidFill>
                  <a:srgbClr val="FBF7F1"/>
                </a:solidFill>
                <a:latin typeface="Jost"/>
                <a:ea typeface="Jost"/>
                <a:cs typeface="Jost"/>
              </a:rPr>
              <a:t>That means VIP tonight costs what Standard costs next time.</a:t>
            </a:r>
            <a:endParaRPr lang="en-US" sz="3200" dirty="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822960"/>
            <a:ext cx="10728655" cy="731520"/>
          </a:xfrm>
          <a:prstGeom prst="rect">
            <a:avLst/>
          </a:prstGeom>
          <a:noFill/>
          <a:ln/>
        </p:spPr>
        <p:txBody>
          <a:bodyPr wrap="square" lIns="0" tIns="0" rIns="0" bIns="0" rtlCol="0" anchor="ctr"/>
          <a:lstStyle/>
          <a:p>
            <a:pPr indent="0" marL="0">
              <a:buNone/>
            </a:pPr>
            <a:r>
              <a:rPr lang="en-US" sz="3600" strike="sngStrike" dirty="0">
                <a:solidFill>
                  <a:srgbClr val="5A4A42"/>
                </a:solidFill>
                <a:latin typeface="Jost"/>
                <a:ea typeface="Jost"/>
                <a:cs typeface="Jost"/>
              </a:rPr>
              <a:t>VIP after this cohort: $1,997</a:t>
            </a:r>
            <a:endParaRPr lang="en-US" sz="3600" dirty="0"/>
          </a:p>
        </p:txBody>
      </p:sp>
      <p:sp>
        <p:nvSpPr>
          <p:cNvPr id="7" name="Text 4"/>
          <p:cNvSpPr txBox="1"/>
          <p:nvPr/>
        </p:nvSpPr>
        <p:spPr>
          <a:xfrm>
            <a:off x="731520" y="1737360"/>
            <a:ext cx="10728655" cy="2377440"/>
          </a:xfrm>
          <a:prstGeom prst="rect">
            <a:avLst/>
          </a:prstGeom>
          <a:noFill/>
          <a:ln/>
        </p:spPr>
        <p:txBody>
          <a:bodyPr wrap="square" lIns="0" tIns="0" rIns="0" bIns="0" rtlCol="0" anchor="t"/>
          <a:lstStyle/>
          <a:p>
            <a:pPr indent="0" marL="0">
              <a:buNone/>
            </a:pPr>
            <a:r>
              <a:rPr lang="en-US" sz="4100" b="1" dirty="0">
                <a:solidFill>
                  <a:srgbClr val="2A201B"/>
                </a:solidFill>
                <a:latin typeface="Cormorant Garamond"/>
                <a:ea typeface="Cormorant Garamond"/>
                <a:cs typeface="Cormorant Garamond"/>
              </a:rPr>
              <a:t>VIP, founding price tonight</a:t>
            </a:r>
            <a:endParaRPr lang="en-US" sz="4100" dirty="0"/>
          </a:p>
          <a:p>
            <a:pPr indent="0" marL="0">
              <a:buNone/>
            </a:pPr>
            <a:r>
              <a:rPr lang="en-US" sz="11000" b="1" dirty="0">
                <a:solidFill>
                  <a:srgbClr val="AD5A6E"/>
                </a:solidFill>
                <a:latin typeface="Jost"/>
                <a:ea typeface="Jost"/>
                <a:cs typeface="Jost"/>
              </a:rPr>
              <a:t>$1,497</a:t>
            </a:r>
            <a:endParaRPr lang="en-US" sz="3600" dirty="0"/>
          </a:p>
        </p:txBody>
      </p:sp>
      <p:sp>
        <p:nvSpPr>
          <p:cNvPr id="8" name="Text 5"/>
          <p:cNvSpPr txBox="1"/>
          <p:nvPr/>
        </p:nvSpPr>
        <p:spPr>
          <a:xfrm>
            <a:off x="731520" y="4206240"/>
            <a:ext cx="10728655" cy="1463040"/>
          </a:xfrm>
          <a:prstGeom prst="rect">
            <a:avLst/>
          </a:prstGeom>
          <a:noFill/>
          <a:ln/>
        </p:spPr>
        <p:txBody>
          <a:bodyPr wrap="square" lIns="0" tIns="0" rIns="0" bIns="0" rtlCol="0" anchor="t"/>
          <a:lstStyle/>
          <a:p>
            <a:pPr indent="0" marL="0">
              <a:buNone/>
            </a:pPr>
            <a:r>
              <a:rPr lang="en-US" sz="3200" dirty="0">
                <a:solidFill>
                  <a:srgbClr val="FBF7F1"/>
                </a:solidFill>
                <a:latin typeface="Jost"/>
                <a:ea typeface="Jost"/>
                <a:cs typeface="Jost"/>
              </a:rPr>
              <a:t>That means VIP tonight costs what Standard costs next time.</a:t>
            </a:r>
            <a:endParaRPr lang="en-US" sz="3200" dirty="0"/>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822960"/>
            <a:ext cx="10728655" cy="731520"/>
          </a:xfrm>
          <a:prstGeom prst="rect">
            <a:avLst/>
          </a:prstGeom>
          <a:noFill/>
          <a:ln/>
        </p:spPr>
        <p:txBody>
          <a:bodyPr wrap="square" lIns="0" tIns="0" rIns="0" bIns="0" rtlCol="0" anchor="ctr"/>
          <a:lstStyle/>
          <a:p>
            <a:pPr indent="0" marL="0">
              <a:buNone/>
            </a:pPr>
            <a:r>
              <a:rPr lang="en-US" sz="3600" strike="sngStrike" dirty="0">
                <a:solidFill>
                  <a:srgbClr val="5A4A42"/>
                </a:solidFill>
                <a:latin typeface="Jost"/>
                <a:ea typeface="Jost"/>
                <a:cs typeface="Jost"/>
              </a:rPr>
              <a:t>VIP after this cohort: $1,997</a:t>
            </a:r>
            <a:endParaRPr lang="en-US" sz="3600" dirty="0"/>
          </a:p>
        </p:txBody>
      </p:sp>
      <p:sp>
        <p:nvSpPr>
          <p:cNvPr id="7" name="Text 4"/>
          <p:cNvSpPr txBox="1"/>
          <p:nvPr/>
        </p:nvSpPr>
        <p:spPr>
          <a:xfrm>
            <a:off x="731520" y="1737360"/>
            <a:ext cx="10728655" cy="2377440"/>
          </a:xfrm>
          <a:prstGeom prst="rect">
            <a:avLst/>
          </a:prstGeom>
          <a:noFill/>
          <a:ln/>
        </p:spPr>
        <p:txBody>
          <a:bodyPr wrap="square" lIns="0" tIns="0" rIns="0" bIns="0" rtlCol="0" anchor="t"/>
          <a:lstStyle/>
          <a:p>
            <a:pPr indent="0" marL="0">
              <a:buNone/>
            </a:pPr>
            <a:r>
              <a:rPr lang="en-US" sz="4100" b="1" dirty="0">
                <a:solidFill>
                  <a:srgbClr val="2A201B"/>
                </a:solidFill>
                <a:latin typeface="Cormorant Garamond"/>
                <a:ea typeface="Cormorant Garamond"/>
                <a:cs typeface="Cormorant Garamond"/>
              </a:rPr>
              <a:t>VIP, founding price tonight</a:t>
            </a:r>
            <a:endParaRPr lang="en-US" sz="4100" dirty="0"/>
          </a:p>
          <a:p>
            <a:pPr indent="0" marL="0">
              <a:buNone/>
            </a:pPr>
            <a:r>
              <a:rPr lang="en-US" sz="11000" b="1" dirty="0">
                <a:solidFill>
                  <a:srgbClr val="AD5A6E"/>
                </a:solidFill>
                <a:latin typeface="Jost"/>
                <a:ea typeface="Jost"/>
                <a:cs typeface="Jost"/>
              </a:rPr>
              <a:t>$1,497</a:t>
            </a:r>
            <a:endParaRPr lang="en-US" sz="3600" dirty="0"/>
          </a:p>
        </p:txBody>
      </p:sp>
      <p:sp>
        <p:nvSpPr>
          <p:cNvPr id="8" name="Text 5"/>
          <p:cNvSpPr txBox="1"/>
          <p:nvPr/>
        </p:nvSpPr>
        <p:spPr>
          <a:xfrm>
            <a:off x="731520" y="4206240"/>
            <a:ext cx="10728655" cy="1463040"/>
          </a:xfrm>
          <a:prstGeom prst="rect">
            <a:avLst/>
          </a:prstGeom>
          <a:noFill/>
          <a:ln/>
        </p:spPr>
        <p:txBody>
          <a:bodyPr wrap="square" lIns="0" tIns="0" rIns="0" bIns="0" rtlCol="0" anchor="t"/>
          <a:lstStyle/>
          <a:p>
            <a:pPr indent="0" marL="0">
              <a:buNone/>
            </a:pPr>
            <a:r>
              <a:rPr lang="en-US" sz="3200" dirty="0">
                <a:solidFill>
                  <a:srgbClr val="2A201B"/>
                </a:solidFill>
                <a:latin typeface="Jost"/>
                <a:ea typeface="Jost"/>
                <a:cs typeface="Jost"/>
              </a:rPr>
              <a:t>That means VIP tonight costs what Standard costs next time.</a:t>
            </a:r>
            <a:endParaRPr lang="en-US" sz="3200"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Want to split it up? Klarna and Afterpay are available at checkout.</a:t>
            </a:r>
            <a:endParaRPr lang="en-US" sz="6200" dirty="0"/>
          </a:p>
          <a:p>
            <a:pPr algn="l" indent="0" marL="0">
              <a:spcAft>
                <a:spcPts val="1900"/>
              </a:spcAft>
              <a:buNone/>
            </a:pPr>
            <a:r>
              <a:rPr lang="en-US" sz="5400" dirty="0">
                <a:solidFill>
                  <a:srgbClr val="2A201B"/>
                </a:solidFill>
                <a:latin typeface="Jost"/>
                <a:ea typeface="Jost"/>
                <a:cs typeface="Jost"/>
              </a:rPr>
              <a:t>Just tap "More payment options."</a:t>
            </a:r>
            <a:endParaRPr lang="en-US" sz="5400" dirty="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5029200"/>
          </a:xfrm>
          <a:prstGeom prst="rect">
            <a:avLst/>
          </a:prstGeom>
          <a:noFill/>
          <a:ln/>
        </p:spPr>
        <p:txBody>
          <a:bodyPr wrap="square" lIns="0" tIns="0" rIns="0" bIns="0" rtlCol="0" anchor="ctr"/>
          <a:lstStyle/>
          <a:p>
            <a:pPr algn="l" indent="0" marL="0">
              <a:spcAft>
                <a:spcPts val="2300"/>
              </a:spcAft>
              <a:buNone/>
            </a:pPr>
            <a:r>
              <a:rPr lang="en-US" sz="7600" b="1" dirty="0">
                <a:solidFill>
                  <a:srgbClr val="2A201B"/>
                </a:solidFill>
                <a:latin typeface="Cormorant Garamond"/>
                <a:ea typeface="Cormorant Garamond"/>
                <a:cs typeface="Cormorant Garamond"/>
              </a:rPr>
              <a:t>Join the founding cohort.</a:t>
            </a:r>
            <a:endParaRPr lang="en-US" sz="7600" dirty="0"/>
          </a:p>
          <a:p>
            <a:pPr algn="l" indent="0" marL="0">
              <a:spcAft>
                <a:spcPts val="2300"/>
              </a:spcAft>
              <a:buNone/>
            </a:pPr>
            <a:r>
              <a:rPr lang="en-US" sz="6600" dirty="0">
                <a:solidFill>
                  <a:srgbClr val="2A201B"/>
                </a:solidFill>
                <a:latin typeface="Jost"/>
                <a:ea typeface="Jost"/>
                <a:cs typeface="Jost"/>
              </a:rPr>
              <a:t>The link is in the chat.</a:t>
            </a:r>
            <a:endParaRPr lang="en-US" sz="6600"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219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When you join, you also get 3 bonuses.</a:t>
            </a:r>
            <a:endParaRPr lang="en-US" sz="6000" dirty="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Worried you won't know what to post once we're done?</a:t>
            </a:r>
            <a:endParaRPr lang="en-US" sz="6900"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Bonus #1: 30-Day Content Starter Kit</a:t>
            </a:r>
            <a:endParaRPr lang="en-US" sz="3600" dirty="0"/>
          </a:p>
          <a:p>
            <a:pPr algn="l" indent="0" marL="0">
              <a:spcAft>
                <a:spcPts val="1300"/>
              </a:spcAft>
              <a:buNone/>
            </a:pPr>
            <a:r>
              <a:rPr lang="en-US" sz="3600" dirty="0">
                <a:solidFill>
                  <a:srgbClr val="2A201B"/>
                </a:solidFill>
                <a:latin typeface="Jost"/>
                <a:ea typeface="Jost"/>
                <a:cs typeface="Jost"/>
              </a:rPr>
              <a:t>Content prompts for showing your expertise, building trust, and inviting bookings. Plus a simple planning template.</a:t>
            </a:r>
            <a:endParaRPr lang="en-US" sz="3600" dirty="0"/>
          </a:p>
        </p:txBody>
      </p:sp>
      <p:sp>
        <p:nvSpPr>
          <p:cNvPr id="7" name="Shape 4"/>
          <p:cNvSpPr/>
          <p:nvPr/>
        </p:nvSpPr>
        <p:spPr>
          <a:xfrm>
            <a:off x="6309360" y="548640"/>
            <a:ext cx="5333695" cy="4937760"/>
          </a:xfrm>
          <a:prstGeom prst="rect">
            <a:avLst/>
          </a:prstGeom>
          <a:solidFill>
            <a:srgbClr val="FBE6EB"/>
          </a:solidFill>
          <a:ln w="19050">
            <a:solidFill>
              <a:srgbClr val="D9C4B4"/>
            </a:solidFill>
            <a:prstDash val="dash"/>
          </a:ln>
        </p:spPr>
      </p:sp>
      <p:sp>
        <p:nvSpPr>
          <p:cNvPr id="8" name="Text 5"/>
          <p:cNvSpPr txBox="1"/>
          <p:nvPr/>
        </p:nvSpPr>
        <p:spPr>
          <a:xfrm>
            <a:off x="6583680" y="548640"/>
            <a:ext cx="4785055" cy="49377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Mockup of the 30-Day Content Starter Kit goes here</a:t>
            </a:r>
            <a:endParaRPr lang="en-US" sz="2000" dirty="0"/>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So far:</a:t>
            </a:r>
            <a:endParaRPr lang="en-US" sz="5100" dirty="0"/>
          </a:p>
          <a:p>
            <a:pPr algn="l" indent="0" marL="0">
              <a:spcAft>
                <a:spcPts val="1500"/>
              </a:spcAft>
              <a:buNone/>
            </a:pPr>
            <a:r>
              <a:rPr lang="en-US" sz="4400" dirty="0">
                <a:solidFill>
                  <a:srgbClr val="2A201B"/>
                </a:solidFill>
                <a:latin typeface="Jost"/>
                <a:ea typeface="Jost"/>
                <a:cs typeface="Jost"/>
              </a:rPr>
              <a:t>The Beauty Business Blueprint</a:t>
            </a:r>
            <a:endParaRPr lang="en-US" sz="4400" dirty="0"/>
          </a:p>
          <a:p>
            <a:pPr algn="l" indent="0" marL="0">
              <a:spcAft>
                <a:spcPts val="1500"/>
              </a:spcAft>
              <a:buNone/>
            </a:pPr>
            <a:r>
              <a:rPr lang="en-US" sz="4400" b="1" dirty="0">
                <a:solidFill>
                  <a:srgbClr val="FBF7F1"/>
                </a:solidFill>
                <a:latin typeface="Jost"/>
                <a:ea typeface="Jost"/>
                <a:cs typeface="Jost"/>
              </a:rPr>
              <a:t>Bonus #1: </a:t>
            </a:r>
            <a:pPr algn="l" indent="0" marL="0">
              <a:spcAft>
                <a:spcPts val="1500"/>
              </a:spcAft>
              <a:buNone/>
            </a:pPr>
            <a:r>
              <a:rPr lang="en-US" sz="4400" dirty="0">
                <a:solidFill>
                  <a:srgbClr val="FBF7F1"/>
                </a:solidFill>
                <a:latin typeface="Jost"/>
                <a:ea typeface="Jost"/>
                <a:cs typeface="Jost"/>
              </a:rPr>
              <a:t>30-Day Content Starter Kit</a:t>
            </a:r>
            <a:endParaRPr lang="en-US" sz="4400"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222</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So far:</a:t>
            </a:r>
            <a:endParaRPr lang="en-US" sz="5100" dirty="0"/>
          </a:p>
          <a:p>
            <a:pPr algn="l" indent="0" marL="0">
              <a:spcAft>
                <a:spcPts val="1500"/>
              </a:spcAft>
              <a:buNone/>
            </a:pPr>
            <a:r>
              <a:rPr lang="en-US" sz="4400" dirty="0">
                <a:solidFill>
                  <a:srgbClr val="2A201B"/>
                </a:solidFill>
                <a:latin typeface="Jost"/>
                <a:ea typeface="Jost"/>
                <a:cs typeface="Jost"/>
              </a:rPr>
              <a:t>The Beauty Business Blueprint</a:t>
            </a:r>
            <a:endParaRPr lang="en-US" sz="4400" dirty="0"/>
          </a:p>
          <a:p>
            <a:pPr algn="l" indent="0" marL="0">
              <a:spcAft>
                <a:spcPts val="1500"/>
              </a:spcAft>
              <a:buNone/>
            </a:pPr>
            <a:r>
              <a:rPr lang="en-US" sz="4400" b="1" dirty="0">
                <a:solidFill>
                  <a:srgbClr val="AD5A6E"/>
                </a:solidFill>
                <a:latin typeface="Jost"/>
                <a:ea typeface="Jost"/>
                <a:cs typeface="Jost"/>
              </a:rPr>
              <a:t>Bonus #1: </a:t>
            </a:r>
            <a:pPr algn="l" indent="0" marL="0">
              <a:spcAft>
                <a:spcPts val="1500"/>
              </a:spcAft>
              <a:buNone/>
            </a:pPr>
            <a:r>
              <a:rPr lang="en-US" sz="4400" dirty="0">
                <a:solidFill>
                  <a:srgbClr val="2A201B"/>
                </a:solidFill>
                <a:latin typeface="Jost"/>
                <a:ea typeface="Jost"/>
                <a:cs typeface="Jost"/>
              </a:rPr>
              <a:t>30-Day Content Starter Kit</a:t>
            </a:r>
            <a:endParaRPr lang="en-US" sz="4400"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Worried you'll feel salesy asking clients to book, rebook, or come back?</a:t>
            </a:r>
            <a:endParaRPr lang="en-US" sz="6900" dirty="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Bonus #2: Client Booking + Rebooking Script Pack</a:t>
            </a:r>
            <a:endParaRPr lang="en-US" sz="3600" dirty="0"/>
          </a:p>
          <a:p>
            <a:pPr algn="l" indent="0" marL="0">
              <a:spcAft>
                <a:spcPts val="1300"/>
              </a:spcAft>
              <a:buNone/>
            </a:pPr>
            <a:r>
              <a:rPr lang="en-US" sz="3600" dirty="0">
                <a:solidFill>
                  <a:srgbClr val="2A201B"/>
                </a:solidFill>
                <a:latin typeface="Jost"/>
                <a:ea typeface="Jost"/>
                <a:cs typeface="Jost"/>
              </a:rPr>
              <a:t>Copy-and-paste messages for inquiries, booking follow-ups, rebooking, and reconnecting with past clients.</a:t>
            </a:r>
            <a:endParaRPr lang="en-US" sz="3600" dirty="0"/>
          </a:p>
        </p:txBody>
      </p:sp>
      <p:sp>
        <p:nvSpPr>
          <p:cNvPr id="7" name="Shape 4"/>
          <p:cNvSpPr/>
          <p:nvPr/>
        </p:nvSpPr>
        <p:spPr>
          <a:xfrm>
            <a:off x="6309360" y="548640"/>
            <a:ext cx="5333695" cy="4937760"/>
          </a:xfrm>
          <a:prstGeom prst="rect">
            <a:avLst/>
          </a:prstGeom>
          <a:solidFill>
            <a:srgbClr val="FBE6EB"/>
          </a:solidFill>
          <a:ln w="19050">
            <a:solidFill>
              <a:srgbClr val="D9C4B4"/>
            </a:solidFill>
            <a:prstDash val="dash"/>
          </a:ln>
        </p:spPr>
      </p:sp>
      <p:sp>
        <p:nvSpPr>
          <p:cNvPr id="8" name="Text 5"/>
          <p:cNvSpPr txBox="1"/>
          <p:nvPr/>
        </p:nvSpPr>
        <p:spPr>
          <a:xfrm>
            <a:off x="6583680" y="548640"/>
            <a:ext cx="4785055" cy="49377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Mockup of one booking/rebooking script goes here</a:t>
            </a:r>
            <a:endParaRPr lang="en-US" sz="2000"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So far:</a:t>
            </a:r>
            <a:endParaRPr lang="en-US" sz="5100" dirty="0"/>
          </a:p>
          <a:p>
            <a:pPr algn="l" indent="0" marL="0">
              <a:spcAft>
                <a:spcPts val="1500"/>
              </a:spcAft>
              <a:buNone/>
            </a:pPr>
            <a:r>
              <a:rPr lang="en-US" sz="4400" dirty="0">
                <a:solidFill>
                  <a:srgbClr val="2A201B"/>
                </a:solidFill>
                <a:latin typeface="Jost"/>
                <a:ea typeface="Jost"/>
                <a:cs typeface="Jost"/>
              </a:rPr>
              <a:t>The Beauty Business Blueprint</a:t>
            </a:r>
            <a:endParaRPr lang="en-US" sz="4400" dirty="0"/>
          </a:p>
          <a:p>
            <a:pPr algn="l" indent="0" marL="0">
              <a:spcAft>
                <a:spcPts val="1500"/>
              </a:spcAft>
              <a:buNone/>
            </a:pPr>
            <a:r>
              <a:rPr lang="en-US" sz="4400" b="1" dirty="0">
                <a:solidFill>
                  <a:srgbClr val="FBF7F1"/>
                </a:solidFill>
                <a:latin typeface="Jost"/>
                <a:ea typeface="Jost"/>
                <a:cs typeface="Jost"/>
              </a:rPr>
              <a:t>Bonus #1: </a:t>
            </a:r>
            <a:pPr algn="l" indent="0" marL="0">
              <a:spcAft>
                <a:spcPts val="1500"/>
              </a:spcAft>
              <a:buNone/>
            </a:pPr>
            <a:r>
              <a:rPr lang="en-US" sz="4400" dirty="0">
                <a:solidFill>
                  <a:srgbClr val="FBF7F1"/>
                </a:solidFill>
                <a:latin typeface="Jost"/>
                <a:ea typeface="Jost"/>
                <a:cs typeface="Jost"/>
              </a:rPr>
              <a:t>30-Day Content Starter Kit</a:t>
            </a:r>
            <a:endParaRPr lang="en-US" sz="4400" dirty="0"/>
          </a:p>
          <a:p>
            <a:pPr algn="l" indent="0" marL="0">
              <a:spcAft>
                <a:spcPts val="1500"/>
              </a:spcAft>
              <a:buNone/>
            </a:pPr>
            <a:r>
              <a:rPr lang="en-US" sz="4400" b="1" dirty="0">
                <a:solidFill>
                  <a:srgbClr val="FBF7F1"/>
                </a:solidFill>
                <a:latin typeface="Jost"/>
                <a:ea typeface="Jost"/>
                <a:cs typeface="Jost"/>
              </a:rPr>
              <a:t>Bonus #2: </a:t>
            </a:r>
            <a:pPr algn="l" indent="0" marL="0">
              <a:spcAft>
                <a:spcPts val="1500"/>
              </a:spcAft>
              <a:buNone/>
            </a:pPr>
            <a:r>
              <a:rPr lang="en-US" sz="4400" dirty="0">
                <a:solidFill>
                  <a:srgbClr val="FBF7F1"/>
                </a:solidFill>
                <a:latin typeface="Jost"/>
                <a:ea typeface="Jost"/>
                <a:cs typeface="Jost"/>
              </a:rPr>
              <a:t>Client Booking + Rebooking Script Pack</a:t>
            </a:r>
            <a:endParaRPr lang="en-US" sz="4400" dirty="0"/>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So far:</a:t>
            </a:r>
            <a:endParaRPr lang="en-US" sz="5100" dirty="0"/>
          </a:p>
          <a:p>
            <a:pPr algn="l" indent="0" marL="0">
              <a:spcAft>
                <a:spcPts val="1500"/>
              </a:spcAft>
              <a:buNone/>
            </a:pPr>
            <a:r>
              <a:rPr lang="en-US" sz="4400" dirty="0">
                <a:solidFill>
                  <a:srgbClr val="2A201B"/>
                </a:solidFill>
                <a:latin typeface="Jost"/>
                <a:ea typeface="Jost"/>
                <a:cs typeface="Jost"/>
              </a:rPr>
              <a:t>The Beauty Business Blueprint</a:t>
            </a:r>
            <a:endParaRPr lang="en-US" sz="4400" dirty="0"/>
          </a:p>
          <a:p>
            <a:pPr algn="l" indent="0" marL="0">
              <a:spcAft>
                <a:spcPts val="1500"/>
              </a:spcAft>
              <a:buNone/>
            </a:pPr>
            <a:r>
              <a:rPr lang="en-US" sz="4400" b="1" dirty="0">
                <a:solidFill>
                  <a:srgbClr val="AD5A6E"/>
                </a:solidFill>
                <a:latin typeface="Jost"/>
                <a:ea typeface="Jost"/>
                <a:cs typeface="Jost"/>
              </a:rPr>
              <a:t>Bonus #1: </a:t>
            </a:r>
            <a:pPr algn="l" indent="0" marL="0">
              <a:spcAft>
                <a:spcPts val="1500"/>
              </a:spcAft>
              <a:buNone/>
            </a:pPr>
            <a:r>
              <a:rPr lang="en-US" sz="4400" dirty="0">
                <a:solidFill>
                  <a:srgbClr val="2A201B"/>
                </a:solidFill>
                <a:latin typeface="Jost"/>
                <a:ea typeface="Jost"/>
                <a:cs typeface="Jost"/>
              </a:rPr>
              <a:t>30-Day Content Starter Kit</a:t>
            </a:r>
            <a:endParaRPr lang="en-US" sz="4400" dirty="0"/>
          </a:p>
          <a:p>
            <a:pPr algn="l" indent="0" marL="0">
              <a:spcAft>
                <a:spcPts val="1500"/>
              </a:spcAft>
              <a:buNone/>
            </a:pPr>
            <a:r>
              <a:rPr lang="en-US" sz="4400" b="1" dirty="0">
                <a:solidFill>
                  <a:srgbClr val="FBF7F1"/>
                </a:solidFill>
                <a:latin typeface="Jost"/>
                <a:ea typeface="Jost"/>
                <a:cs typeface="Jost"/>
              </a:rPr>
              <a:t>Bonus #2: </a:t>
            </a:r>
            <a:pPr algn="l" indent="0" marL="0">
              <a:spcAft>
                <a:spcPts val="1500"/>
              </a:spcAft>
              <a:buNone/>
            </a:pPr>
            <a:r>
              <a:rPr lang="en-US" sz="4400" dirty="0">
                <a:solidFill>
                  <a:srgbClr val="FBF7F1"/>
                </a:solidFill>
                <a:latin typeface="Jost"/>
                <a:ea typeface="Jost"/>
                <a:cs typeface="Jost"/>
              </a:rPr>
              <a:t>Client Booking + Rebooking Script Pack</a:t>
            </a:r>
            <a:endParaRPr lang="en-US" sz="4400" dirty="0"/>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225</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So far:</a:t>
            </a:r>
            <a:endParaRPr lang="en-US" sz="5100" dirty="0"/>
          </a:p>
          <a:p>
            <a:pPr algn="l" indent="0" marL="0">
              <a:spcAft>
                <a:spcPts val="1500"/>
              </a:spcAft>
              <a:buNone/>
            </a:pPr>
            <a:r>
              <a:rPr lang="en-US" sz="4400" dirty="0">
                <a:solidFill>
                  <a:srgbClr val="2A201B"/>
                </a:solidFill>
                <a:latin typeface="Jost"/>
                <a:ea typeface="Jost"/>
                <a:cs typeface="Jost"/>
              </a:rPr>
              <a:t>The Beauty Business Blueprint</a:t>
            </a:r>
            <a:endParaRPr lang="en-US" sz="4400" dirty="0"/>
          </a:p>
          <a:p>
            <a:pPr algn="l" indent="0" marL="0">
              <a:spcAft>
                <a:spcPts val="1500"/>
              </a:spcAft>
              <a:buNone/>
            </a:pPr>
            <a:r>
              <a:rPr lang="en-US" sz="4400" b="1" dirty="0">
                <a:solidFill>
                  <a:srgbClr val="AD5A6E"/>
                </a:solidFill>
                <a:latin typeface="Jost"/>
                <a:ea typeface="Jost"/>
                <a:cs typeface="Jost"/>
              </a:rPr>
              <a:t>Bonus #1: </a:t>
            </a:r>
            <a:pPr algn="l" indent="0" marL="0">
              <a:spcAft>
                <a:spcPts val="1500"/>
              </a:spcAft>
              <a:buNone/>
            </a:pPr>
            <a:r>
              <a:rPr lang="en-US" sz="4400" dirty="0">
                <a:solidFill>
                  <a:srgbClr val="2A201B"/>
                </a:solidFill>
                <a:latin typeface="Jost"/>
                <a:ea typeface="Jost"/>
                <a:cs typeface="Jost"/>
              </a:rPr>
              <a:t>30-Day Content Starter Kit</a:t>
            </a:r>
            <a:endParaRPr lang="en-US" sz="4400" dirty="0"/>
          </a:p>
          <a:p>
            <a:pPr algn="l" indent="0" marL="0">
              <a:spcAft>
                <a:spcPts val="1500"/>
              </a:spcAft>
              <a:buNone/>
            </a:pPr>
            <a:r>
              <a:rPr lang="en-US" sz="4400" b="1" dirty="0">
                <a:solidFill>
                  <a:srgbClr val="AD5A6E"/>
                </a:solidFill>
                <a:latin typeface="Jost"/>
                <a:ea typeface="Jost"/>
                <a:cs typeface="Jost"/>
              </a:rPr>
              <a:t>Bonus #2: </a:t>
            </a:r>
            <a:pPr algn="l" indent="0" marL="0">
              <a:spcAft>
                <a:spcPts val="1500"/>
              </a:spcAft>
              <a:buNone/>
            </a:pPr>
            <a:r>
              <a:rPr lang="en-US" sz="4400" dirty="0">
                <a:solidFill>
                  <a:srgbClr val="2A201B"/>
                </a:solidFill>
                <a:latin typeface="Jost"/>
                <a:ea typeface="Jost"/>
                <a:cs typeface="Jost"/>
              </a:rPr>
              <a:t>Client Booking + Rebooking Script Pack</a:t>
            </a:r>
            <a:endParaRPr lang="en-US" sz="4400" dirty="0"/>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Worried your page doesn't look like someone worth premium prices?</a:t>
            </a:r>
            <a:endParaRPr lang="en-US" sz="6900" dirty="0"/>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Bonus #3: 5 Instagram Reel Covers, customized to your business</a:t>
            </a:r>
            <a:endParaRPr lang="en-US" sz="3600" dirty="0"/>
          </a:p>
          <a:p>
            <a:pPr algn="l" indent="0" marL="0">
              <a:spcAft>
                <a:spcPts val="1300"/>
              </a:spcAft>
              <a:buNone/>
            </a:pPr>
            <a:r>
              <a:rPr lang="en-US" sz="3600" dirty="0">
                <a:solidFill>
                  <a:srgbClr val="2A201B"/>
                </a:solidFill>
                <a:latin typeface="Jost"/>
                <a:ea typeface="Jost"/>
                <a:cs typeface="Jost"/>
              </a:rPr>
              <a:t>A mini revamp for your page. Editable in Canva, so you can reuse them.</a:t>
            </a:r>
            <a:endParaRPr lang="en-US" sz="3600" dirty="0"/>
          </a:p>
        </p:txBody>
      </p:sp>
      <p:pic>
        <p:nvPicPr>
          <p:cNvPr id="7" name="Image 0" descr="/home/claude/webinar/deck-img/reel-cover-before-after-highlights.jpg">    </p:cNvPr>
          <p:cNvPicPr>
            <a:picLocks noChangeAspect="1"/>
          </p:cNvPicPr>
          <p:nvPr/>
        </p:nvPicPr>
        <p:blipFill>
          <a:blip r:embed="rId1"/>
          <a:stretch>
            <a:fillRect/>
          </a:stretch>
        </p:blipFill>
        <p:spPr>
          <a:xfrm>
            <a:off x="6309360" y="1096901"/>
            <a:ext cx="5333695" cy="3932678"/>
          </a:xfrm>
          <a:prstGeom prst="rect">
            <a:avLst/>
          </a:prstGeom>
        </p:spPr>
      </p:pic>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228</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400"/>
              </a:spcAft>
              <a:buNone/>
            </a:pPr>
            <a:r>
              <a:rPr lang="en-US" sz="4600" b="1" dirty="0">
                <a:solidFill>
                  <a:srgbClr val="2A201B"/>
                </a:solidFill>
                <a:latin typeface="Cormorant Garamond"/>
                <a:ea typeface="Cormorant Garamond"/>
                <a:cs typeface="Cormorant Garamond"/>
              </a:rPr>
              <a:t>Same photo. Now it stops the scroll.</a:t>
            </a:r>
            <a:endParaRPr lang="en-US" sz="4600" dirty="0"/>
          </a:p>
        </p:txBody>
      </p:sp>
      <p:pic>
        <p:nvPicPr>
          <p:cNvPr id="5" name="Image 0" descr="/home/claude/webinar/deck-img/reel-cover-before-after-sew-in.jpg">    </p:cNvPr>
          <p:cNvPicPr>
            <a:picLocks noChangeAspect="1"/>
          </p:cNvPicPr>
          <p:nvPr/>
        </p:nvPicPr>
        <p:blipFill>
          <a:blip r:embed="rId1"/>
          <a:stretch>
            <a:fillRect/>
          </a:stretch>
        </p:blipFill>
        <p:spPr>
          <a:xfrm>
            <a:off x="6309360" y="984485"/>
            <a:ext cx="5333695" cy="4843310"/>
          </a:xfrm>
          <a:prstGeom prst="rect">
            <a:avLst/>
          </a:prstGeom>
        </p:spPr>
      </p:pic>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FBF7F1"/>
                </a:solidFill>
                <a:latin typeface="Jost"/>
                <a:ea typeface="Jost"/>
                <a:cs typeface="Jost"/>
              </a:rPr>
              <a:t>Every call recorded</a:t>
            </a:r>
            <a:endParaRPr lang="en-US" sz="2400" dirty="0"/>
          </a:p>
          <a:p>
            <a:pPr algn="l" indent="0" marL="0">
              <a:spcAft>
                <a:spcPts val="800"/>
              </a:spcAft>
              <a:buNone/>
            </a:pPr>
            <a:r>
              <a:rPr lang="en-US" sz="2400" dirty="0">
                <a:solidFill>
                  <a:srgbClr val="FBF7F1"/>
                </a:solidFill>
                <a:latin typeface="Jost"/>
                <a:ea typeface="Jost"/>
                <a:cs typeface="Jost"/>
              </a:rPr>
              <a:t>Private Telegram group</a:t>
            </a:r>
            <a:endParaRPr lang="en-US" sz="2400" dirty="0"/>
          </a:p>
          <a:p>
            <a:pPr algn="l" indent="0" marL="0">
              <a:spcAft>
                <a:spcPts val="800"/>
              </a:spcAft>
              <a:buNone/>
            </a:pPr>
            <a:r>
              <a:rPr lang="en-US" sz="2400" dirty="0">
                <a:solidFill>
                  <a:srgbClr val="FBF7F1"/>
                </a:solidFill>
                <a:latin typeface="Jost"/>
                <a:ea typeface="Jost"/>
                <a:cs typeface="Jost"/>
              </a:rPr>
              <a:t>Your 60-day action plan</a:t>
            </a:r>
            <a:endParaRPr lang="en-US" sz="2400" dirty="0"/>
          </a:p>
          <a:p>
            <a:pPr algn="l" indent="0" marL="0">
              <a:spcAft>
                <a:spcPts val="800"/>
              </a:spcAft>
              <a:buNone/>
            </a:pPr>
            <a:r>
              <a:rPr lang="en-US" sz="2400" dirty="0">
                <a:solidFill>
                  <a:srgbClr val="FBF7F1"/>
                </a:solidFill>
                <a:latin typeface="Jost"/>
                <a:ea typeface="Jost"/>
                <a:cs typeface="Jost"/>
              </a:rPr>
              <a:t>Your 90-day growth plan</a:t>
            </a:r>
            <a:endParaRPr lang="en-US" sz="2400" dirty="0"/>
          </a:p>
          <a:p>
            <a:pPr algn="l" indent="0" marL="0">
              <a:spcAft>
                <a:spcPts val="800"/>
              </a:spcAft>
              <a:buNone/>
            </a:pPr>
            <a:r>
              <a:rPr lang="en-US" sz="2400" b="1" dirty="0">
                <a:solidFill>
                  <a:srgbClr val="FBF7F1"/>
                </a:solidFill>
                <a:latin typeface="Jost"/>
                <a:ea typeface="Jost"/>
                <a:cs typeface="Jost"/>
              </a:rPr>
              <a:t>Bonus #1: </a:t>
            </a:r>
            <a:pPr algn="l" indent="0" marL="0">
              <a:spcAft>
                <a:spcPts val="800"/>
              </a:spcAft>
              <a:buNone/>
            </a:pPr>
            <a:r>
              <a:rPr lang="en-US" sz="2400" dirty="0">
                <a:solidFill>
                  <a:srgbClr val="FBF7F1"/>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FBF7F1"/>
                </a:solidFill>
                <a:latin typeface="Jost"/>
                <a:ea typeface="Jost"/>
                <a:cs typeface="Jost"/>
              </a:rPr>
              <a:t>Private Telegram group</a:t>
            </a:r>
            <a:endParaRPr lang="en-US" sz="2400" dirty="0"/>
          </a:p>
          <a:p>
            <a:pPr algn="l" indent="0" marL="0">
              <a:spcAft>
                <a:spcPts val="800"/>
              </a:spcAft>
              <a:buNone/>
            </a:pPr>
            <a:r>
              <a:rPr lang="en-US" sz="2400" dirty="0">
                <a:solidFill>
                  <a:srgbClr val="FBF7F1"/>
                </a:solidFill>
                <a:latin typeface="Jost"/>
                <a:ea typeface="Jost"/>
                <a:cs typeface="Jost"/>
              </a:rPr>
              <a:t>Your 60-day action plan</a:t>
            </a:r>
            <a:endParaRPr lang="en-US" sz="2400" dirty="0"/>
          </a:p>
          <a:p>
            <a:pPr algn="l" indent="0" marL="0">
              <a:spcAft>
                <a:spcPts val="800"/>
              </a:spcAft>
              <a:buNone/>
            </a:pPr>
            <a:r>
              <a:rPr lang="en-US" sz="2400" dirty="0">
                <a:solidFill>
                  <a:srgbClr val="FBF7F1"/>
                </a:solidFill>
                <a:latin typeface="Jost"/>
                <a:ea typeface="Jost"/>
                <a:cs typeface="Jost"/>
              </a:rPr>
              <a:t>Your 90-day growth plan</a:t>
            </a:r>
            <a:endParaRPr lang="en-US" sz="2400" dirty="0"/>
          </a:p>
          <a:p>
            <a:pPr algn="l" indent="0" marL="0">
              <a:spcAft>
                <a:spcPts val="800"/>
              </a:spcAft>
              <a:buNone/>
            </a:pPr>
            <a:r>
              <a:rPr lang="en-US" sz="2400" b="1" dirty="0">
                <a:solidFill>
                  <a:srgbClr val="FBF7F1"/>
                </a:solidFill>
                <a:latin typeface="Jost"/>
                <a:ea typeface="Jost"/>
                <a:cs typeface="Jost"/>
              </a:rPr>
              <a:t>Bonus #1: </a:t>
            </a:r>
            <a:pPr algn="l" indent="0" marL="0">
              <a:spcAft>
                <a:spcPts val="800"/>
              </a:spcAft>
              <a:buNone/>
            </a:pPr>
            <a:r>
              <a:rPr lang="en-US" sz="2400" dirty="0">
                <a:solidFill>
                  <a:srgbClr val="FBF7F1"/>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FBF7F1"/>
                </a:solidFill>
                <a:latin typeface="Jost"/>
                <a:ea typeface="Jost"/>
                <a:cs typeface="Jost"/>
              </a:rPr>
              <a:t>Your 60-day action plan</a:t>
            </a:r>
            <a:endParaRPr lang="en-US" sz="2400" dirty="0"/>
          </a:p>
          <a:p>
            <a:pPr algn="l" indent="0" marL="0">
              <a:spcAft>
                <a:spcPts val="800"/>
              </a:spcAft>
              <a:buNone/>
            </a:pPr>
            <a:r>
              <a:rPr lang="en-US" sz="2400" dirty="0">
                <a:solidFill>
                  <a:srgbClr val="FBF7F1"/>
                </a:solidFill>
                <a:latin typeface="Jost"/>
                <a:ea typeface="Jost"/>
                <a:cs typeface="Jost"/>
              </a:rPr>
              <a:t>Your 90-day growth plan</a:t>
            </a:r>
            <a:endParaRPr lang="en-US" sz="2400" dirty="0"/>
          </a:p>
          <a:p>
            <a:pPr algn="l" indent="0" marL="0">
              <a:spcAft>
                <a:spcPts val="800"/>
              </a:spcAft>
              <a:buNone/>
            </a:pPr>
            <a:r>
              <a:rPr lang="en-US" sz="2400" b="1" dirty="0">
                <a:solidFill>
                  <a:srgbClr val="FBF7F1"/>
                </a:solidFill>
                <a:latin typeface="Jost"/>
                <a:ea typeface="Jost"/>
                <a:cs typeface="Jost"/>
              </a:rPr>
              <a:t>Bonus #1: </a:t>
            </a:r>
            <a:pPr algn="l" indent="0" marL="0">
              <a:spcAft>
                <a:spcPts val="800"/>
              </a:spcAft>
              <a:buNone/>
            </a:pPr>
            <a:r>
              <a:rPr lang="en-US" sz="2400" dirty="0">
                <a:solidFill>
                  <a:srgbClr val="FBF7F1"/>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2A201B"/>
                </a:solidFill>
                <a:latin typeface="Jost"/>
                <a:ea typeface="Jost"/>
                <a:cs typeface="Jost"/>
              </a:rPr>
              <a:t>Your 60-day action plan</a:t>
            </a:r>
            <a:endParaRPr lang="en-US" sz="2400" dirty="0"/>
          </a:p>
          <a:p>
            <a:pPr algn="l" indent="0" marL="0">
              <a:spcAft>
                <a:spcPts val="800"/>
              </a:spcAft>
              <a:buNone/>
            </a:pPr>
            <a:r>
              <a:rPr lang="en-US" sz="2400" dirty="0">
                <a:solidFill>
                  <a:srgbClr val="FBF7F1"/>
                </a:solidFill>
                <a:latin typeface="Jost"/>
                <a:ea typeface="Jost"/>
                <a:cs typeface="Jost"/>
              </a:rPr>
              <a:t>Your 90-day growth plan</a:t>
            </a:r>
            <a:endParaRPr lang="en-US" sz="2400" dirty="0"/>
          </a:p>
          <a:p>
            <a:pPr algn="l" indent="0" marL="0">
              <a:spcAft>
                <a:spcPts val="800"/>
              </a:spcAft>
              <a:buNone/>
            </a:pPr>
            <a:r>
              <a:rPr lang="en-US" sz="2400" b="1" dirty="0">
                <a:solidFill>
                  <a:srgbClr val="FBF7F1"/>
                </a:solidFill>
                <a:latin typeface="Jost"/>
                <a:ea typeface="Jost"/>
                <a:cs typeface="Jost"/>
              </a:rPr>
              <a:t>Bonus #1: </a:t>
            </a:r>
            <a:pPr algn="l" indent="0" marL="0">
              <a:spcAft>
                <a:spcPts val="800"/>
              </a:spcAft>
              <a:buNone/>
            </a:pPr>
            <a:r>
              <a:rPr lang="en-US" sz="2400" dirty="0">
                <a:solidFill>
                  <a:srgbClr val="FBF7F1"/>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2A201B"/>
                </a:solidFill>
                <a:latin typeface="Jost"/>
                <a:ea typeface="Jost"/>
                <a:cs typeface="Jost"/>
              </a:rPr>
              <a:t>Your 60-day action plan</a:t>
            </a:r>
            <a:endParaRPr lang="en-US" sz="2400" dirty="0"/>
          </a:p>
          <a:p>
            <a:pPr algn="l" indent="0" marL="0">
              <a:spcAft>
                <a:spcPts val="800"/>
              </a:spcAft>
              <a:buNone/>
            </a:pPr>
            <a:r>
              <a:rPr lang="en-US" sz="2400" dirty="0">
                <a:solidFill>
                  <a:srgbClr val="2A201B"/>
                </a:solidFill>
                <a:latin typeface="Jost"/>
                <a:ea typeface="Jost"/>
                <a:cs typeface="Jost"/>
              </a:rPr>
              <a:t>Your 90-day growth plan</a:t>
            </a:r>
            <a:endParaRPr lang="en-US" sz="2400" dirty="0"/>
          </a:p>
          <a:p>
            <a:pPr algn="l" indent="0" marL="0">
              <a:spcAft>
                <a:spcPts val="800"/>
              </a:spcAft>
              <a:buNone/>
            </a:pPr>
            <a:r>
              <a:rPr lang="en-US" sz="2400" b="1" dirty="0">
                <a:solidFill>
                  <a:srgbClr val="FBF7F1"/>
                </a:solidFill>
                <a:latin typeface="Jost"/>
                <a:ea typeface="Jost"/>
                <a:cs typeface="Jost"/>
              </a:rPr>
              <a:t>Bonus #1: </a:t>
            </a:r>
            <a:pPr algn="l" indent="0" marL="0">
              <a:spcAft>
                <a:spcPts val="800"/>
              </a:spcAft>
              <a:buNone/>
            </a:pPr>
            <a:r>
              <a:rPr lang="en-US" sz="2400" dirty="0">
                <a:solidFill>
                  <a:srgbClr val="FBF7F1"/>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2A201B"/>
                </a:solidFill>
                <a:latin typeface="Jost"/>
                <a:ea typeface="Jost"/>
                <a:cs typeface="Jost"/>
              </a:rPr>
              <a:t>Your 60-day action plan</a:t>
            </a:r>
            <a:endParaRPr lang="en-US" sz="2400" dirty="0"/>
          </a:p>
          <a:p>
            <a:pPr algn="l" indent="0" marL="0">
              <a:spcAft>
                <a:spcPts val="800"/>
              </a:spcAft>
              <a:buNone/>
            </a:pPr>
            <a:r>
              <a:rPr lang="en-US" sz="2400" dirty="0">
                <a:solidFill>
                  <a:srgbClr val="2A201B"/>
                </a:solidFill>
                <a:latin typeface="Jost"/>
                <a:ea typeface="Jost"/>
                <a:cs typeface="Jost"/>
              </a:rPr>
              <a:t>Your 90-day growth plan</a:t>
            </a:r>
            <a:endParaRPr lang="en-US" sz="2400" dirty="0"/>
          </a:p>
          <a:p>
            <a:pPr algn="l" indent="0" marL="0">
              <a:spcAft>
                <a:spcPts val="800"/>
              </a:spcAft>
              <a:buNone/>
            </a:pPr>
            <a:r>
              <a:rPr lang="en-US" sz="2400" b="1" dirty="0">
                <a:solidFill>
                  <a:srgbClr val="AD5A6E"/>
                </a:solidFill>
                <a:latin typeface="Jost"/>
                <a:ea typeface="Jost"/>
                <a:cs typeface="Jost"/>
              </a:rPr>
              <a:t>Bonus #1: </a:t>
            </a:r>
            <a:pPr algn="l" indent="0" marL="0">
              <a:spcAft>
                <a:spcPts val="800"/>
              </a:spcAft>
              <a:buNone/>
            </a:pPr>
            <a:r>
              <a:rPr lang="en-US" sz="2400" dirty="0">
                <a:solidFill>
                  <a:srgbClr val="2A201B"/>
                </a:solidFill>
                <a:latin typeface="Jost"/>
                <a:ea typeface="Jost"/>
                <a:cs typeface="Jost"/>
              </a:rPr>
              <a:t>30-Day Content Starter Kit</a:t>
            </a:r>
            <a:endParaRPr lang="en-US" sz="2400" dirty="0"/>
          </a:p>
          <a:p>
            <a:pPr algn="l" indent="0" marL="0">
              <a:spcAft>
                <a:spcPts val="800"/>
              </a:spcAft>
              <a:buNone/>
            </a:pPr>
            <a:r>
              <a:rPr lang="en-US" sz="2400" b="1" dirty="0">
                <a:solidFill>
                  <a:srgbClr val="FBF7F1"/>
                </a:solidFill>
                <a:latin typeface="Jost"/>
                <a:ea typeface="Jost"/>
                <a:cs typeface="Jost"/>
              </a:rPr>
              <a:t>Bonus #2: </a:t>
            </a:r>
            <a:pPr algn="l" indent="0" marL="0">
              <a:spcAft>
                <a:spcPts val="800"/>
              </a:spcAft>
              <a:buNone/>
            </a:pPr>
            <a:r>
              <a:rPr lang="en-US" sz="2400" dirty="0">
                <a:solidFill>
                  <a:srgbClr val="FBF7F1"/>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2A201B"/>
                </a:solidFill>
                <a:latin typeface="Jost"/>
                <a:ea typeface="Jost"/>
                <a:cs typeface="Jost"/>
              </a:rPr>
              <a:t>Your 60-day action plan</a:t>
            </a:r>
            <a:endParaRPr lang="en-US" sz="2400" dirty="0"/>
          </a:p>
          <a:p>
            <a:pPr algn="l" indent="0" marL="0">
              <a:spcAft>
                <a:spcPts val="800"/>
              </a:spcAft>
              <a:buNone/>
            </a:pPr>
            <a:r>
              <a:rPr lang="en-US" sz="2400" dirty="0">
                <a:solidFill>
                  <a:srgbClr val="2A201B"/>
                </a:solidFill>
                <a:latin typeface="Jost"/>
                <a:ea typeface="Jost"/>
                <a:cs typeface="Jost"/>
              </a:rPr>
              <a:t>Your 90-day growth plan</a:t>
            </a:r>
            <a:endParaRPr lang="en-US" sz="2400" dirty="0"/>
          </a:p>
          <a:p>
            <a:pPr algn="l" indent="0" marL="0">
              <a:spcAft>
                <a:spcPts val="800"/>
              </a:spcAft>
              <a:buNone/>
            </a:pPr>
            <a:r>
              <a:rPr lang="en-US" sz="2400" b="1" dirty="0">
                <a:solidFill>
                  <a:srgbClr val="AD5A6E"/>
                </a:solidFill>
                <a:latin typeface="Jost"/>
                <a:ea typeface="Jost"/>
                <a:cs typeface="Jost"/>
              </a:rPr>
              <a:t>Bonus #1: </a:t>
            </a:r>
            <a:pPr algn="l" indent="0" marL="0">
              <a:spcAft>
                <a:spcPts val="800"/>
              </a:spcAft>
              <a:buNone/>
            </a:pPr>
            <a:r>
              <a:rPr lang="en-US" sz="2400" dirty="0">
                <a:solidFill>
                  <a:srgbClr val="2A201B"/>
                </a:solidFill>
                <a:latin typeface="Jost"/>
                <a:ea typeface="Jost"/>
                <a:cs typeface="Jost"/>
              </a:rPr>
              <a:t>30-Day Content Starter Kit</a:t>
            </a:r>
            <a:endParaRPr lang="en-US" sz="2400" dirty="0"/>
          </a:p>
          <a:p>
            <a:pPr algn="l" indent="0" marL="0">
              <a:spcAft>
                <a:spcPts val="800"/>
              </a:spcAft>
              <a:buNone/>
            </a:pPr>
            <a:r>
              <a:rPr lang="en-US" sz="2400" b="1" dirty="0">
                <a:solidFill>
                  <a:srgbClr val="AD5A6E"/>
                </a:solidFill>
                <a:latin typeface="Jost"/>
                <a:ea typeface="Jost"/>
                <a:cs typeface="Jost"/>
              </a:rPr>
              <a:t>Bonus #2: </a:t>
            </a:r>
            <a:pPr algn="l" indent="0" marL="0">
              <a:spcAft>
                <a:spcPts val="800"/>
              </a:spcAft>
              <a:buNone/>
            </a:pPr>
            <a:r>
              <a:rPr lang="en-US" sz="2400" dirty="0">
                <a:solidFill>
                  <a:srgbClr val="2A201B"/>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FBF7F1"/>
                </a:solidFill>
                <a:latin typeface="Jost"/>
                <a:ea typeface="Jost"/>
                <a:cs typeface="Jost"/>
              </a:rPr>
              <a:t>Bonus #3: </a:t>
            </a:r>
            <a:pPr algn="l" indent="0" marL="0">
              <a:spcAft>
                <a:spcPts val="800"/>
              </a:spcAft>
              <a:buNone/>
            </a:pPr>
            <a:r>
              <a:rPr lang="en-US" sz="2400" dirty="0">
                <a:solidFill>
                  <a:srgbClr val="FBF7F1"/>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$1,497 after this cohort. Standard tonight: $997.</a:t>
            </a:r>
            <a:endParaRPr lang="en-US" sz="3000"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229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800"/>
              </a:spcAft>
              <a:buNone/>
            </a:pPr>
            <a:r>
              <a:rPr lang="en-US" sz="2400" b="1" dirty="0">
                <a:solidFill>
                  <a:srgbClr val="2A201B"/>
                </a:solidFill>
                <a:latin typeface="Jost"/>
                <a:ea typeface="Jost"/>
                <a:cs typeface="Jost"/>
              </a:rPr>
              <a:t>Everything you get:</a:t>
            </a:r>
            <a:endParaRPr lang="en-US" sz="2400" dirty="0"/>
          </a:p>
          <a:p>
            <a:pPr algn="l" indent="0" marL="0">
              <a:spcAft>
                <a:spcPts val="800"/>
              </a:spcAft>
              <a:buNone/>
            </a:pPr>
            <a:r>
              <a:rPr lang="en-US" sz="2400" dirty="0">
                <a:solidFill>
                  <a:srgbClr val="2A201B"/>
                </a:solidFill>
                <a:latin typeface="Jost"/>
                <a:ea typeface="Jost"/>
                <a:cs typeface="Jost"/>
              </a:rPr>
              <a:t>8 live 90-minute calls with me</a:t>
            </a:r>
            <a:endParaRPr lang="en-US" sz="2400" dirty="0"/>
          </a:p>
          <a:p>
            <a:pPr algn="l" indent="0" marL="0">
              <a:spcAft>
                <a:spcPts val="800"/>
              </a:spcAft>
              <a:buNone/>
            </a:pPr>
            <a:r>
              <a:rPr lang="en-US" sz="2400" dirty="0">
                <a:solidFill>
                  <a:srgbClr val="2A201B"/>
                </a:solidFill>
                <a:latin typeface="Jost"/>
                <a:ea typeface="Jost"/>
                <a:cs typeface="Jost"/>
              </a:rPr>
              <a:t>Every call recorded</a:t>
            </a:r>
            <a:endParaRPr lang="en-US" sz="2400" dirty="0"/>
          </a:p>
          <a:p>
            <a:pPr algn="l" indent="0" marL="0">
              <a:spcAft>
                <a:spcPts val="800"/>
              </a:spcAft>
              <a:buNone/>
            </a:pPr>
            <a:r>
              <a:rPr lang="en-US" sz="2400" dirty="0">
                <a:solidFill>
                  <a:srgbClr val="2A201B"/>
                </a:solidFill>
                <a:latin typeface="Jost"/>
                <a:ea typeface="Jost"/>
                <a:cs typeface="Jost"/>
              </a:rPr>
              <a:t>Private Telegram group</a:t>
            </a:r>
            <a:endParaRPr lang="en-US" sz="2400" dirty="0"/>
          </a:p>
          <a:p>
            <a:pPr algn="l" indent="0" marL="0">
              <a:spcAft>
                <a:spcPts val="800"/>
              </a:spcAft>
              <a:buNone/>
            </a:pPr>
            <a:r>
              <a:rPr lang="en-US" sz="2400" dirty="0">
                <a:solidFill>
                  <a:srgbClr val="2A201B"/>
                </a:solidFill>
                <a:latin typeface="Jost"/>
                <a:ea typeface="Jost"/>
                <a:cs typeface="Jost"/>
              </a:rPr>
              <a:t>Your 60-day action plan</a:t>
            </a:r>
            <a:endParaRPr lang="en-US" sz="2400" dirty="0"/>
          </a:p>
          <a:p>
            <a:pPr algn="l" indent="0" marL="0">
              <a:spcAft>
                <a:spcPts val="800"/>
              </a:spcAft>
              <a:buNone/>
            </a:pPr>
            <a:r>
              <a:rPr lang="en-US" sz="2400" dirty="0">
                <a:solidFill>
                  <a:srgbClr val="2A201B"/>
                </a:solidFill>
                <a:latin typeface="Jost"/>
                <a:ea typeface="Jost"/>
                <a:cs typeface="Jost"/>
              </a:rPr>
              <a:t>Your 90-day growth plan</a:t>
            </a:r>
            <a:endParaRPr lang="en-US" sz="2400" dirty="0"/>
          </a:p>
          <a:p>
            <a:pPr algn="l" indent="0" marL="0">
              <a:spcAft>
                <a:spcPts val="800"/>
              </a:spcAft>
              <a:buNone/>
            </a:pPr>
            <a:r>
              <a:rPr lang="en-US" sz="2400" b="1" dirty="0">
                <a:solidFill>
                  <a:srgbClr val="AD5A6E"/>
                </a:solidFill>
                <a:latin typeface="Jost"/>
                <a:ea typeface="Jost"/>
                <a:cs typeface="Jost"/>
              </a:rPr>
              <a:t>Bonus #1: </a:t>
            </a:r>
            <a:pPr algn="l" indent="0" marL="0">
              <a:spcAft>
                <a:spcPts val="800"/>
              </a:spcAft>
              <a:buNone/>
            </a:pPr>
            <a:r>
              <a:rPr lang="en-US" sz="2400" dirty="0">
                <a:solidFill>
                  <a:srgbClr val="2A201B"/>
                </a:solidFill>
                <a:latin typeface="Jost"/>
                <a:ea typeface="Jost"/>
                <a:cs typeface="Jost"/>
              </a:rPr>
              <a:t>30-Day Content Starter Kit</a:t>
            </a:r>
            <a:endParaRPr lang="en-US" sz="2400" dirty="0"/>
          </a:p>
          <a:p>
            <a:pPr algn="l" indent="0" marL="0">
              <a:spcAft>
                <a:spcPts val="800"/>
              </a:spcAft>
              <a:buNone/>
            </a:pPr>
            <a:r>
              <a:rPr lang="en-US" sz="2400" b="1" dirty="0">
                <a:solidFill>
                  <a:srgbClr val="AD5A6E"/>
                </a:solidFill>
                <a:latin typeface="Jost"/>
                <a:ea typeface="Jost"/>
                <a:cs typeface="Jost"/>
              </a:rPr>
              <a:t>Bonus #2: </a:t>
            </a:r>
            <a:pPr algn="l" indent="0" marL="0">
              <a:spcAft>
                <a:spcPts val="800"/>
              </a:spcAft>
              <a:buNone/>
            </a:pPr>
            <a:r>
              <a:rPr lang="en-US" sz="2400" dirty="0">
                <a:solidFill>
                  <a:srgbClr val="2A201B"/>
                </a:solidFill>
                <a:latin typeface="Jost"/>
                <a:ea typeface="Jost"/>
                <a:cs typeface="Jost"/>
              </a:rPr>
              <a:t>Client Booking + Rebooking Script Pack</a:t>
            </a:r>
            <a:endParaRPr lang="en-US" sz="2400" dirty="0"/>
          </a:p>
          <a:p>
            <a:pPr algn="l" indent="0" marL="0">
              <a:spcAft>
                <a:spcPts val="800"/>
              </a:spcAft>
              <a:buNone/>
            </a:pPr>
            <a:r>
              <a:rPr lang="en-US" sz="2400" b="1" dirty="0">
                <a:solidFill>
                  <a:srgbClr val="AD5A6E"/>
                </a:solidFill>
                <a:latin typeface="Jost"/>
                <a:ea typeface="Jost"/>
                <a:cs typeface="Jost"/>
              </a:rPr>
              <a:t>Bonus #3: </a:t>
            </a:r>
            <a:pPr algn="l" indent="0" marL="0">
              <a:spcAft>
                <a:spcPts val="800"/>
              </a:spcAft>
              <a:buNone/>
            </a:pPr>
            <a:r>
              <a:rPr lang="en-US" sz="2400" dirty="0">
                <a:solidFill>
                  <a:srgbClr val="2A201B"/>
                </a:solidFill>
                <a:latin typeface="Jost"/>
                <a:ea typeface="Jost"/>
                <a:cs typeface="Jost"/>
              </a:rPr>
              <a:t>5 customized Instagram Reel Covers</a:t>
            </a:r>
            <a:endParaRPr lang="en-US" sz="24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AD5A6E"/>
                </a:solidFill>
                <a:latin typeface="Jost"/>
                <a:ea typeface="Jost"/>
                <a:cs typeface="Jost"/>
              </a:rPr>
              <a:t>$1,497 after this cohort. Standard tonight: $997.</a:t>
            </a:r>
            <a:endParaRPr lang="en-US" sz="3000" dirty="0"/>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1100"/>
              </a:spcAft>
              <a:buNone/>
            </a:pPr>
            <a:r>
              <a:rPr lang="en-US" sz="3700" b="1" dirty="0">
                <a:solidFill>
                  <a:srgbClr val="2A201B"/>
                </a:solidFill>
                <a:latin typeface="Cormorant Garamond"/>
                <a:ea typeface="Cormorant Garamond"/>
                <a:cs typeface="Cormorant Garamond"/>
              </a:rPr>
              <a:t>VIP adds:</a:t>
            </a:r>
            <a:endParaRPr lang="en-US" sz="3700" dirty="0"/>
          </a:p>
          <a:p>
            <a:pPr algn="l" indent="0" marL="0">
              <a:spcAft>
                <a:spcPts val="1100"/>
              </a:spcAft>
              <a:buNone/>
            </a:pPr>
            <a:r>
              <a:rPr lang="en-US" sz="3200" dirty="0">
                <a:solidFill>
                  <a:srgbClr val="2A201B"/>
                </a:solidFill>
                <a:latin typeface="Jost"/>
                <a:ea typeface="Jost"/>
                <a:cs typeface="Jost"/>
              </a:rPr>
              <a:t>3 private 1:1 sessions with me</a:t>
            </a:r>
            <a:endParaRPr lang="en-US" sz="3200" dirty="0"/>
          </a:p>
          <a:p>
            <a:pPr algn="l" indent="0" marL="0">
              <a:spcAft>
                <a:spcPts val="1100"/>
              </a:spcAft>
              <a:buNone/>
            </a:pPr>
            <a:r>
              <a:rPr lang="en-US" sz="3200" dirty="0">
                <a:solidFill>
                  <a:srgbClr val="FBF7F1"/>
                </a:solidFill>
                <a:latin typeface="Jost"/>
                <a:ea typeface="Jost"/>
                <a:cs typeface="Jost"/>
              </a:rPr>
              <a:t>Your personal business and Instagram audit</a:t>
            </a:r>
            <a:endParaRPr lang="en-US" sz="3200" dirty="0"/>
          </a:p>
          <a:p>
            <a:pPr algn="l" indent="0" marL="0">
              <a:spcAft>
                <a:spcPts val="1100"/>
              </a:spcAft>
              <a:buNone/>
            </a:pPr>
            <a:r>
              <a:rPr lang="en-US" sz="3200" dirty="0">
                <a:solidFill>
                  <a:srgbClr val="FBF7F1"/>
                </a:solidFill>
                <a:latin typeface="Jost"/>
                <a:ea typeface="Jost"/>
                <a:cs typeface="Jost"/>
              </a:rPr>
              <a:t>Your customized 90-day growth plan</a:t>
            </a:r>
            <a:endParaRPr lang="en-US" sz="32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$1,997 after this cohort. VIP tonight: $1,497.</a:t>
            </a:r>
            <a:endParaRPr lang="en-US" sz="3000" dirty="0"/>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1100"/>
              </a:spcAft>
              <a:buNone/>
            </a:pPr>
            <a:r>
              <a:rPr lang="en-US" sz="3700" b="1" dirty="0">
                <a:solidFill>
                  <a:srgbClr val="2A201B"/>
                </a:solidFill>
                <a:latin typeface="Cormorant Garamond"/>
                <a:ea typeface="Cormorant Garamond"/>
                <a:cs typeface="Cormorant Garamond"/>
              </a:rPr>
              <a:t>VIP adds:</a:t>
            </a:r>
            <a:endParaRPr lang="en-US" sz="3700" dirty="0"/>
          </a:p>
          <a:p>
            <a:pPr algn="l" indent="0" marL="0">
              <a:spcAft>
                <a:spcPts val="1100"/>
              </a:spcAft>
              <a:buNone/>
            </a:pPr>
            <a:r>
              <a:rPr lang="en-US" sz="3200" dirty="0">
                <a:solidFill>
                  <a:srgbClr val="2A201B"/>
                </a:solidFill>
                <a:latin typeface="Jost"/>
                <a:ea typeface="Jost"/>
                <a:cs typeface="Jost"/>
              </a:rPr>
              <a:t>3 private 1:1 sessions with me</a:t>
            </a:r>
            <a:endParaRPr lang="en-US" sz="3200" dirty="0"/>
          </a:p>
          <a:p>
            <a:pPr algn="l" indent="0" marL="0">
              <a:spcAft>
                <a:spcPts val="1100"/>
              </a:spcAft>
              <a:buNone/>
            </a:pPr>
            <a:r>
              <a:rPr lang="en-US" sz="3200" dirty="0">
                <a:solidFill>
                  <a:srgbClr val="2A201B"/>
                </a:solidFill>
                <a:latin typeface="Jost"/>
                <a:ea typeface="Jost"/>
                <a:cs typeface="Jost"/>
              </a:rPr>
              <a:t>Your personal business and Instagram audit</a:t>
            </a:r>
            <a:endParaRPr lang="en-US" sz="3200" dirty="0"/>
          </a:p>
          <a:p>
            <a:pPr algn="l" indent="0" marL="0">
              <a:spcAft>
                <a:spcPts val="1100"/>
              </a:spcAft>
              <a:buNone/>
            </a:pPr>
            <a:r>
              <a:rPr lang="en-US" sz="3200" dirty="0">
                <a:solidFill>
                  <a:srgbClr val="FBF7F1"/>
                </a:solidFill>
                <a:latin typeface="Jost"/>
                <a:ea typeface="Jost"/>
                <a:cs typeface="Jost"/>
              </a:rPr>
              <a:t>Your customized 90-day growth plan</a:t>
            </a:r>
            <a:endParaRPr lang="en-US" sz="32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FBF7F1"/>
                </a:solidFill>
                <a:latin typeface="Jost"/>
                <a:ea typeface="Jost"/>
                <a:cs typeface="Jost"/>
              </a:rPr>
              <a:t>$1,997 after this cohort. VIP tonight: $1,497.</a:t>
            </a:r>
            <a:endParaRPr lang="en-US" sz="3000" dirty="0"/>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457200"/>
            <a:ext cx="10728655" cy="4389120"/>
          </a:xfrm>
          <a:prstGeom prst="rect">
            <a:avLst/>
          </a:prstGeom>
          <a:noFill/>
          <a:ln/>
        </p:spPr>
        <p:txBody>
          <a:bodyPr wrap="square" lIns="0" tIns="0" rIns="0" bIns="0" rtlCol="0" anchor="t"/>
          <a:lstStyle/>
          <a:p>
            <a:pPr algn="l" indent="0" marL="0">
              <a:spcAft>
                <a:spcPts val="1100"/>
              </a:spcAft>
              <a:buNone/>
            </a:pPr>
            <a:r>
              <a:rPr lang="en-US" sz="3700" b="1" dirty="0">
                <a:solidFill>
                  <a:srgbClr val="2A201B"/>
                </a:solidFill>
                <a:latin typeface="Cormorant Garamond"/>
                <a:ea typeface="Cormorant Garamond"/>
                <a:cs typeface="Cormorant Garamond"/>
              </a:rPr>
              <a:t>VIP adds:</a:t>
            </a:r>
            <a:endParaRPr lang="en-US" sz="3700" dirty="0"/>
          </a:p>
          <a:p>
            <a:pPr algn="l" indent="0" marL="0">
              <a:spcAft>
                <a:spcPts val="1100"/>
              </a:spcAft>
              <a:buNone/>
            </a:pPr>
            <a:r>
              <a:rPr lang="en-US" sz="3200" dirty="0">
                <a:solidFill>
                  <a:srgbClr val="2A201B"/>
                </a:solidFill>
                <a:latin typeface="Jost"/>
                <a:ea typeface="Jost"/>
                <a:cs typeface="Jost"/>
              </a:rPr>
              <a:t>3 private 1:1 sessions with me</a:t>
            </a:r>
            <a:endParaRPr lang="en-US" sz="3200" dirty="0"/>
          </a:p>
          <a:p>
            <a:pPr algn="l" indent="0" marL="0">
              <a:spcAft>
                <a:spcPts val="1100"/>
              </a:spcAft>
              <a:buNone/>
            </a:pPr>
            <a:r>
              <a:rPr lang="en-US" sz="3200" dirty="0">
                <a:solidFill>
                  <a:srgbClr val="2A201B"/>
                </a:solidFill>
                <a:latin typeface="Jost"/>
                <a:ea typeface="Jost"/>
                <a:cs typeface="Jost"/>
              </a:rPr>
              <a:t>Your personal business and Instagram audit</a:t>
            </a:r>
            <a:endParaRPr lang="en-US" sz="3200" dirty="0"/>
          </a:p>
          <a:p>
            <a:pPr algn="l" indent="0" marL="0">
              <a:spcAft>
                <a:spcPts val="1100"/>
              </a:spcAft>
              <a:buNone/>
            </a:pPr>
            <a:r>
              <a:rPr lang="en-US" sz="3200" dirty="0">
                <a:solidFill>
                  <a:srgbClr val="2A201B"/>
                </a:solidFill>
                <a:latin typeface="Jost"/>
                <a:ea typeface="Jost"/>
                <a:cs typeface="Jost"/>
              </a:rPr>
              <a:t>Your customized 90-day growth plan</a:t>
            </a:r>
            <a:endParaRPr lang="en-US" sz="3200" dirty="0"/>
          </a:p>
        </p:txBody>
      </p:sp>
      <p:sp>
        <p:nvSpPr>
          <p:cNvPr id="7" name="Text 4"/>
          <p:cNvSpPr txBox="1"/>
          <p:nvPr/>
        </p:nvSpPr>
        <p:spPr>
          <a:xfrm>
            <a:off x="731520" y="4937760"/>
            <a:ext cx="10728655" cy="640080"/>
          </a:xfrm>
          <a:prstGeom prst="rect">
            <a:avLst/>
          </a:prstGeom>
          <a:noFill/>
          <a:ln/>
        </p:spPr>
        <p:txBody>
          <a:bodyPr wrap="square" lIns="0" tIns="0" rIns="0" bIns="0" rtlCol="0" anchor="ctr"/>
          <a:lstStyle/>
          <a:p>
            <a:pPr indent="0" marL="0">
              <a:buNone/>
            </a:pPr>
            <a:r>
              <a:rPr lang="en-US" sz="3000" b="1" dirty="0">
                <a:solidFill>
                  <a:srgbClr val="AD5A6E"/>
                </a:solidFill>
                <a:latin typeface="Jost"/>
                <a:ea typeface="Jost"/>
                <a:cs typeface="Jost"/>
              </a:rPr>
              <a:t>$1,997 after this cohort. VIP tonight: $1,497.</a:t>
            </a:r>
            <a:endParaRPr lang="en-US" sz="3000"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429768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Standard: </a:t>
            </a:r>
            <a:pPr algn="l" indent="0" marL="0">
              <a:spcAft>
                <a:spcPts val="2100"/>
              </a:spcAft>
              <a:buNone/>
            </a:pPr>
            <a:r>
              <a:rPr lang="en-US" sz="6000" b="1" dirty="0">
                <a:solidFill>
                  <a:srgbClr val="AD5A6E"/>
                </a:solidFill>
                <a:latin typeface="Jost"/>
                <a:ea typeface="Jost"/>
                <a:cs typeface="Jost"/>
              </a:rPr>
              <a:t>$997</a:t>
            </a:r>
            <a:endParaRPr lang="en-US" sz="6000" dirty="0"/>
          </a:p>
          <a:p>
            <a:pPr algn="l" indent="0" marL="0">
              <a:spcAft>
                <a:spcPts val="2100"/>
              </a:spcAft>
              <a:buNone/>
            </a:pPr>
            <a:r>
              <a:rPr lang="en-US" sz="6000" dirty="0">
                <a:solidFill>
                  <a:srgbClr val="2A201B"/>
                </a:solidFill>
                <a:latin typeface="Jost"/>
                <a:ea typeface="Jost"/>
                <a:cs typeface="Jost"/>
              </a:rPr>
              <a:t>VIP: </a:t>
            </a:r>
            <a:pPr algn="l" indent="0" marL="0">
              <a:spcAft>
                <a:spcPts val="2100"/>
              </a:spcAft>
              <a:buNone/>
            </a:pPr>
            <a:r>
              <a:rPr lang="en-US" sz="6000" b="1" dirty="0">
                <a:solidFill>
                  <a:srgbClr val="AD5A6E"/>
                </a:solidFill>
                <a:latin typeface="Jost"/>
                <a:ea typeface="Jost"/>
                <a:cs typeface="Jost"/>
              </a:rPr>
              <a:t>$1,497</a:t>
            </a:r>
            <a:endParaRPr lang="en-US" sz="6000" dirty="0"/>
          </a:p>
          <a:p>
            <a:pPr algn="l" indent="0" marL="0">
              <a:spcAft>
                <a:spcPts val="2100"/>
              </a:spcAft>
              <a:buNone/>
            </a:pPr>
            <a:r>
              <a:rPr lang="en-US" sz="6000" dirty="0">
                <a:solidFill>
                  <a:srgbClr val="2A201B"/>
                </a:solidFill>
                <a:latin typeface="Jost"/>
                <a:ea typeface="Jost"/>
                <a:cs typeface="Jost"/>
              </a:rPr>
              <a:t>The link is in the chat.</a:t>
            </a:r>
            <a:endParaRPr lang="en-US" sz="6000" dirty="0"/>
          </a:p>
        </p:txBody>
      </p:sp>
      <p:sp>
        <p:nvSpPr>
          <p:cNvPr id="7" name="Text 4"/>
          <p:cNvSpPr txBox="1"/>
          <p:nvPr/>
        </p:nvSpPr>
        <p:spPr>
          <a:xfrm>
            <a:off x="731520" y="5029200"/>
            <a:ext cx="10728655" cy="548640"/>
          </a:xfrm>
          <a:prstGeom prst="rect">
            <a:avLst/>
          </a:prstGeom>
          <a:noFill/>
          <a:ln/>
        </p:spPr>
        <p:txBody>
          <a:bodyPr wrap="square" lIns="0" tIns="0" rIns="0" bIns="0" rtlCol="0" anchor="ctr"/>
          <a:lstStyle/>
          <a:p>
            <a:pPr indent="0" marL="0">
              <a:buNone/>
            </a:pPr>
            <a:r>
              <a:rPr lang="en-US" sz="2600" b="1" dirty="0">
                <a:solidFill>
                  <a:srgbClr val="AD5A6E"/>
                </a:solidFill>
                <a:latin typeface="Jost"/>
                <a:ea typeface="Jost"/>
                <a:cs typeface="Jost"/>
              </a:rPr>
              <a:t>Founding prices. 15 seats. 5 VIP. Ends Oct 30.</a:t>
            </a:r>
            <a:endParaRPr lang="en-US" sz="2600" dirty="0"/>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Here's exactly how to join.</a:t>
            </a:r>
            <a:endParaRPr lang="en-US" sz="6900"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233</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400"/>
              </a:spcAft>
              <a:buNone/>
            </a:pPr>
            <a:r>
              <a:rPr lang="en-US" sz="4000" b="1" dirty="0">
                <a:solidFill>
                  <a:srgbClr val="2A201B"/>
                </a:solidFill>
                <a:latin typeface="Jost"/>
                <a:ea typeface="Jost"/>
                <a:cs typeface="Jost"/>
              </a:rPr>
              <a:t>Step 1: Click the link in the chat.</a:t>
            </a:r>
            <a:endParaRPr lang="en-US" sz="4000" dirty="0"/>
          </a:p>
          <a:p>
            <a:pPr algn="l" indent="0" marL="0">
              <a:spcAft>
                <a:spcPts val="1400"/>
              </a:spcAft>
              <a:buNone/>
            </a:pPr>
            <a:r>
              <a:rPr lang="en-US" sz="4000" dirty="0">
                <a:solidFill>
                  <a:srgbClr val="2A201B"/>
                </a:solidFill>
                <a:latin typeface="Jost"/>
                <a:ea typeface="Jost"/>
                <a:cs typeface="Jost"/>
              </a:rPr>
              <a:t>Or use the link at the bottom of the screen.</a:t>
            </a:r>
            <a:endParaRPr lang="en-US" sz="4000" dirty="0"/>
          </a:p>
        </p:txBody>
      </p:sp>
      <p:sp>
        <p:nvSpPr>
          <p:cNvPr id="5" name="Shape 2"/>
          <p:cNvSpPr/>
          <p:nvPr/>
        </p:nvSpPr>
        <p:spPr>
          <a:xfrm>
            <a:off x="6309360" y="548640"/>
            <a:ext cx="5333695" cy="5623560"/>
          </a:xfrm>
          <a:prstGeom prst="rect">
            <a:avLst/>
          </a:prstGeom>
          <a:solidFill>
            <a:srgbClr val="FBE6EB"/>
          </a:solidFill>
          <a:ln w="19050">
            <a:solidFill>
              <a:srgbClr val="D9C4B4"/>
            </a:solidFill>
            <a:prstDash val="dash"/>
          </a:ln>
        </p:spPr>
      </p:sp>
      <p:sp>
        <p:nvSpPr>
          <p:cNvPr id="6" name="Text 3"/>
          <p:cNvSpPr txBox="1"/>
          <p:nvPr/>
        </p:nvSpPr>
        <p:spPr>
          <a:xfrm>
            <a:off x="6583680" y="548640"/>
            <a:ext cx="4785055" cy="56235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Checkout screenshot goes here</a:t>
            </a:r>
            <a:endParaRPr lang="en-US" sz="2000" dirty="0"/>
          </a:p>
          <a:p>
            <a:pPr algn="ctr" indent="0" marL="0">
              <a:buNone/>
            </a:pPr>
            <a:r>
              <a:rPr lang="en-US" sz="2000" dirty="0">
                <a:solidFill>
                  <a:srgbClr val="5A4A42"/>
                </a:solidFill>
                <a:latin typeface="Jost"/>
                <a:ea typeface="Jost"/>
                <a:cs typeface="Jost"/>
              </a:rPr>
              <a:t>top of your mentorship page</a:t>
            </a:r>
            <a:endParaRPr lang="en-US" sz="2000" dirty="0"/>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400"/>
              </a:spcAft>
              <a:buNone/>
            </a:pPr>
            <a:r>
              <a:rPr lang="en-US" sz="4000" b="1" dirty="0">
                <a:solidFill>
                  <a:srgbClr val="2A201B"/>
                </a:solidFill>
                <a:latin typeface="Jost"/>
                <a:ea typeface="Jost"/>
                <a:cs typeface="Jost"/>
              </a:rPr>
              <a:t>Step 2: Scroll to the pricing and click Join Standard or Join VIP.</a:t>
            </a:r>
            <a:endParaRPr lang="en-US" sz="4000" dirty="0"/>
          </a:p>
        </p:txBody>
      </p:sp>
      <p:sp>
        <p:nvSpPr>
          <p:cNvPr id="7" name="Shape 4"/>
          <p:cNvSpPr/>
          <p:nvPr/>
        </p:nvSpPr>
        <p:spPr>
          <a:xfrm>
            <a:off x="6309360" y="548640"/>
            <a:ext cx="5333695" cy="4937760"/>
          </a:xfrm>
          <a:prstGeom prst="rect">
            <a:avLst/>
          </a:prstGeom>
          <a:solidFill>
            <a:srgbClr val="FBE6EB"/>
          </a:solidFill>
          <a:ln w="19050">
            <a:solidFill>
              <a:srgbClr val="D9C4B4"/>
            </a:solidFill>
            <a:prstDash val="dash"/>
          </a:ln>
        </p:spPr>
      </p:sp>
      <p:sp>
        <p:nvSpPr>
          <p:cNvPr id="8" name="Text 5"/>
          <p:cNvSpPr txBox="1"/>
          <p:nvPr/>
        </p:nvSpPr>
        <p:spPr>
          <a:xfrm>
            <a:off x="6583680" y="548640"/>
            <a:ext cx="4785055" cy="49377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Checkout screenshot goes here</a:t>
            </a:r>
            <a:endParaRPr lang="en-US" sz="2000" dirty="0"/>
          </a:p>
          <a:p>
            <a:pPr algn="ctr" indent="0" marL="0">
              <a:buNone/>
            </a:pPr>
            <a:r>
              <a:rPr lang="en-US" sz="2000" dirty="0">
                <a:solidFill>
                  <a:srgbClr val="5A4A42"/>
                </a:solidFill>
                <a:latin typeface="Jost"/>
                <a:ea typeface="Jost"/>
                <a:cs typeface="Jost"/>
              </a:rPr>
              <a:t>pricing section with both buttons</a:t>
            </a:r>
            <a:endParaRPr lang="en-US" sz="2000" dirty="0"/>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300"/>
              </a:spcAft>
              <a:buNone/>
            </a:pPr>
            <a:r>
              <a:rPr lang="en-US" sz="3600" b="1" dirty="0">
                <a:solidFill>
                  <a:srgbClr val="2A201B"/>
                </a:solidFill>
                <a:latin typeface="Jost"/>
                <a:ea typeface="Jost"/>
                <a:cs typeface="Jost"/>
              </a:rPr>
              <a:t>Step 3: Enter your info and payment on the secure checkout.</a:t>
            </a:r>
            <a:endParaRPr lang="en-US" sz="3600" dirty="0"/>
          </a:p>
          <a:p>
            <a:pPr algn="l" indent="0" marL="0">
              <a:spcAft>
                <a:spcPts val="1300"/>
              </a:spcAft>
              <a:buNone/>
            </a:pPr>
            <a:r>
              <a:rPr lang="en-US" sz="3600" dirty="0">
                <a:solidFill>
                  <a:srgbClr val="2A201B"/>
                </a:solidFill>
                <a:latin typeface="Jost"/>
                <a:ea typeface="Jost"/>
                <a:cs typeface="Jost"/>
              </a:rPr>
              <a:t>Want to split it? Tap "More payment options" for Klarna or Afterpay.</a:t>
            </a:r>
            <a:endParaRPr lang="en-US" sz="3600" dirty="0"/>
          </a:p>
        </p:txBody>
      </p:sp>
      <p:sp>
        <p:nvSpPr>
          <p:cNvPr id="7" name="Shape 4"/>
          <p:cNvSpPr/>
          <p:nvPr/>
        </p:nvSpPr>
        <p:spPr>
          <a:xfrm>
            <a:off x="6309360" y="548640"/>
            <a:ext cx="5333695" cy="4937760"/>
          </a:xfrm>
          <a:prstGeom prst="rect">
            <a:avLst/>
          </a:prstGeom>
          <a:solidFill>
            <a:srgbClr val="FBE6EB"/>
          </a:solidFill>
          <a:ln w="19050">
            <a:solidFill>
              <a:srgbClr val="D9C4B4"/>
            </a:solidFill>
            <a:prstDash val="dash"/>
          </a:ln>
        </p:spPr>
      </p:sp>
      <p:sp>
        <p:nvSpPr>
          <p:cNvPr id="8" name="Text 5"/>
          <p:cNvSpPr txBox="1"/>
          <p:nvPr/>
        </p:nvSpPr>
        <p:spPr>
          <a:xfrm>
            <a:off x="6583680" y="548640"/>
            <a:ext cx="4785055" cy="49377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Checkout screenshot goes here</a:t>
            </a:r>
            <a:endParaRPr lang="en-US" sz="2000" dirty="0"/>
          </a:p>
          <a:p>
            <a:pPr algn="ctr" indent="0" marL="0">
              <a:buNone/>
            </a:pPr>
            <a:r>
              <a:rPr lang="en-US" sz="2000" dirty="0">
                <a:solidFill>
                  <a:srgbClr val="5A4A42"/>
                </a:solidFill>
                <a:latin typeface="Jost"/>
                <a:ea typeface="Jost"/>
                <a:cs typeface="Jost"/>
              </a:rPr>
              <a:t>payment page</a:t>
            </a:r>
            <a:endParaRPr lang="en-US" sz="2000"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236</a:t>
            </a:r>
            <a:endParaRPr lang="en-US" sz="1000" dirty="0"/>
          </a:p>
        </p:txBody>
      </p:sp>
      <p:sp>
        <p:nvSpPr>
          <p:cNvPr id="4" name="Text 1"/>
          <p:cNvSpPr txBox="1"/>
          <p:nvPr/>
        </p:nvSpPr>
        <p:spPr>
          <a:xfrm>
            <a:off x="731520" y="640080"/>
            <a:ext cx="5120640" cy="5715000"/>
          </a:xfrm>
          <a:prstGeom prst="rect">
            <a:avLst/>
          </a:prstGeom>
          <a:noFill/>
          <a:ln/>
        </p:spPr>
        <p:txBody>
          <a:bodyPr wrap="square" lIns="0" tIns="0" rIns="0" bIns="0" rtlCol="0" anchor="ctr"/>
          <a:lstStyle/>
          <a:p>
            <a:pPr algn="l" indent="0" marL="0">
              <a:spcAft>
                <a:spcPts val="1400"/>
              </a:spcAft>
              <a:buNone/>
            </a:pPr>
            <a:r>
              <a:rPr lang="en-US" sz="4000" b="1" dirty="0">
                <a:solidFill>
                  <a:srgbClr val="2A201B"/>
                </a:solidFill>
                <a:latin typeface="Jost"/>
                <a:ea typeface="Jost"/>
                <a:cs typeface="Jost"/>
              </a:rPr>
              <a:t>Step 4: You'll see a confirmation page and get an email with next steps.</a:t>
            </a:r>
            <a:endParaRPr lang="en-US" sz="4000" dirty="0"/>
          </a:p>
        </p:txBody>
      </p:sp>
      <p:sp>
        <p:nvSpPr>
          <p:cNvPr id="5" name="Shape 2"/>
          <p:cNvSpPr/>
          <p:nvPr/>
        </p:nvSpPr>
        <p:spPr>
          <a:xfrm>
            <a:off x="6309360" y="548640"/>
            <a:ext cx="5333695" cy="5623560"/>
          </a:xfrm>
          <a:prstGeom prst="rect">
            <a:avLst/>
          </a:prstGeom>
          <a:solidFill>
            <a:srgbClr val="FBE6EB"/>
          </a:solidFill>
          <a:ln w="19050">
            <a:solidFill>
              <a:srgbClr val="D9C4B4"/>
            </a:solidFill>
            <a:prstDash val="dash"/>
          </a:ln>
        </p:spPr>
      </p:sp>
      <p:sp>
        <p:nvSpPr>
          <p:cNvPr id="6" name="Text 3"/>
          <p:cNvSpPr txBox="1"/>
          <p:nvPr/>
        </p:nvSpPr>
        <p:spPr>
          <a:xfrm>
            <a:off x="6583680" y="548640"/>
            <a:ext cx="4785055" cy="5623560"/>
          </a:xfrm>
          <a:prstGeom prst="rect">
            <a:avLst/>
          </a:prstGeom>
          <a:noFill/>
          <a:ln/>
        </p:spPr>
        <p:txBody>
          <a:bodyPr wrap="square" rtlCol="0" anchor="ctr"/>
          <a:lstStyle/>
          <a:p>
            <a:pPr algn="ctr" indent="0" marL="0">
              <a:buNone/>
            </a:pPr>
            <a:r>
              <a:rPr lang="en-US" sz="2000" dirty="0">
                <a:solidFill>
                  <a:srgbClr val="5A4A42"/>
                </a:solidFill>
                <a:latin typeface="Jost"/>
                <a:ea typeface="Jost"/>
                <a:cs typeface="Jost"/>
              </a:rPr>
              <a:t>Checkout screenshot goes here</a:t>
            </a:r>
            <a:endParaRPr lang="en-US" sz="2000" dirty="0"/>
          </a:p>
          <a:p>
            <a:pPr algn="ctr" indent="0" marL="0">
              <a:buNone/>
            </a:pPr>
            <a:r>
              <a:rPr lang="en-US" sz="2000" dirty="0">
                <a:solidFill>
                  <a:srgbClr val="5A4A42"/>
                </a:solidFill>
                <a:latin typeface="Jost"/>
                <a:ea typeface="Jost"/>
                <a:cs typeface="Jost"/>
              </a:rPr>
              <a:t>thank-you page</a:t>
            </a:r>
            <a:endParaRPr lang="en-US" sz="2000" dirty="0"/>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237</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5029200"/>
          </a:xfrm>
          <a:prstGeom prst="rect">
            <a:avLst/>
          </a:prstGeom>
          <a:noFill/>
          <a:ln/>
        </p:spPr>
        <p:txBody>
          <a:bodyPr wrap="square" lIns="0" tIns="0" rIns="0" bIns="0" rtlCol="0" anchor="ctr"/>
          <a:lstStyle/>
          <a:p>
            <a:pPr algn="l" indent="0" marL="0">
              <a:spcAft>
                <a:spcPts val="2300"/>
              </a:spcAft>
              <a:buNone/>
            </a:pPr>
            <a:r>
              <a:rPr lang="en-US" sz="7600" b="1" dirty="0">
                <a:solidFill>
                  <a:srgbClr val="2A201B"/>
                </a:solidFill>
                <a:latin typeface="Cormorant Garamond"/>
                <a:ea typeface="Cormorant Garamond"/>
                <a:cs typeface="Cormorant Garamond"/>
              </a:rPr>
              <a:t>That's it. The link is in the chat.</a:t>
            </a:r>
            <a:endParaRPr lang="en-US" sz="7600"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I'm only taking 15 people.</a:t>
            </a:r>
            <a:endParaRPr lang="en-US" sz="5400" dirty="0"/>
          </a:p>
          <a:p>
            <a:pPr algn="l" indent="0" marL="0">
              <a:spcAft>
                <a:spcPts val="1900"/>
              </a:spcAft>
              <a:buNone/>
            </a:pPr>
            <a:r>
              <a:rPr lang="en-US" sz="5400" dirty="0">
                <a:solidFill>
                  <a:srgbClr val="2A201B"/>
                </a:solidFill>
                <a:latin typeface="Jost"/>
                <a:ea typeface="Jost"/>
                <a:cs typeface="Jost"/>
              </a:rPr>
              <a:t>I'd rather give your money back than have you in a seat that isn't right for you.</a:t>
            </a:r>
            <a:endParaRPr lang="en-US" sz="5400" dirty="0"/>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So here's my Two-Week Clarity Guarantee.</a:t>
            </a:r>
            <a:endParaRPr lang="en-US" sz="5500" dirty="0"/>
          </a:p>
          <a:p>
            <a:pPr algn="l" indent="0" marL="0">
              <a:spcAft>
                <a:spcPts val="1700"/>
              </a:spcAft>
              <a:buNone/>
            </a:pPr>
            <a:r>
              <a:rPr lang="en-US" sz="4800" dirty="0">
                <a:solidFill>
                  <a:srgbClr val="FBF7F1"/>
                </a:solidFill>
                <a:latin typeface="Jost"/>
                <a:ea typeface="Jost"/>
                <a:cs typeface="Jost"/>
              </a:rPr>
              <a:t>Come to the first 2 calls, live or on replay.</a:t>
            </a:r>
            <a:endParaRPr lang="en-US" sz="4800" dirty="0"/>
          </a:p>
          <a:p>
            <a:pPr algn="l" indent="0" marL="0">
              <a:spcAft>
                <a:spcPts val="1700"/>
              </a:spcAft>
              <a:buNone/>
            </a:pPr>
            <a:r>
              <a:rPr lang="en-US" sz="4800" dirty="0">
                <a:solidFill>
                  <a:srgbClr val="FBF7F1"/>
                </a:solidFill>
                <a:latin typeface="Jost"/>
                <a:ea typeface="Jost"/>
                <a:cs typeface="Jost"/>
              </a:rPr>
              <a:t>Do the Week 1 audit and the Week 2 homework.</a:t>
            </a:r>
            <a:endParaRPr lang="en-US" sz="4800" dirty="0"/>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So here's my Two-Week Clarity Guarantee.</a:t>
            </a:r>
            <a:endParaRPr lang="en-US" sz="5500" dirty="0"/>
          </a:p>
          <a:p>
            <a:pPr algn="l" indent="0" marL="0">
              <a:spcAft>
                <a:spcPts val="1700"/>
              </a:spcAft>
              <a:buNone/>
            </a:pPr>
            <a:r>
              <a:rPr lang="en-US" sz="4800" dirty="0">
                <a:solidFill>
                  <a:srgbClr val="2A201B"/>
                </a:solidFill>
                <a:latin typeface="Jost"/>
                <a:ea typeface="Jost"/>
                <a:cs typeface="Jost"/>
              </a:rPr>
              <a:t>Come to the first 2 calls, live or on replay.</a:t>
            </a:r>
            <a:endParaRPr lang="en-US" sz="4800" dirty="0"/>
          </a:p>
          <a:p>
            <a:pPr algn="l" indent="0" marL="0">
              <a:spcAft>
                <a:spcPts val="1700"/>
              </a:spcAft>
              <a:buNone/>
            </a:pPr>
            <a:r>
              <a:rPr lang="en-US" sz="4800" dirty="0">
                <a:solidFill>
                  <a:srgbClr val="FBF7F1"/>
                </a:solidFill>
                <a:latin typeface="Jost"/>
                <a:ea typeface="Jost"/>
                <a:cs typeface="Jost"/>
              </a:rPr>
              <a:t>Do the Week 1 audit and the Week 2 homework.</a:t>
            </a:r>
            <a:endParaRPr lang="en-US" sz="4800"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239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So here's my Two-Week Clarity Guarantee.</a:t>
            </a:r>
            <a:endParaRPr lang="en-US" sz="5500" dirty="0"/>
          </a:p>
          <a:p>
            <a:pPr algn="l" indent="0" marL="0">
              <a:spcAft>
                <a:spcPts val="1700"/>
              </a:spcAft>
              <a:buNone/>
            </a:pPr>
            <a:r>
              <a:rPr lang="en-US" sz="4800" dirty="0">
                <a:solidFill>
                  <a:srgbClr val="2A201B"/>
                </a:solidFill>
                <a:latin typeface="Jost"/>
                <a:ea typeface="Jost"/>
                <a:cs typeface="Jost"/>
              </a:rPr>
              <a:t>Come to the first 2 calls, live or on replay.</a:t>
            </a:r>
            <a:endParaRPr lang="en-US" sz="4800" dirty="0"/>
          </a:p>
          <a:p>
            <a:pPr algn="l" indent="0" marL="0">
              <a:spcAft>
                <a:spcPts val="1700"/>
              </a:spcAft>
              <a:buNone/>
            </a:pPr>
            <a:r>
              <a:rPr lang="en-US" sz="4800" dirty="0">
                <a:solidFill>
                  <a:srgbClr val="2A201B"/>
                </a:solidFill>
                <a:latin typeface="Jost"/>
                <a:ea typeface="Jost"/>
                <a:cs typeface="Jost"/>
              </a:rPr>
              <a:t>Do the Week 1 audit and the Week 2 homework.</a:t>
            </a:r>
            <a:endParaRPr lang="en-US" sz="4800"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900"/>
              </a:spcAft>
              <a:buNone/>
            </a:pPr>
            <a:r>
              <a:rPr lang="en-US" sz="5400" b="1" dirty="0">
                <a:solidFill>
                  <a:srgbClr val="2A201B"/>
                </a:solidFill>
                <a:latin typeface="Jost"/>
                <a:ea typeface="Jost"/>
                <a:cs typeface="Jost"/>
              </a:rPr>
              <a:t>If you don't feel it was worth it, message me before the Week 3 call on November 16.</a:t>
            </a:r>
            <a:endParaRPr lang="en-US" sz="5400" dirty="0"/>
          </a:p>
          <a:p>
            <a:pPr algn="l" indent="0" marL="0">
              <a:spcAft>
                <a:spcPts val="1900"/>
              </a:spcAft>
              <a:buNone/>
            </a:pPr>
            <a:r>
              <a:rPr lang="en-US" sz="5400" dirty="0">
                <a:solidFill>
                  <a:srgbClr val="2A201B"/>
                </a:solidFill>
                <a:latin typeface="Jost"/>
                <a:ea typeface="Jost"/>
                <a:cs typeface="Jost"/>
              </a:rPr>
              <a:t>I'll refund every dollar.</a:t>
            </a:r>
            <a:endParaRPr lang="en-US" sz="5400" dirty="0"/>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241</a:t>
            </a:r>
            <a:endParaRPr lang="en-US" sz="1000" dirty="0"/>
          </a:p>
        </p:txBody>
      </p:sp>
      <p:sp>
        <p:nvSpPr>
          <p:cNvPr id="4" name="Shape 1"/>
          <p:cNvSpPr/>
          <p:nvPr/>
        </p:nvSpPr>
        <p:spPr>
          <a:xfrm>
            <a:off x="731520" y="822960"/>
            <a:ext cx="5090008" cy="5257800"/>
          </a:xfrm>
          <a:prstGeom prst="rect">
            <a:avLst/>
          </a:prstGeom>
          <a:solidFill>
            <a:srgbClr val="FBE6EB"/>
          </a:solidFill>
          <a:ln w="12700">
            <a:solidFill>
              <a:srgbClr val="F2C9D3"/>
            </a:solidFill>
            <a:prstDash val="solid"/>
          </a:ln>
        </p:spPr>
      </p:sp>
      <p:sp>
        <p:nvSpPr>
          <p:cNvPr id="5" name="Text 2"/>
          <p:cNvSpPr txBox="1"/>
          <p:nvPr/>
        </p:nvSpPr>
        <p:spPr>
          <a:xfrm>
            <a:off x="1143000" y="1097280"/>
            <a:ext cx="4267048" cy="731520"/>
          </a:xfrm>
          <a:prstGeom prst="rect">
            <a:avLst/>
          </a:prstGeom>
          <a:noFill/>
          <a:ln/>
        </p:spPr>
        <p:txBody>
          <a:bodyPr wrap="square" lIns="0" tIns="0" rIns="0" bIns="0" rtlCol="0" anchor="ctr"/>
          <a:lstStyle/>
          <a:p>
            <a:pPr indent="0" marL="0">
              <a:buNone/>
            </a:pPr>
            <a:r>
              <a:rPr lang="en-US" sz="3700" b="1" dirty="0">
                <a:solidFill>
                  <a:srgbClr val="AD5A6E"/>
                </a:solidFill>
                <a:latin typeface="Cormorant Garamond"/>
                <a:ea typeface="Cormorant Garamond"/>
                <a:cs typeface="Cormorant Garamond"/>
              </a:rPr>
              <a:t>Your part:</a:t>
            </a:r>
            <a:endParaRPr lang="en-US" sz="3700" dirty="0"/>
          </a:p>
        </p:txBody>
      </p:sp>
      <p:sp>
        <p:nvSpPr>
          <p:cNvPr id="6" name="Text 3"/>
          <p:cNvSpPr txBox="1"/>
          <p:nvPr/>
        </p:nvSpPr>
        <p:spPr>
          <a:xfrm>
            <a:off x="1143000" y="1920240"/>
            <a:ext cx="4267048" cy="3977640"/>
          </a:xfrm>
          <a:prstGeom prst="rect">
            <a:avLst/>
          </a:prstGeom>
          <a:noFill/>
          <a:ln/>
        </p:spPr>
        <p:txBody>
          <a:bodyPr wrap="square" lIns="0" tIns="0" rIns="0" bIns="0" rtlCol="0" anchor="t"/>
          <a:lstStyle/>
          <a:p>
            <a:pPr indent="0" marL="0">
              <a:spcAft>
                <a:spcPts val="1400"/>
              </a:spcAft>
              <a:buNone/>
            </a:pPr>
            <a:r>
              <a:rPr lang="en-US" sz="3000" dirty="0">
                <a:solidFill>
                  <a:srgbClr val="2A201B"/>
                </a:solidFill>
                <a:latin typeface="Jost"/>
                <a:ea typeface="Jost"/>
                <a:cs typeface="Jost"/>
              </a:rPr>
              <a:t>show up and do the work.</a:t>
            </a:r>
            <a:endParaRPr lang="en-US" sz="3000" dirty="0"/>
          </a:p>
        </p:txBody>
      </p:sp>
      <p:sp>
        <p:nvSpPr>
          <p:cNvPr id="7" name="Shape 4"/>
          <p:cNvSpPr/>
          <p:nvPr/>
        </p:nvSpPr>
        <p:spPr>
          <a:xfrm>
            <a:off x="6370168" y="822960"/>
            <a:ext cx="5090008" cy="5257800"/>
          </a:xfrm>
          <a:prstGeom prst="rect">
            <a:avLst/>
          </a:prstGeom>
          <a:solidFill>
            <a:srgbClr val="FBE6EB"/>
          </a:solidFill>
          <a:ln w="12700">
            <a:solidFill>
              <a:srgbClr val="F2C9D3"/>
            </a:solidFill>
            <a:prstDash val="solid"/>
          </a:ln>
        </p:spPr>
      </p:sp>
      <p:sp>
        <p:nvSpPr>
          <p:cNvPr id="8" name="Text 5"/>
          <p:cNvSpPr txBox="1"/>
          <p:nvPr/>
        </p:nvSpPr>
        <p:spPr>
          <a:xfrm>
            <a:off x="6781648" y="1097280"/>
            <a:ext cx="4267048" cy="731520"/>
          </a:xfrm>
          <a:prstGeom prst="rect">
            <a:avLst/>
          </a:prstGeom>
          <a:noFill/>
          <a:ln/>
        </p:spPr>
        <p:txBody>
          <a:bodyPr wrap="square" lIns="0" tIns="0" rIns="0" bIns="0" rtlCol="0" anchor="ctr"/>
          <a:lstStyle/>
          <a:p>
            <a:pPr indent="0" marL="0">
              <a:buNone/>
            </a:pPr>
            <a:r>
              <a:rPr lang="en-US" sz="3700" b="1" dirty="0">
                <a:solidFill>
                  <a:srgbClr val="AD5A6E"/>
                </a:solidFill>
                <a:latin typeface="Cormorant Garamond"/>
                <a:ea typeface="Cormorant Garamond"/>
                <a:cs typeface="Cormorant Garamond"/>
              </a:rPr>
              <a:t>My part:</a:t>
            </a:r>
            <a:endParaRPr lang="en-US" sz="3700" dirty="0"/>
          </a:p>
        </p:txBody>
      </p:sp>
      <p:sp>
        <p:nvSpPr>
          <p:cNvPr id="9" name="Text 6"/>
          <p:cNvSpPr txBox="1"/>
          <p:nvPr/>
        </p:nvSpPr>
        <p:spPr>
          <a:xfrm>
            <a:off x="6781648" y="1920240"/>
            <a:ext cx="4267048" cy="3977640"/>
          </a:xfrm>
          <a:prstGeom prst="rect">
            <a:avLst/>
          </a:prstGeom>
          <a:noFill/>
          <a:ln/>
        </p:spPr>
        <p:txBody>
          <a:bodyPr wrap="square" lIns="0" tIns="0" rIns="0" bIns="0" rtlCol="0" anchor="t"/>
          <a:lstStyle/>
          <a:p>
            <a:pPr indent="0" marL="0">
              <a:spcAft>
                <a:spcPts val="1400"/>
              </a:spcAft>
              <a:buNone/>
            </a:pPr>
            <a:r>
              <a:rPr lang="en-US" sz="3000" dirty="0">
                <a:solidFill>
                  <a:srgbClr val="2A201B"/>
                </a:solidFill>
                <a:latin typeface="Jost"/>
                <a:ea typeface="Jost"/>
                <a:cs typeface="Jost"/>
              </a:rPr>
              <a:t>make it worth it.</a:t>
            </a:r>
            <a:endParaRPr lang="en-US" sz="3000" dirty="0"/>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I'm not asking you to decide tonight.</a:t>
            </a:r>
            <a:endParaRPr lang="en-US" sz="6900" dirty="0"/>
          </a:p>
          <a:p>
            <a:pPr algn="l" indent="0" marL="0">
              <a:spcAft>
                <a:spcPts val="2100"/>
              </a:spcAft>
              <a:buNone/>
            </a:pPr>
            <a:r>
              <a:rPr lang="en-US" sz="6000" dirty="0">
                <a:solidFill>
                  <a:srgbClr val="2A201B"/>
                </a:solidFill>
                <a:latin typeface="Jost"/>
                <a:ea typeface="Jost"/>
                <a:cs typeface="Jost"/>
              </a:rPr>
              <a:t>I'm asking you to make a fully informed decision.</a:t>
            </a:r>
            <a:endParaRPr lang="en-US" sz="6000" dirty="0"/>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15 seats total.</a:t>
            </a:r>
            <a:endParaRPr lang="en-US" sz="4800" dirty="0"/>
          </a:p>
          <a:p>
            <a:pPr algn="l" indent="0" marL="0">
              <a:spcAft>
                <a:spcPts val="1700"/>
              </a:spcAft>
              <a:buNone/>
            </a:pPr>
            <a:r>
              <a:rPr lang="en-US" sz="4800" dirty="0">
                <a:solidFill>
                  <a:srgbClr val="FBF7F1"/>
                </a:solidFill>
                <a:latin typeface="Jost"/>
                <a:ea typeface="Jost"/>
                <a:cs typeface="Jost"/>
              </a:rPr>
              <a:t>5 of them are VIP.</a:t>
            </a:r>
            <a:endParaRPr lang="en-US" sz="4800" dirty="0"/>
          </a:p>
          <a:p>
            <a:pPr algn="l" indent="0" marL="0">
              <a:spcAft>
                <a:spcPts val="1700"/>
              </a:spcAft>
              <a:buNone/>
            </a:pPr>
            <a:r>
              <a:rPr lang="en-US" sz="4800" dirty="0">
                <a:solidFill>
                  <a:srgbClr val="FBF7F1"/>
                </a:solidFill>
                <a:latin typeface="Jost"/>
                <a:ea typeface="Jost"/>
                <a:cs typeface="Jost"/>
              </a:rPr>
              <a:t>Why so small?</a:t>
            </a:r>
            <a:endParaRPr lang="en-US" sz="4800" dirty="0"/>
          </a:p>
          <a:p>
            <a:pPr algn="l" indent="0" marL="0">
              <a:spcAft>
                <a:spcPts val="1700"/>
              </a:spcAft>
              <a:buNone/>
            </a:pPr>
            <a:r>
              <a:rPr lang="en-US" sz="4800" dirty="0">
                <a:solidFill>
                  <a:srgbClr val="FBF7F1"/>
                </a:solidFill>
                <a:latin typeface="Jost"/>
                <a:ea typeface="Jost"/>
                <a:cs typeface="Jost"/>
              </a:rPr>
              <a:t>So I can actually understand each person's business and give you real help.</a:t>
            </a:r>
            <a:endParaRPr lang="en-US" sz="4800"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15 seats total.</a:t>
            </a:r>
            <a:endParaRPr lang="en-US" sz="4800" dirty="0"/>
          </a:p>
          <a:p>
            <a:pPr algn="l" indent="0" marL="0">
              <a:spcAft>
                <a:spcPts val="1700"/>
              </a:spcAft>
              <a:buNone/>
            </a:pPr>
            <a:r>
              <a:rPr lang="en-US" sz="4800" dirty="0">
                <a:solidFill>
                  <a:srgbClr val="2A201B"/>
                </a:solidFill>
                <a:latin typeface="Jost"/>
                <a:ea typeface="Jost"/>
                <a:cs typeface="Jost"/>
              </a:rPr>
              <a:t>5 of them are VIP.</a:t>
            </a:r>
            <a:endParaRPr lang="en-US" sz="4800" dirty="0"/>
          </a:p>
          <a:p>
            <a:pPr algn="l" indent="0" marL="0">
              <a:spcAft>
                <a:spcPts val="1700"/>
              </a:spcAft>
              <a:buNone/>
            </a:pPr>
            <a:r>
              <a:rPr lang="en-US" sz="4800" dirty="0">
                <a:solidFill>
                  <a:srgbClr val="FBF7F1"/>
                </a:solidFill>
                <a:latin typeface="Jost"/>
                <a:ea typeface="Jost"/>
                <a:cs typeface="Jost"/>
              </a:rPr>
              <a:t>Why so small?</a:t>
            </a:r>
            <a:endParaRPr lang="en-US" sz="4800" dirty="0"/>
          </a:p>
          <a:p>
            <a:pPr algn="l" indent="0" marL="0">
              <a:spcAft>
                <a:spcPts val="1700"/>
              </a:spcAft>
              <a:buNone/>
            </a:pPr>
            <a:r>
              <a:rPr lang="en-US" sz="4800" dirty="0">
                <a:solidFill>
                  <a:srgbClr val="FBF7F1"/>
                </a:solidFill>
                <a:latin typeface="Jost"/>
                <a:ea typeface="Jost"/>
                <a:cs typeface="Jost"/>
              </a:rPr>
              <a:t>So I can actually understand each person's business and give you real help.</a:t>
            </a:r>
            <a:endParaRPr lang="en-US" sz="4800" dirty="0"/>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name="Slide 40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15 seats total.</a:t>
            </a:r>
            <a:endParaRPr lang="en-US" sz="4800" dirty="0"/>
          </a:p>
          <a:p>
            <a:pPr algn="l" indent="0" marL="0">
              <a:spcAft>
                <a:spcPts val="1700"/>
              </a:spcAft>
              <a:buNone/>
            </a:pPr>
            <a:r>
              <a:rPr lang="en-US" sz="4800" dirty="0">
                <a:solidFill>
                  <a:srgbClr val="2A201B"/>
                </a:solidFill>
                <a:latin typeface="Jost"/>
                <a:ea typeface="Jost"/>
                <a:cs typeface="Jost"/>
              </a:rPr>
              <a:t>5 of them are VIP.</a:t>
            </a:r>
            <a:endParaRPr lang="en-US" sz="4800" dirty="0"/>
          </a:p>
          <a:p>
            <a:pPr algn="l" indent="0" marL="0">
              <a:spcAft>
                <a:spcPts val="1700"/>
              </a:spcAft>
              <a:buNone/>
            </a:pPr>
            <a:r>
              <a:rPr lang="en-US" sz="4800" dirty="0">
                <a:solidFill>
                  <a:srgbClr val="2A201B"/>
                </a:solidFill>
                <a:latin typeface="Jost"/>
                <a:ea typeface="Jost"/>
                <a:cs typeface="Jost"/>
              </a:rPr>
              <a:t>Why so small?</a:t>
            </a:r>
            <a:endParaRPr lang="en-US" sz="4800" dirty="0"/>
          </a:p>
          <a:p>
            <a:pPr algn="l" indent="0" marL="0">
              <a:spcAft>
                <a:spcPts val="1700"/>
              </a:spcAft>
              <a:buNone/>
            </a:pPr>
            <a:r>
              <a:rPr lang="en-US" sz="4800" dirty="0">
                <a:solidFill>
                  <a:srgbClr val="FBF7F1"/>
                </a:solidFill>
                <a:latin typeface="Jost"/>
                <a:ea typeface="Jost"/>
                <a:cs typeface="Jost"/>
              </a:rPr>
              <a:t>So I can actually understand each person's business and give you real help.</a:t>
            </a:r>
            <a:endParaRPr lang="en-US" sz="4800" dirty="0"/>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name="Slide 40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15 seats total.</a:t>
            </a:r>
            <a:endParaRPr lang="en-US" sz="4800" dirty="0"/>
          </a:p>
          <a:p>
            <a:pPr algn="l" indent="0" marL="0">
              <a:spcAft>
                <a:spcPts val="1700"/>
              </a:spcAft>
              <a:buNone/>
            </a:pPr>
            <a:r>
              <a:rPr lang="en-US" sz="4800" dirty="0">
                <a:solidFill>
                  <a:srgbClr val="2A201B"/>
                </a:solidFill>
                <a:latin typeface="Jost"/>
                <a:ea typeface="Jost"/>
                <a:cs typeface="Jost"/>
              </a:rPr>
              <a:t>5 of them are VIP.</a:t>
            </a:r>
            <a:endParaRPr lang="en-US" sz="4800" dirty="0"/>
          </a:p>
          <a:p>
            <a:pPr algn="l" indent="0" marL="0">
              <a:spcAft>
                <a:spcPts val="1700"/>
              </a:spcAft>
              <a:buNone/>
            </a:pPr>
            <a:r>
              <a:rPr lang="en-US" sz="4800" dirty="0">
                <a:solidFill>
                  <a:srgbClr val="2A201B"/>
                </a:solidFill>
                <a:latin typeface="Jost"/>
                <a:ea typeface="Jost"/>
                <a:cs typeface="Jost"/>
              </a:rPr>
              <a:t>Why so small?</a:t>
            </a:r>
            <a:endParaRPr lang="en-US" sz="4800" dirty="0"/>
          </a:p>
          <a:p>
            <a:pPr algn="l" indent="0" marL="0">
              <a:spcAft>
                <a:spcPts val="1700"/>
              </a:spcAft>
              <a:buNone/>
            </a:pPr>
            <a:r>
              <a:rPr lang="en-US" sz="4800" dirty="0">
                <a:solidFill>
                  <a:srgbClr val="2A201B"/>
                </a:solidFill>
                <a:latin typeface="Jost"/>
                <a:ea typeface="Jost"/>
                <a:cs typeface="Jost"/>
              </a:rPr>
              <a:t>So I can actually understand each person's business and give you real help.</a:t>
            </a:r>
            <a:endParaRPr lang="en-US" sz="4800" dirty="0"/>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name="Slide 40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Founding pricing ends Friday, October 30 at 11:59 PM Eastern.</a:t>
            </a:r>
            <a:endParaRPr lang="en-US" sz="6000" dirty="0"/>
          </a:p>
          <a:p>
            <a:pPr algn="l" indent="0" marL="0">
              <a:spcAft>
                <a:spcPts val="2100"/>
              </a:spcAft>
              <a:buNone/>
            </a:pPr>
            <a:r>
              <a:rPr lang="en-US" sz="6000" dirty="0">
                <a:solidFill>
                  <a:srgbClr val="2A201B"/>
                </a:solidFill>
                <a:latin typeface="Jost"/>
                <a:ea typeface="Jost"/>
                <a:cs typeface="Jost"/>
              </a:rPr>
              <a:t>Or when the seats fill.</a:t>
            </a:r>
            <a:endParaRPr lang="en-US" sz="6000"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name="Slide 40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After that, it's </a:t>
            </a:r>
            <a:pPr algn="l" indent="0" marL="0">
              <a:spcAft>
                <a:spcPts val="2100"/>
              </a:spcAft>
              <a:buNone/>
            </a:pPr>
            <a:r>
              <a:rPr lang="en-US" sz="6000" b="1" dirty="0">
                <a:solidFill>
                  <a:srgbClr val="AD5A6E"/>
                </a:solidFill>
                <a:latin typeface="Jost"/>
                <a:ea typeface="Jost"/>
                <a:cs typeface="Jost"/>
              </a:rPr>
              <a:t>$1,497</a:t>
            </a:r>
            <a:pPr algn="l" indent="0" marL="0">
              <a:spcAft>
                <a:spcPts val="2100"/>
              </a:spcAft>
              <a:buNone/>
            </a:pPr>
            <a:r>
              <a:rPr lang="en-US" sz="6000" b="1" dirty="0">
                <a:solidFill>
                  <a:srgbClr val="2A201B"/>
                </a:solidFill>
                <a:latin typeface="Jost"/>
                <a:ea typeface="Jost"/>
                <a:cs typeface="Jost"/>
              </a:rPr>
              <a:t> for the cohort and </a:t>
            </a:r>
            <a:pPr algn="l" indent="0" marL="0">
              <a:spcAft>
                <a:spcPts val="2100"/>
              </a:spcAft>
              <a:buNone/>
            </a:pPr>
            <a:r>
              <a:rPr lang="en-US" sz="6000" b="1" dirty="0">
                <a:solidFill>
                  <a:srgbClr val="AD5A6E"/>
                </a:solidFill>
                <a:latin typeface="Jost"/>
                <a:ea typeface="Jost"/>
                <a:cs typeface="Jost"/>
              </a:rPr>
              <a:t>$1,997</a:t>
            </a:r>
            <a:pPr algn="l" indent="0" marL="0">
              <a:spcAft>
                <a:spcPts val="2100"/>
              </a:spcAft>
              <a:buNone/>
            </a:pPr>
            <a:r>
              <a:rPr lang="en-US" sz="6000" b="1" dirty="0">
                <a:solidFill>
                  <a:srgbClr val="2A201B"/>
                </a:solidFill>
                <a:latin typeface="Jost"/>
                <a:ea typeface="Jost"/>
                <a:cs typeface="Jost"/>
              </a:rPr>
              <a:t> for VIP.</a:t>
            </a:r>
            <a:endParaRPr lang="en-US" sz="6000" dirty="0"/>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name="Slide 40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5029200"/>
          </a:xfrm>
          <a:prstGeom prst="rect">
            <a:avLst/>
          </a:prstGeom>
          <a:noFill/>
          <a:ln/>
        </p:spPr>
        <p:txBody>
          <a:bodyPr wrap="square" lIns="0" tIns="0" rIns="0" bIns="0" rtlCol="0" anchor="ctr"/>
          <a:lstStyle/>
          <a:p>
            <a:pPr algn="l" indent="0" marL="0">
              <a:spcAft>
                <a:spcPts val="2300"/>
              </a:spcAft>
              <a:buNone/>
            </a:pPr>
            <a:r>
              <a:rPr lang="en-US" sz="7600" b="1" dirty="0">
                <a:solidFill>
                  <a:srgbClr val="2A201B"/>
                </a:solidFill>
                <a:latin typeface="Cormorant Garamond"/>
                <a:ea typeface="Cormorant Garamond"/>
                <a:cs typeface="Cormorant Garamond"/>
              </a:rPr>
              <a:t>Grab your seat. The link is in the chat.</a:t>
            </a:r>
            <a:endParaRPr lang="en-US" sz="7600"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name="Slide 40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Let's answer the questions you might be asking.</a:t>
            </a:r>
            <a:endParaRPr lang="en-US" sz="6900"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name="Slide 40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afford it right now."</a:t>
            </a:r>
            <a:endParaRPr lang="en-US" sz="5100" dirty="0"/>
          </a:p>
          <a:p>
            <a:pPr algn="l" indent="0" marL="0">
              <a:spcAft>
                <a:spcPts val="1500"/>
              </a:spcAft>
              <a:buNone/>
            </a:pPr>
            <a:r>
              <a:rPr lang="en-US" sz="4400" dirty="0">
                <a:solidFill>
                  <a:srgbClr val="FBF7F1"/>
                </a:solidFill>
                <a:latin typeface="Jost"/>
                <a:ea typeface="Jost"/>
                <a:cs typeface="Jost"/>
              </a:rPr>
              <a:t>Look at what you're already losing.</a:t>
            </a:r>
            <a:endParaRPr lang="en-US" sz="4400" dirty="0"/>
          </a:p>
          <a:p>
            <a:pPr algn="l" indent="0" marL="0">
              <a:spcAft>
                <a:spcPts val="1500"/>
              </a:spcAft>
              <a:buNone/>
            </a:pPr>
            <a:r>
              <a:rPr lang="en-US" sz="4400" dirty="0">
                <a:solidFill>
                  <a:srgbClr val="FBF7F1"/>
                </a:solidFill>
                <a:latin typeface="Jost"/>
                <a:ea typeface="Jost"/>
                <a:cs typeface="Jost"/>
              </a:rPr>
              <a:t>The specials. The slow weeks. The money walking out your door.</a:t>
            </a:r>
            <a:endParaRPr lang="en-US" sz="4400" dirty="0"/>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name="Slide 41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afford it right now."</a:t>
            </a:r>
            <a:endParaRPr lang="en-US" sz="5100" dirty="0"/>
          </a:p>
          <a:p>
            <a:pPr algn="l" indent="0" marL="0">
              <a:spcAft>
                <a:spcPts val="1500"/>
              </a:spcAft>
              <a:buNone/>
            </a:pPr>
            <a:r>
              <a:rPr lang="en-US" sz="4400" dirty="0">
                <a:solidFill>
                  <a:srgbClr val="2A201B"/>
                </a:solidFill>
                <a:latin typeface="Jost"/>
                <a:ea typeface="Jost"/>
                <a:cs typeface="Jost"/>
              </a:rPr>
              <a:t>Look at what you're already losing.</a:t>
            </a:r>
            <a:endParaRPr lang="en-US" sz="4400" dirty="0"/>
          </a:p>
          <a:p>
            <a:pPr algn="l" indent="0" marL="0">
              <a:spcAft>
                <a:spcPts val="1500"/>
              </a:spcAft>
              <a:buNone/>
            </a:pPr>
            <a:r>
              <a:rPr lang="en-US" sz="4400" dirty="0">
                <a:solidFill>
                  <a:srgbClr val="FBF7F1"/>
                </a:solidFill>
                <a:latin typeface="Jost"/>
                <a:ea typeface="Jost"/>
                <a:cs typeface="Jost"/>
              </a:rPr>
              <a:t>The specials. The slow weeks. The money walking out your door.</a:t>
            </a:r>
            <a:endParaRPr lang="en-US" sz="4400" dirty="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name="Slide 41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 can't afford it right now."</a:t>
            </a:r>
            <a:endParaRPr lang="en-US" sz="5100" dirty="0"/>
          </a:p>
          <a:p>
            <a:pPr algn="l" indent="0" marL="0">
              <a:spcAft>
                <a:spcPts val="1500"/>
              </a:spcAft>
              <a:buNone/>
            </a:pPr>
            <a:r>
              <a:rPr lang="en-US" sz="4400" dirty="0">
                <a:solidFill>
                  <a:srgbClr val="2A201B"/>
                </a:solidFill>
                <a:latin typeface="Jost"/>
                <a:ea typeface="Jost"/>
                <a:cs typeface="Jost"/>
              </a:rPr>
              <a:t>Look at what you're already losing.</a:t>
            </a:r>
            <a:endParaRPr lang="en-US" sz="4400" dirty="0"/>
          </a:p>
          <a:p>
            <a:pPr algn="l" indent="0" marL="0">
              <a:spcAft>
                <a:spcPts val="1500"/>
              </a:spcAft>
              <a:buNone/>
            </a:pPr>
            <a:r>
              <a:rPr lang="en-US" sz="4400" dirty="0">
                <a:solidFill>
                  <a:srgbClr val="2A201B"/>
                </a:solidFill>
                <a:latin typeface="Jost"/>
                <a:ea typeface="Jost"/>
                <a:cs typeface="Jost"/>
              </a:rPr>
              <a:t>The specials. The slow weeks. The money walking out your door.</a:t>
            </a:r>
            <a:endParaRPr lang="en-US" sz="4400" dirty="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name="Slide 41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249</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Klarna and Afterpay let you split it into smaller payments.</a:t>
            </a:r>
            <a:endParaRPr lang="en-US" sz="5500" dirty="0"/>
          </a:p>
          <a:p>
            <a:pPr algn="l" indent="0" marL="0">
              <a:spcAft>
                <a:spcPts val="1700"/>
              </a:spcAft>
              <a:buNone/>
            </a:pPr>
            <a:r>
              <a:rPr lang="en-US" sz="4800" dirty="0">
                <a:solidFill>
                  <a:srgbClr val="2A201B"/>
                </a:solidFill>
                <a:latin typeface="Jost"/>
                <a:ea typeface="Jost"/>
                <a:cs typeface="Jost"/>
              </a:rPr>
              <a:t>And the Two-Week Clarity Guarantee means you'll know it's worth it before Week 3.</a:t>
            </a:r>
            <a:endParaRPr lang="en-US" sz="4800"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name="Slide 41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The question isn't whether you can afford this.</a:t>
            </a:r>
            <a:endParaRPr lang="en-US" sz="5500" dirty="0"/>
          </a:p>
          <a:p>
            <a:pPr algn="l" indent="0" marL="0">
              <a:spcAft>
                <a:spcPts val="1700"/>
              </a:spcAft>
              <a:buNone/>
            </a:pPr>
            <a:r>
              <a:rPr lang="en-US" sz="4800" dirty="0">
                <a:solidFill>
                  <a:srgbClr val="2A201B"/>
                </a:solidFill>
                <a:latin typeface="Jost"/>
                <a:ea typeface="Jost"/>
                <a:cs typeface="Jost"/>
              </a:rPr>
              <a:t>It's whether you can afford another year of the same hours, the same slow weeks, and the same body aches.</a:t>
            </a:r>
            <a:endParaRPr lang="en-US" sz="4800"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name="Slide 41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don't have time."</a:t>
            </a:r>
            <a:endParaRPr lang="en-US" sz="5500" dirty="0"/>
          </a:p>
          <a:p>
            <a:pPr algn="l" indent="0" marL="0">
              <a:spcAft>
                <a:spcPts val="1700"/>
              </a:spcAft>
              <a:buNone/>
            </a:pPr>
            <a:r>
              <a:rPr lang="en-US" sz="4800" dirty="0">
                <a:solidFill>
                  <a:srgbClr val="FBF7F1"/>
                </a:solidFill>
                <a:latin typeface="Jost"/>
                <a:ea typeface="Jost"/>
                <a:cs typeface="Jost"/>
              </a:rPr>
              <a:t>It's one 90-minute call a week, on Monday evenings.</a:t>
            </a:r>
            <a:endParaRPr lang="en-US" sz="4800" dirty="0"/>
          </a:p>
          <a:p>
            <a:pPr algn="l" indent="0" marL="0">
              <a:spcAft>
                <a:spcPts val="1700"/>
              </a:spcAft>
              <a:buNone/>
            </a:pPr>
            <a:r>
              <a:rPr lang="en-US" sz="4800" dirty="0">
                <a:solidFill>
                  <a:srgbClr val="FBF7F1"/>
                </a:solidFill>
                <a:latin typeface="Jost"/>
                <a:ea typeface="Jost"/>
                <a:cs typeface="Jost"/>
              </a:rPr>
              <a:t>Can't make it? Watch the replay.</a:t>
            </a:r>
            <a:endParaRPr lang="en-US" sz="4800"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name="Slide 41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don't have time."</a:t>
            </a:r>
            <a:endParaRPr lang="en-US" sz="5500" dirty="0"/>
          </a:p>
          <a:p>
            <a:pPr algn="l" indent="0" marL="0">
              <a:spcAft>
                <a:spcPts val="1700"/>
              </a:spcAft>
              <a:buNone/>
            </a:pPr>
            <a:r>
              <a:rPr lang="en-US" sz="4800" dirty="0">
                <a:solidFill>
                  <a:srgbClr val="2A201B"/>
                </a:solidFill>
                <a:latin typeface="Jost"/>
                <a:ea typeface="Jost"/>
                <a:cs typeface="Jost"/>
              </a:rPr>
              <a:t>It's one 90-minute call a week, on Monday evenings.</a:t>
            </a:r>
            <a:endParaRPr lang="en-US" sz="4800" dirty="0"/>
          </a:p>
          <a:p>
            <a:pPr algn="l" indent="0" marL="0">
              <a:spcAft>
                <a:spcPts val="1700"/>
              </a:spcAft>
              <a:buNone/>
            </a:pPr>
            <a:r>
              <a:rPr lang="en-US" sz="4800" dirty="0">
                <a:solidFill>
                  <a:srgbClr val="FBF7F1"/>
                </a:solidFill>
                <a:latin typeface="Jost"/>
                <a:ea typeface="Jost"/>
                <a:cs typeface="Jost"/>
              </a:rPr>
              <a:t>Can't make it? Watch the replay.</a:t>
            </a:r>
            <a:endParaRPr lang="en-US" sz="4800" dirty="0"/>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name="Slide 41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 don't have time."</a:t>
            </a:r>
            <a:endParaRPr lang="en-US" sz="5500" dirty="0"/>
          </a:p>
          <a:p>
            <a:pPr algn="l" indent="0" marL="0">
              <a:spcAft>
                <a:spcPts val="1700"/>
              </a:spcAft>
              <a:buNone/>
            </a:pPr>
            <a:r>
              <a:rPr lang="en-US" sz="4800" dirty="0">
                <a:solidFill>
                  <a:srgbClr val="2A201B"/>
                </a:solidFill>
                <a:latin typeface="Jost"/>
                <a:ea typeface="Jost"/>
                <a:cs typeface="Jost"/>
              </a:rPr>
              <a:t>It's one 90-minute call a week, on Monday evenings.</a:t>
            </a:r>
            <a:endParaRPr lang="en-US" sz="4800" dirty="0"/>
          </a:p>
          <a:p>
            <a:pPr algn="l" indent="0" marL="0">
              <a:spcAft>
                <a:spcPts val="1700"/>
              </a:spcAft>
              <a:buNone/>
            </a:pPr>
            <a:r>
              <a:rPr lang="en-US" sz="4800" dirty="0">
                <a:solidFill>
                  <a:srgbClr val="2A201B"/>
                </a:solidFill>
                <a:latin typeface="Jost"/>
                <a:ea typeface="Jost"/>
                <a:cs typeface="Jost"/>
              </a:rPr>
              <a:t>Can't make it? Watch the replay.</a:t>
            </a:r>
            <a:endParaRPr lang="en-US" sz="4800" dirty="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name="Slide 41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000" b="1" dirty="0">
                <a:solidFill>
                  <a:srgbClr val="2A201B"/>
                </a:solidFill>
                <a:latin typeface="Jost"/>
                <a:ea typeface="Jost"/>
                <a:cs typeface="Jost"/>
              </a:rPr>
              <a:t>And Week 2 is all about getting time back: a faster workflow from setup to cleanup.</a:t>
            </a:r>
            <a:endParaRPr lang="en-US" sz="6000" dirty="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name="Slide 41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"I'm not a lash artist. Will this work for me?"</a:t>
            </a:r>
            <a:endParaRPr lang="en-US" sz="5500" dirty="0"/>
          </a:p>
          <a:p>
            <a:pPr algn="l" indent="0" marL="0">
              <a:spcAft>
                <a:spcPts val="1700"/>
              </a:spcAft>
              <a:buNone/>
            </a:pPr>
            <a:r>
              <a:rPr lang="en-US" sz="4800" dirty="0">
                <a:solidFill>
                  <a:srgbClr val="FBF7F1"/>
                </a:solidFill>
                <a:latin typeface="Jost"/>
                <a:ea typeface="Jost"/>
                <a:cs typeface="Jost"/>
              </a:rPr>
              <a:t>Yes. Positioning, content, pricing, and systems work the same for hair, nails, skin, brows, makeup, and PMU.</a:t>
            </a:r>
            <a:endParaRPr lang="en-US" sz="4800" dirty="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name="Slide 41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"I'm not a lash artist. Will this work for me?"</a:t>
            </a:r>
            <a:endParaRPr lang="en-US" sz="5500" dirty="0"/>
          </a:p>
          <a:p>
            <a:pPr algn="l" indent="0" marL="0">
              <a:spcAft>
                <a:spcPts val="1700"/>
              </a:spcAft>
              <a:buNone/>
            </a:pPr>
            <a:r>
              <a:rPr lang="en-US" sz="4800" dirty="0">
                <a:solidFill>
                  <a:srgbClr val="2A201B"/>
                </a:solidFill>
                <a:latin typeface="Jost"/>
                <a:ea typeface="Jost"/>
                <a:cs typeface="Jost"/>
              </a:rPr>
              <a:t>Yes. Positioning, content, pricing, and systems work the same for hair, nails, skin, brows, makeup, and PMU.</a:t>
            </a:r>
            <a:endParaRPr lang="en-US" sz="4800" dirty="0"/>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name="Slide 42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"I'm still pretty new."</a:t>
            </a:r>
            <a:endParaRPr lang="en-US" sz="5100" dirty="0"/>
          </a:p>
          <a:p>
            <a:pPr algn="l" indent="0" marL="0">
              <a:spcAft>
                <a:spcPts val="1500"/>
              </a:spcAft>
              <a:buNone/>
            </a:pPr>
            <a:r>
              <a:rPr lang="en-US" sz="4400" dirty="0">
                <a:solidFill>
                  <a:srgbClr val="FBF7F1"/>
                </a:solidFill>
                <a:latin typeface="Jost"/>
                <a:ea typeface="Jost"/>
                <a:cs typeface="Jost"/>
              </a:rPr>
              <a:t>If you already have clients, even a few, this is for you.</a:t>
            </a:r>
            <a:endParaRPr lang="en-US" sz="4400" dirty="0"/>
          </a:p>
          <a:p>
            <a:pPr algn="l" indent="0" marL="0">
              <a:spcAft>
                <a:spcPts val="1500"/>
              </a:spcAft>
              <a:buNone/>
            </a:pPr>
            <a:r>
              <a:rPr lang="en-US" sz="4400" dirty="0">
                <a:solidFill>
                  <a:srgbClr val="FBF7F1"/>
                </a:solidFill>
                <a:latin typeface="Jost"/>
                <a:ea typeface="Jost"/>
                <a:cs typeface="Jost"/>
              </a:rPr>
              <a:t>If you don't have any clients yet, this isn't the right fit yet.</a:t>
            </a:r>
            <a:endParaRPr lang="en-US" sz="4400" dirty="0"/>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name="Slide 42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"I'm still pretty new."</a:t>
            </a:r>
            <a:endParaRPr lang="en-US" sz="5100" dirty="0"/>
          </a:p>
          <a:p>
            <a:pPr algn="l" indent="0" marL="0">
              <a:spcAft>
                <a:spcPts val="1500"/>
              </a:spcAft>
              <a:buNone/>
            </a:pPr>
            <a:r>
              <a:rPr lang="en-US" sz="4400" dirty="0">
                <a:solidFill>
                  <a:srgbClr val="2A201B"/>
                </a:solidFill>
                <a:latin typeface="Jost"/>
                <a:ea typeface="Jost"/>
                <a:cs typeface="Jost"/>
              </a:rPr>
              <a:t>If you already have clients, even a few, this is for you.</a:t>
            </a:r>
            <a:endParaRPr lang="en-US" sz="4400" dirty="0"/>
          </a:p>
          <a:p>
            <a:pPr algn="l" indent="0" marL="0">
              <a:spcAft>
                <a:spcPts val="1500"/>
              </a:spcAft>
              <a:buNone/>
            </a:pPr>
            <a:r>
              <a:rPr lang="en-US" sz="4400" dirty="0">
                <a:solidFill>
                  <a:srgbClr val="FBF7F1"/>
                </a:solidFill>
                <a:latin typeface="Jost"/>
                <a:ea typeface="Jost"/>
                <a:cs typeface="Jost"/>
              </a:rPr>
              <a:t>If you don't have any clients yet, this isn't the right fit yet.</a:t>
            </a:r>
            <a:endParaRPr lang="en-US" sz="4400" dirty="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name="Slide 42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254</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"I'm still pretty new."</a:t>
            </a:r>
            <a:endParaRPr lang="en-US" sz="5100" dirty="0"/>
          </a:p>
          <a:p>
            <a:pPr algn="l" indent="0" marL="0">
              <a:spcAft>
                <a:spcPts val="1500"/>
              </a:spcAft>
              <a:buNone/>
            </a:pPr>
            <a:r>
              <a:rPr lang="en-US" sz="4400" dirty="0">
                <a:solidFill>
                  <a:srgbClr val="2A201B"/>
                </a:solidFill>
                <a:latin typeface="Jost"/>
                <a:ea typeface="Jost"/>
                <a:cs typeface="Jost"/>
              </a:rPr>
              <a:t>If you already have clients, even a few, this is for you.</a:t>
            </a:r>
            <a:endParaRPr lang="en-US" sz="4400" dirty="0"/>
          </a:p>
          <a:p>
            <a:pPr algn="l" indent="0" marL="0">
              <a:spcAft>
                <a:spcPts val="1500"/>
              </a:spcAft>
              <a:buNone/>
            </a:pPr>
            <a:r>
              <a:rPr lang="en-US" sz="4400" dirty="0">
                <a:solidFill>
                  <a:srgbClr val="2A201B"/>
                </a:solidFill>
                <a:latin typeface="Jost"/>
                <a:ea typeface="Jost"/>
                <a:cs typeface="Jost"/>
              </a:rPr>
              <a:t>If you don't have any clients yet, this isn't the right fit yet.</a:t>
            </a:r>
            <a:endParaRPr lang="en-US" sz="4400" dirty="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name="Slide 42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"Is this another course I'll buy and never finish?"</a:t>
            </a:r>
            <a:endParaRPr lang="en-US" sz="6200" dirty="0"/>
          </a:p>
          <a:p>
            <a:pPr algn="l" indent="0" marL="0">
              <a:spcAft>
                <a:spcPts val="1900"/>
              </a:spcAft>
              <a:buNone/>
            </a:pPr>
            <a:r>
              <a:rPr lang="en-US" sz="5400" dirty="0">
                <a:solidFill>
                  <a:srgbClr val="FBF7F1"/>
                </a:solidFill>
                <a:latin typeface="Jost"/>
                <a:ea typeface="Jost"/>
                <a:cs typeface="Jost"/>
              </a:rPr>
              <a:t>No. It's live, with weekly homework and me holding you accountable.</a:t>
            </a:r>
            <a:endParaRPr lang="en-US" sz="5400" dirty="0"/>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name="Slide 424">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255</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900"/>
              </a:spcAft>
              <a:buNone/>
            </a:pPr>
            <a:r>
              <a:rPr lang="en-US" sz="6200" b="1" dirty="0">
                <a:solidFill>
                  <a:srgbClr val="2A201B"/>
                </a:solidFill>
                <a:latin typeface="Cormorant Garamond"/>
                <a:ea typeface="Cormorant Garamond"/>
                <a:cs typeface="Cormorant Garamond"/>
              </a:rPr>
              <a:t>"Is this another course I'll buy and never finish?"</a:t>
            </a:r>
            <a:endParaRPr lang="en-US" sz="6200" dirty="0"/>
          </a:p>
          <a:p>
            <a:pPr algn="l" indent="0" marL="0">
              <a:spcAft>
                <a:spcPts val="1900"/>
              </a:spcAft>
              <a:buNone/>
            </a:pPr>
            <a:r>
              <a:rPr lang="en-US" sz="5400" dirty="0">
                <a:solidFill>
                  <a:srgbClr val="2A201B"/>
                </a:solidFill>
                <a:latin typeface="Jost"/>
                <a:ea typeface="Jost"/>
                <a:cs typeface="Jost"/>
              </a:rPr>
              <a:t>No. It's live, with weekly homework and me holding you accountable.</a:t>
            </a:r>
            <a:endParaRPr lang="en-US" sz="5400" dirty="0"/>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name="Slide 425">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256</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731520"/>
            <a:ext cx="5669280" cy="4206240"/>
          </a:xfrm>
          <a:prstGeom prst="rect">
            <a:avLst/>
          </a:prstGeom>
          <a:noFill/>
          <a:ln/>
        </p:spPr>
        <p:txBody>
          <a:bodyPr wrap="square" lIns="0" tIns="0" rIns="0" bIns="0" rtlCol="0" anchor="ctr"/>
          <a:lstStyle/>
          <a:p>
            <a:pPr algn="l" indent="0" marL="0">
              <a:spcAft>
                <a:spcPts val="1100"/>
              </a:spcAft>
              <a:buNone/>
            </a:pPr>
            <a:r>
              <a:rPr lang="en-US" sz="3200" dirty="0">
                <a:solidFill>
                  <a:srgbClr val="2A201B"/>
                </a:solidFill>
                <a:latin typeface="Jost"/>
                <a:ea typeface="Jost"/>
                <a:cs typeface="Jost"/>
              </a:rPr>
              <a:t>"I know there are things I would have continued to overthink or put off if I didn't have you challenging me to just make the decision and execute."</a:t>
            </a:r>
            <a:endParaRPr lang="en-US" sz="3200" dirty="0"/>
          </a:p>
        </p:txBody>
      </p:sp>
      <p:sp>
        <p:nvSpPr>
          <p:cNvPr id="7" name="Text 4"/>
          <p:cNvSpPr txBox="1"/>
          <p:nvPr/>
        </p:nvSpPr>
        <p:spPr>
          <a:xfrm>
            <a:off x="731520" y="5120640"/>
            <a:ext cx="5669280" cy="457200"/>
          </a:xfrm>
          <a:prstGeom prst="rect">
            <a:avLst/>
          </a:prstGeom>
          <a:noFill/>
          <a:ln/>
        </p:spPr>
        <p:txBody>
          <a:bodyPr wrap="square" lIns="0" tIns="0" rIns="0" bIns="0" rtlCol="0" anchor="t"/>
          <a:lstStyle/>
          <a:p>
            <a:pPr indent="0" marL="0">
              <a:buNone/>
            </a:pPr>
            <a:r>
              <a:rPr lang="en-US" sz="2200" dirty="0">
                <a:solidFill>
                  <a:srgbClr val="5A4A42"/>
                </a:solidFill>
                <a:latin typeface="Jost"/>
                <a:ea typeface="Jost"/>
                <a:cs typeface="Jost"/>
              </a:rPr>
              <a:t>A beauty pro I mentored</a:t>
            </a:r>
            <a:endParaRPr lang="en-US" sz="2200" dirty="0"/>
          </a:p>
        </p:txBody>
      </p:sp>
      <p:pic>
        <p:nvPicPr>
          <p:cNvPr id="8" name="Image 0" descr="/home/claude/webinar/deck-img/testimonial-3.jpg">    </p:cNvPr>
          <p:cNvPicPr>
            <a:picLocks noChangeAspect="1"/>
          </p:cNvPicPr>
          <p:nvPr/>
        </p:nvPicPr>
        <p:blipFill>
          <a:blip r:embed="rId1"/>
          <a:stretch>
            <a:fillRect/>
          </a:stretch>
        </p:blipFill>
        <p:spPr>
          <a:xfrm>
            <a:off x="7223760" y="548640"/>
            <a:ext cx="3840480" cy="5120640"/>
          </a:xfrm>
          <a:prstGeom prst="rect">
            <a:avLst/>
          </a:prstGeom>
        </p:spPr>
      </p:pic>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426">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257</a:t>
            </a:r>
            <a:endParaRPr lang="en-US" sz="1000" dirty="0"/>
          </a:p>
        </p:txBody>
      </p:sp>
      <p:sp>
        <p:nvSpPr>
          <p:cNvPr id="4" name="Text 1"/>
          <p:cNvSpPr txBox="1"/>
          <p:nvPr/>
        </p:nvSpPr>
        <p:spPr>
          <a:xfrm>
            <a:off x="731520" y="548640"/>
            <a:ext cx="10362895" cy="5806440"/>
          </a:xfrm>
          <a:prstGeom prst="rect">
            <a:avLst/>
          </a:prstGeom>
          <a:noFill/>
          <a:ln/>
        </p:spPr>
        <p:txBody>
          <a:bodyPr wrap="square" lIns="0" tIns="0" rIns="0" bIns="0" rtlCol="0" anchor="ctr"/>
          <a:lstStyle/>
          <a:p>
            <a:pPr algn="l" indent="0" marL="0">
              <a:spcAft>
                <a:spcPts val="1700"/>
              </a:spcAft>
              <a:buNone/>
            </a:pPr>
            <a:r>
              <a:rPr lang="en-US" sz="5500" b="1" dirty="0">
                <a:solidFill>
                  <a:srgbClr val="2A201B"/>
                </a:solidFill>
                <a:latin typeface="Cormorant Garamond"/>
                <a:ea typeface="Cormorant Garamond"/>
                <a:cs typeface="Cormorant Garamond"/>
              </a:rPr>
              <a:t>"What's the difference between Standard and VIP?"</a:t>
            </a:r>
            <a:endParaRPr lang="en-US" sz="5500" dirty="0"/>
          </a:p>
          <a:p>
            <a:pPr algn="l" indent="0" marL="0">
              <a:spcAft>
                <a:spcPts val="1700"/>
              </a:spcAft>
              <a:buNone/>
            </a:pPr>
            <a:r>
              <a:rPr lang="en-US" sz="4800" dirty="0">
                <a:solidFill>
                  <a:srgbClr val="2A201B"/>
                </a:solidFill>
                <a:latin typeface="Jost"/>
                <a:ea typeface="Jost"/>
                <a:cs typeface="Jost"/>
              </a:rPr>
              <a:t>VIP adds 3 private 1:1 sessions with me and a personal audit of your business and Instagram.</a:t>
            </a:r>
            <a:endParaRPr lang="en-US" sz="4800"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427">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258</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"When does it start?"</a:t>
            </a:r>
            <a:endParaRPr lang="en-US" sz="6900" dirty="0"/>
          </a:p>
          <a:p>
            <a:pPr algn="l" indent="0" marL="0">
              <a:spcAft>
                <a:spcPts val="2100"/>
              </a:spcAft>
              <a:buNone/>
            </a:pPr>
            <a:r>
              <a:rPr lang="en-US" sz="6000" dirty="0">
                <a:solidFill>
                  <a:srgbClr val="2A201B"/>
                </a:solidFill>
                <a:latin typeface="Jost"/>
                <a:ea typeface="Jost"/>
                <a:cs typeface="Jost"/>
              </a:rPr>
              <a:t>Monday, November 2 at 7:30 PM Eastern.</a:t>
            </a:r>
            <a:endParaRPr lang="en-US" sz="6000"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name="Slide 428">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"Can I just wait for the next one?"</a:t>
            </a:r>
            <a:endParaRPr lang="en-US" sz="5100" dirty="0"/>
          </a:p>
          <a:p>
            <a:pPr algn="l" indent="0" marL="0">
              <a:spcAft>
                <a:spcPts val="1500"/>
              </a:spcAft>
              <a:buNone/>
            </a:pPr>
            <a:r>
              <a:rPr lang="en-US" sz="4400" dirty="0">
                <a:solidFill>
                  <a:srgbClr val="FBF7F1"/>
                </a:solidFill>
                <a:latin typeface="Jost"/>
                <a:ea typeface="Jost"/>
                <a:cs typeface="Jost"/>
              </a:rPr>
              <a:t>You can. It'll be </a:t>
            </a:r>
            <a:pPr algn="l" indent="0" marL="0">
              <a:spcAft>
                <a:spcPts val="1500"/>
              </a:spcAft>
              <a:buNone/>
            </a:pPr>
            <a:r>
              <a:rPr lang="en-US" sz="4400" b="1" dirty="0">
                <a:solidFill>
                  <a:srgbClr val="FBF7F1"/>
                </a:solidFill>
                <a:latin typeface="Jost"/>
                <a:ea typeface="Jost"/>
                <a:cs typeface="Jost"/>
              </a:rPr>
              <a:t>$1,497</a:t>
            </a:r>
            <a:pPr algn="l" indent="0" marL="0">
              <a:spcAft>
                <a:spcPts val="1500"/>
              </a:spcAft>
              <a:buNone/>
            </a:pPr>
            <a:r>
              <a:rPr lang="en-US" sz="4400" dirty="0">
                <a:solidFill>
                  <a:srgbClr val="FBF7F1"/>
                </a:solidFill>
                <a:latin typeface="Jost"/>
                <a:ea typeface="Jost"/>
                <a:cs typeface="Jost"/>
              </a:rPr>
              <a:t>.</a:t>
            </a:r>
            <a:endParaRPr lang="en-US" sz="4400" dirty="0"/>
          </a:p>
          <a:p>
            <a:pPr algn="l" indent="0" marL="0">
              <a:spcAft>
                <a:spcPts val="1500"/>
              </a:spcAft>
              <a:buNone/>
            </a:pPr>
            <a:r>
              <a:rPr lang="en-US" sz="4400" dirty="0">
                <a:solidFill>
                  <a:srgbClr val="FBF7F1"/>
                </a:solidFill>
                <a:latin typeface="Jost"/>
                <a:ea typeface="Jost"/>
                <a:cs typeface="Jost"/>
              </a:rPr>
              <a:t>And you'll have spent a few more months working the same hours for the same money.</a:t>
            </a:r>
            <a:endParaRPr lang="en-US" sz="4400"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name="Slide 429">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"Can I just wait for the next one?"</a:t>
            </a:r>
            <a:endParaRPr lang="en-US" sz="5100" dirty="0"/>
          </a:p>
          <a:p>
            <a:pPr algn="l" indent="0" marL="0">
              <a:spcAft>
                <a:spcPts val="1500"/>
              </a:spcAft>
              <a:buNone/>
            </a:pPr>
            <a:r>
              <a:rPr lang="en-US" sz="4400" dirty="0">
                <a:solidFill>
                  <a:srgbClr val="2A201B"/>
                </a:solidFill>
                <a:latin typeface="Jost"/>
                <a:ea typeface="Jost"/>
                <a:cs typeface="Jost"/>
              </a:rPr>
              <a:t>You can. It'll be </a:t>
            </a:r>
            <a:pPr algn="l" indent="0" marL="0">
              <a:spcAft>
                <a:spcPts val="1500"/>
              </a:spcAft>
              <a:buNone/>
            </a:pPr>
            <a:r>
              <a:rPr lang="en-US" sz="4400" b="1" dirty="0">
                <a:solidFill>
                  <a:srgbClr val="AD5A6E"/>
                </a:solidFill>
                <a:latin typeface="Jost"/>
                <a:ea typeface="Jost"/>
                <a:cs typeface="Jost"/>
              </a:rPr>
              <a:t>$1,497</a:t>
            </a:r>
            <a:pPr algn="l" indent="0" marL="0">
              <a:spcAft>
                <a:spcPts val="1500"/>
              </a:spcAft>
              <a:buNone/>
            </a:pPr>
            <a:r>
              <a:rPr lang="en-US" sz="4400" dirty="0">
                <a:solidFill>
                  <a:srgbClr val="2A201B"/>
                </a:solidFill>
                <a:latin typeface="Jost"/>
                <a:ea typeface="Jost"/>
                <a:cs typeface="Jost"/>
              </a:rPr>
              <a:t>.</a:t>
            </a:r>
            <a:endParaRPr lang="en-US" sz="4400" dirty="0"/>
          </a:p>
          <a:p>
            <a:pPr algn="l" indent="0" marL="0">
              <a:spcAft>
                <a:spcPts val="1500"/>
              </a:spcAft>
              <a:buNone/>
            </a:pPr>
            <a:r>
              <a:rPr lang="en-US" sz="4400" dirty="0">
                <a:solidFill>
                  <a:srgbClr val="FBF7F1"/>
                </a:solidFill>
                <a:latin typeface="Jost"/>
                <a:ea typeface="Jost"/>
                <a:cs typeface="Jost"/>
              </a:rPr>
              <a:t>And you'll have spent a few more months working the same hours for the same money.</a:t>
            </a:r>
            <a:endParaRPr lang="en-US" sz="4400"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name="Slide 430">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259</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1500"/>
              </a:spcAft>
              <a:buNone/>
            </a:pPr>
            <a:r>
              <a:rPr lang="en-US" sz="5100" b="1" dirty="0">
                <a:solidFill>
                  <a:srgbClr val="2A201B"/>
                </a:solidFill>
                <a:latin typeface="Cormorant Garamond"/>
                <a:ea typeface="Cormorant Garamond"/>
                <a:cs typeface="Cormorant Garamond"/>
              </a:rPr>
              <a:t>"Can I just wait for the next one?"</a:t>
            </a:r>
            <a:endParaRPr lang="en-US" sz="5100" dirty="0"/>
          </a:p>
          <a:p>
            <a:pPr algn="l" indent="0" marL="0">
              <a:spcAft>
                <a:spcPts val="1500"/>
              </a:spcAft>
              <a:buNone/>
            </a:pPr>
            <a:r>
              <a:rPr lang="en-US" sz="4400" dirty="0">
                <a:solidFill>
                  <a:srgbClr val="2A201B"/>
                </a:solidFill>
                <a:latin typeface="Jost"/>
                <a:ea typeface="Jost"/>
                <a:cs typeface="Jost"/>
              </a:rPr>
              <a:t>You can. It'll be </a:t>
            </a:r>
            <a:pPr algn="l" indent="0" marL="0">
              <a:spcAft>
                <a:spcPts val="1500"/>
              </a:spcAft>
              <a:buNone/>
            </a:pPr>
            <a:r>
              <a:rPr lang="en-US" sz="4400" b="1" dirty="0">
                <a:solidFill>
                  <a:srgbClr val="AD5A6E"/>
                </a:solidFill>
                <a:latin typeface="Jost"/>
                <a:ea typeface="Jost"/>
                <a:cs typeface="Jost"/>
              </a:rPr>
              <a:t>$1,497</a:t>
            </a:r>
            <a:pPr algn="l" indent="0" marL="0">
              <a:spcAft>
                <a:spcPts val="1500"/>
              </a:spcAft>
              <a:buNone/>
            </a:pPr>
            <a:r>
              <a:rPr lang="en-US" sz="4400" dirty="0">
                <a:solidFill>
                  <a:srgbClr val="2A201B"/>
                </a:solidFill>
                <a:latin typeface="Jost"/>
                <a:ea typeface="Jost"/>
                <a:cs typeface="Jost"/>
              </a:rPr>
              <a:t>.</a:t>
            </a:r>
            <a:endParaRPr lang="en-US" sz="4400" dirty="0"/>
          </a:p>
          <a:p>
            <a:pPr algn="l" indent="0" marL="0">
              <a:spcAft>
                <a:spcPts val="1500"/>
              </a:spcAft>
              <a:buNone/>
            </a:pPr>
            <a:r>
              <a:rPr lang="en-US" sz="4400" dirty="0">
                <a:solidFill>
                  <a:srgbClr val="2A201B"/>
                </a:solidFill>
                <a:latin typeface="Jost"/>
                <a:ea typeface="Jost"/>
                <a:cs typeface="Jost"/>
              </a:rPr>
              <a:t>And you'll have spent a few more months working the same hours for the same money.</a:t>
            </a:r>
            <a:endParaRPr lang="en-US" sz="4400" dirty="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name="Slide 431">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260</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2A201B"/>
                </a:solidFill>
                <a:latin typeface="Cormorant Garamond"/>
                <a:ea typeface="Cormorant Garamond"/>
                <a:cs typeface="Cormorant Garamond"/>
              </a:rPr>
              <a:t>You have two choices.</a:t>
            </a:r>
            <a:endParaRPr lang="en-US" sz="6900" dirty="0"/>
          </a:p>
          <a:p>
            <a:pPr algn="l" indent="0" marL="0">
              <a:spcAft>
                <a:spcPts val="2100"/>
              </a:spcAft>
              <a:buNone/>
            </a:pPr>
            <a:r>
              <a:rPr lang="en-US" sz="6000" dirty="0">
                <a:solidFill>
                  <a:srgbClr val="2A201B"/>
                </a:solidFill>
                <a:latin typeface="Jost"/>
                <a:ea typeface="Jost"/>
                <a:cs typeface="Jost"/>
              </a:rPr>
              <a:t>Do it on your own. Or build it with me.</a:t>
            </a:r>
            <a:endParaRPr lang="en-US" sz="6000" dirty="0"/>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name="Slide 432">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261</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10728655" cy="5029200"/>
          </a:xfrm>
          <a:prstGeom prst="rect">
            <a:avLst/>
          </a:prstGeom>
          <a:noFill/>
          <a:ln/>
        </p:spPr>
        <p:txBody>
          <a:bodyPr wrap="square" lIns="0" tIns="0" rIns="0" bIns="0" rtlCol="0" anchor="ctr"/>
          <a:lstStyle/>
          <a:p>
            <a:pPr algn="l" indent="0" marL="0">
              <a:spcAft>
                <a:spcPts val="2300"/>
              </a:spcAft>
              <a:buNone/>
            </a:pPr>
            <a:r>
              <a:rPr lang="en-US" sz="7600" b="1" dirty="0">
                <a:solidFill>
                  <a:srgbClr val="2A201B"/>
                </a:solidFill>
                <a:latin typeface="Cormorant Garamond"/>
                <a:ea typeface="Cormorant Garamond"/>
                <a:cs typeface="Cormorant Garamond"/>
              </a:rPr>
              <a:t>If you're ready to stop guessing and start building, the link is in the chat.</a:t>
            </a:r>
            <a:endParaRPr lang="en-US" sz="7600" dirty="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name="Slide 433">
    <p:bg>
      <p:bgPr>
        <a:solidFill>
          <a:srgbClr val="FBF7F1"/>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C9B6A6"/>
                </a:solidFill>
                <a:latin typeface="Jost"/>
                <a:ea typeface="Jost"/>
                <a:cs typeface="Jost"/>
              </a:rPr>
              <a:t>262</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640080"/>
            <a:ext cx="5120640" cy="5029200"/>
          </a:xfrm>
          <a:prstGeom prst="rect">
            <a:avLst/>
          </a:prstGeom>
          <a:noFill/>
          <a:ln/>
        </p:spPr>
        <p:txBody>
          <a:bodyPr wrap="square" lIns="0" tIns="0" rIns="0" bIns="0" rtlCol="0" anchor="ctr"/>
          <a:lstStyle/>
          <a:p>
            <a:pPr algn="l" indent="0" marL="0">
              <a:spcAft>
                <a:spcPts val="1700"/>
              </a:spcAft>
              <a:buNone/>
            </a:pPr>
            <a:r>
              <a:rPr lang="en-US" sz="4800" b="1" dirty="0">
                <a:solidFill>
                  <a:srgbClr val="2A201B"/>
                </a:solidFill>
                <a:latin typeface="Jost"/>
                <a:ea typeface="Jost"/>
                <a:cs typeface="Jost"/>
              </a:rPr>
              <a:t>I'll see you Monday, November 2.</a:t>
            </a:r>
            <a:endParaRPr lang="en-US" sz="4800" dirty="0"/>
          </a:p>
        </p:txBody>
      </p:sp>
      <p:pic>
        <p:nvPicPr>
          <p:cNvPr id="7" name="Image 0" descr="/home/claude/webinar/deck-img/cherie-mentoring-at-desk.jpg">    </p:cNvPr>
          <p:cNvPicPr>
            <a:picLocks noChangeAspect="1"/>
          </p:cNvPicPr>
          <p:nvPr/>
        </p:nvPicPr>
        <p:blipFill>
          <a:blip r:embed="rId1"/>
          <a:stretch>
            <a:fillRect/>
          </a:stretch>
        </p:blipFill>
        <p:spPr>
          <a:xfrm>
            <a:off x="6891376" y="457200"/>
            <a:ext cx="4169664" cy="5212080"/>
          </a:xfrm>
          <a:prstGeom prst="rect">
            <a:avLst/>
          </a:prstGeom>
        </p:spPr>
      </p:pic>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name="Slide 434">
    <p:bg>
      <p:bgPr>
        <a:solidFill>
          <a:srgbClr val="2A201B"/>
        </a:solidFill>
      </p:bgPr>
    </p:bg>
    <p:spTree>
      <p:nvGrpSpPr>
        <p:cNvPr id="1" name=""/>
        <p:cNvGrpSpPr/>
        <p:nvPr/>
      </p:nvGrpSpPr>
      <p:grpSpPr>
        <a:xfrm>
          <a:off x="0" y="0"/>
          <a:ext cx="0" cy="0"/>
          <a:chOff x="0" y="0"/>
          <a:chExt cx="0" cy="0"/>
        </a:xfrm>
      </p:grpSpPr>
      <p:sp>
        <p:nvSpPr>
          <p:cNvPr id="2" name="Text 0"/>
          <p:cNvSpPr txBox="1"/>
          <p:nvPr/>
        </p:nvSpPr>
        <p:spPr>
          <a:xfrm>
            <a:off x="11277295" y="137160"/>
            <a:ext cx="731520" cy="274320"/>
          </a:xfrm>
          <a:prstGeom prst="rect">
            <a:avLst/>
          </a:prstGeom>
          <a:noFill/>
          <a:ln/>
        </p:spPr>
        <p:txBody>
          <a:bodyPr wrap="square" lIns="0" tIns="0" rIns="0" bIns="0" rtlCol="0" anchor="ctr"/>
          <a:lstStyle/>
          <a:p>
            <a:pPr algn="r" indent="0" marL="0">
              <a:buNone/>
            </a:pPr>
            <a:r>
              <a:rPr lang="en-US" sz="1000" dirty="0">
                <a:solidFill>
                  <a:srgbClr val="6B5A50"/>
                </a:solidFill>
                <a:latin typeface="Jost"/>
                <a:ea typeface="Jost"/>
                <a:cs typeface="Jost"/>
              </a:rPr>
              <a:t>263</a:t>
            </a:r>
            <a:endParaRPr lang="en-US" sz="1000" dirty="0"/>
          </a:p>
        </p:txBody>
      </p:sp>
      <p:sp>
        <p:nvSpPr>
          <p:cNvPr id="3" name="Shape 1"/>
          <p:cNvSpPr/>
          <p:nvPr/>
        </p:nvSpPr>
        <p:spPr>
          <a:xfrm>
            <a:off x="0" y="5943600"/>
            <a:ext cx="12191695" cy="914400"/>
          </a:xfrm>
          <a:prstGeom prst="rect">
            <a:avLst/>
          </a:prstGeom>
          <a:solidFill>
            <a:srgbClr val="AD5A6E"/>
          </a:solidFill>
          <a:ln w="12700">
            <a:solidFill>
              <a:srgbClr val="AD5A6E"/>
            </a:solidFill>
            <a:prstDash val="solid"/>
          </a:ln>
        </p:spPr>
      </p:sp>
      <p:sp>
        <p:nvSpPr>
          <p:cNvPr id="4" name="Text 2"/>
          <p:cNvSpPr txBox="1"/>
          <p:nvPr/>
        </p:nvSpPr>
        <p:spPr>
          <a:xfrm>
            <a:off x="365760" y="5943600"/>
            <a:ext cx="1146017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Jost"/>
                <a:ea typeface="Jost"/>
                <a:cs typeface="Jost"/>
              </a:rPr>
              <a:t>Link in the chat  ·  Founding price ends Oct 30</a:t>
            </a:r>
            <a:endParaRPr lang="en-US" sz="2400" dirty="0"/>
          </a:p>
          <a:p>
            <a:pPr algn="ctr" indent="0" marL="0">
              <a:buNone/>
            </a:pPr>
            <a:r>
              <a:rPr lang="en-US" sz="1800" dirty="0">
                <a:solidFill>
                  <a:srgbClr val="FFFFFF"/>
                </a:solidFill>
                <a:latin typeface="Jost"/>
                <a:ea typeface="Jost"/>
                <a:cs typeface="Jost"/>
              </a:rPr>
              <a:t>training.rieartistry.com/mentorship-page</a:t>
            </a:r>
            <a:endParaRPr lang="en-US" sz="2400" dirty="0"/>
          </a:p>
        </p:txBody>
      </p:sp>
      <p:sp>
        <p:nvSpPr>
          <p:cNvPr id="6" name="Text 3"/>
          <p:cNvSpPr txBox="1"/>
          <p:nvPr/>
        </p:nvSpPr>
        <p:spPr>
          <a:xfrm>
            <a:off x="731520" y="548640"/>
            <a:ext cx="10362895" cy="5120640"/>
          </a:xfrm>
          <a:prstGeom prst="rect">
            <a:avLst/>
          </a:prstGeom>
          <a:noFill/>
          <a:ln/>
        </p:spPr>
        <p:txBody>
          <a:bodyPr wrap="square" lIns="0" tIns="0" rIns="0" bIns="0" rtlCol="0" anchor="ctr"/>
          <a:lstStyle/>
          <a:p>
            <a:pPr algn="l" indent="0" marL="0">
              <a:spcAft>
                <a:spcPts val="2100"/>
              </a:spcAft>
              <a:buNone/>
            </a:pPr>
            <a:r>
              <a:rPr lang="en-US" sz="6900" b="1" dirty="0">
                <a:solidFill>
                  <a:srgbClr val="F7EEE5"/>
                </a:solidFill>
                <a:latin typeface="Cormorant Garamond"/>
                <a:ea typeface="Cormorant Garamond"/>
                <a:cs typeface="Cormorant Garamond"/>
              </a:rPr>
              <a:t>Questions? Ask away.</a:t>
            </a:r>
            <a:endParaRPr lang="en-US" sz="6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rmorant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434</Slides>
  <Notes>434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434</vt:i4>
      </vt:variant>
    </vt:vector>
  </HeadingPairs>
  <TitlesOfParts>
    <vt:vector size="4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lpstr>Slide 403</vt:lpstr>
      <vt:lpstr>Slide 404</vt:lpstr>
      <vt:lpstr>Slide 405</vt:lpstr>
      <vt:lpstr>Slide 406</vt:lpstr>
      <vt:lpstr>Slide 407</vt:lpstr>
      <vt:lpstr>Slide 408</vt:lpstr>
      <vt:lpstr>Slide 409</vt:lpstr>
      <vt:lpstr>Slide 410</vt:lpstr>
      <vt:lpstr>Slide 411</vt:lpstr>
      <vt:lpstr>Slide 412</vt:lpstr>
      <vt:lpstr>Slide 413</vt:lpstr>
      <vt:lpstr>Slide 414</vt:lpstr>
      <vt:lpstr>Slide 415</vt:lpstr>
      <vt:lpstr>Slide 416</vt:lpstr>
      <vt:lpstr>Slide 417</vt:lpstr>
      <vt:lpstr>Slide 418</vt:lpstr>
      <vt:lpstr>Slide 419</vt:lpstr>
      <vt:lpstr>Slide 420</vt:lpstr>
      <vt:lpstr>Slide 421</vt:lpstr>
      <vt:lpstr>Slide 422</vt:lpstr>
      <vt:lpstr>Slide 423</vt:lpstr>
      <vt:lpstr>Slide 424</vt:lpstr>
      <vt:lpstr>Slide 425</vt:lpstr>
      <vt:lpstr>Slide 426</vt:lpstr>
      <vt:lpstr>Slide 427</vt:lpstr>
      <vt:lpstr>Slide 428</vt:lpstr>
      <vt:lpstr>Slide 429</vt:lpstr>
      <vt:lpstr>Slide 430</vt:lpstr>
      <vt:lpstr>Slide 431</vt:lpstr>
      <vt:lpstr>Slide 432</vt:lpstr>
      <vt:lpstr>Slide 433</vt:lpstr>
      <vt:lpstr>Slide 434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Beauty Business Blueprint: Live Webinar</dc:title>
  <dc:subject>PptxGenJS Presentation</dc:subject>
  <dc:creator>Cherie Bowen</dc:creator>
  <cp:lastModifiedBy>Cherie Bowen</cp:lastModifiedBy>
  <cp:revision>1</cp:revision>
  <dcterms:created xsi:type="dcterms:W3CDTF">2026-10-18T07:11:19Z</dcterms:created>
  <dcterms:modified xsi:type="dcterms:W3CDTF">2026-10-18T07:11:19Z</dcterms:modified>
</cp:coreProperties>
</file>